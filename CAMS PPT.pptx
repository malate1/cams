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98" r:id="rId4"/>
    <p:sldId id="299" r:id="rId5"/>
    <p:sldId id="300" r:id="rId6"/>
    <p:sldId id="301" r:id="rId7"/>
    <p:sldId id="302" r:id="rId8"/>
    <p:sldId id="316" r:id="rId9"/>
    <p:sldId id="304" r:id="rId10"/>
    <p:sldId id="305" r:id="rId11"/>
    <p:sldId id="306" r:id="rId12"/>
    <p:sldId id="307" r:id="rId13"/>
    <p:sldId id="308" r:id="rId14"/>
    <p:sldId id="317" r:id="rId15"/>
    <p:sldId id="309" r:id="rId16"/>
    <p:sldId id="310" r:id="rId17"/>
    <p:sldId id="311" r:id="rId18"/>
    <p:sldId id="312" r:id="rId19"/>
    <p:sldId id="313" r:id="rId20"/>
    <p:sldId id="318" r:id="rId21"/>
    <p:sldId id="319" r:id="rId22"/>
    <p:sldId id="320" r:id="rId23"/>
    <p:sldId id="314" r:id="rId24"/>
    <p:sldId id="315" r:id="rId25"/>
    <p:sldId id="321" r:id="rId26"/>
    <p:sldId id="322" r:id="rId27"/>
    <p:sldId id="323" r:id="rId28"/>
    <p:sldId id="324" r:id="rId29"/>
    <p:sldId id="325" r:id="rId30"/>
    <p:sldId id="326" r:id="rId31"/>
    <p:sldId id="327" r:id="rId32"/>
    <p:sldId id="328" r:id="rId33"/>
    <p:sldId id="329" r:id="rId34"/>
    <p:sldId id="330"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66A6A"/>
    <a:srgbClr val="22C7B7"/>
    <a:srgbClr val="76F672"/>
    <a:srgbClr val="13D40E"/>
    <a:srgbClr val="595959"/>
    <a:srgbClr val="566A6B"/>
    <a:srgbClr val="F2652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664" autoAdjust="0"/>
    <p:restoredTop sz="94660"/>
  </p:normalViewPr>
  <p:slideViewPr>
    <p:cSldViewPr snapToGrid="0">
      <p:cViewPr varScale="1">
        <p:scale>
          <a:sx n="79" d="100"/>
          <a:sy n="79" d="100"/>
        </p:scale>
        <p:origin x="554" y="22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348EB-224A-445A-9D3E-1121C2D713E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A23DA87-61B5-4196-BEB5-5103D362C25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CEFE8BE-C7E9-4B70-97B4-6EC3C5099487}"/>
              </a:ext>
            </a:extLst>
          </p:cNvPr>
          <p:cNvSpPr>
            <a:spLocks noGrp="1"/>
          </p:cNvSpPr>
          <p:nvPr>
            <p:ph type="dt" sz="half" idx="10"/>
          </p:nvPr>
        </p:nvSpPr>
        <p:spPr/>
        <p:txBody>
          <a:bodyPr/>
          <a:lstStyle/>
          <a:p>
            <a:fld id="{8D227648-7989-4D19-B242-A29CAB74E979}" type="datetimeFigureOut">
              <a:rPr lang="en-US" smtClean="0"/>
              <a:t>11/5/2018</a:t>
            </a:fld>
            <a:endParaRPr lang="en-US"/>
          </a:p>
        </p:txBody>
      </p:sp>
      <p:sp>
        <p:nvSpPr>
          <p:cNvPr id="5" name="Footer Placeholder 4">
            <a:extLst>
              <a:ext uri="{FF2B5EF4-FFF2-40B4-BE49-F238E27FC236}">
                <a16:creationId xmlns:a16="http://schemas.microsoft.com/office/drawing/2014/main" id="{12EA4711-1BD6-4994-84E5-284BE17C4FF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804319-8912-4F8D-A703-A05AB7DDA2D9}"/>
              </a:ext>
            </a:extLst>
          </p:cNvPr>
          <p:cNvSpPr>
            <a:spLocks noGrp="1"/>
          </p:cNvSpPr>
          <p:nvPr>
            <p:ph type="sldNum" sz="quarter" idx="12"/>
          </p:nvPr>
        </p:nvSpPr>
        <p:spPr/>
        <p:txBody>
          <a:bodyPr/>
          <a:lstStyle/>
          <a:p>
            <a:fld id="{9109FD6D-B242-4E10-BB28-73281977C889}" type="slidenum">
              <a:rPr lang="en-US" smtClean="0"/>
              <a:t>‹#›</a:t>
            </a:fld>
            <a:endParaRPr lang="en-US"/>
          </a:p>
        </p:txBody>
      </p:sp>
    </p:spTree>
    <p:extLst>
      <p:ext uri="{BB962C8B-B14F-4D97-AF65-F5344CB8AC3E}">
        <p14:creationId xmlns:p14="http://schemas.microsoft.com/office/powerpoint/2010/main" val="9711977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35DCEF-B519-4958-83AA-5953B035748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0DE1F61-D220-4F8B-A195-20C2B7C0A07F}"/>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FCB618-2829-4DF6-9090-C3935851A534}"/>
              </a:ext>
            </a:extLst>
          </p:cNvPr>
          <p:cNvSpPr>
            <a:spLocks noGrp="1"/>
          </p:cNvSpPr>
          <p:nvPr>
            <p:ph type="dt" sz="half" idx="10"/>
          </p:nvPr>
        </p:nvSpPr>
        <p:spPr/>
        <p:txBody>
          <a:bodyPr/>
          <a:lstStyle/>
          <a:p>
            <a:fld id="{8D227648-7989-4D19-B242-A29CAB74E979}" type="datetimeFigureOut">
              <a:rPr lang="en-US" smtClean="0"/>
              <a:t>11/5/2018</a:t>
            </a:fld>
            <a:endParaRPr lang="en-US"/>
          </a:p>
        </p:txBody>
      </p:sp>
      <p:sp>
        <p:nvSpPr>
          <p:cNvPr id="5" name="Footer Placeholder 4">
            <a:extLst>
              <a:ext uri="{FF2B5EF4-FFF2-40B4-BE49-F238E27FC236}">
                <a16:creationId xmlns:a16="http://schemas.microsoft.com/office/drawing/2014/main" id="{DF5ED578-30D3-4023-A9E5-8540A376ED8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C0F6F9-DE07-4892-818F-C980506086EE}"/>
              </a:ext>
            </a:extLst>
          </p:cNvPr>
          <p:cNvSpPr>
            <a:spLocks noGrp="1"/>
          </p:cNvSpPr>
          <p:nvPr>
            <p:ph type="sldNum" sz="quarter" idx="12"/>
          </p:nvPr>
        </p:nvSpPr>
        <p:spPr/>
        <p:txBody>
          <a:bodyPr/>
          <a:lstStyle/>
          <a:p>
            <a:fld id="{9109FD6D-B242-4E10-BB28-73281977C889}" type="slidenum">
              <a:rPr lang="en-US" smtClean="0"/>
              <a:t>‹#›</a:t>
            </a:fld>
            <a:endParaRPr lang="en-US"/>
          </a:p>
        </p:txBody>
      </p:sp>
    </p:spTree>
    <p:extLst>
      <p:ext uri="{BB962C8B-B14F-4D97-AF65-F5344CB8AC3E}">
        <p14:creationId xmlns:p14="http://schemas.microsoft.com/office/powerpoint/2010/main" val="29721373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45B29-9F4F-44B4-88F4-DE331DAABB8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BBC6F70-89A2-4F7A-A825-9346C007430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36F0784B-A024-489C-94AA-1E76F560619E}"/>
              </a:ext>
            </a:extLst>
          </p:cNvPr>
          <p:cNvSpPr>
            <a:spLocks noGrp="1"/>
          </p:cNvSpPr>
          <p:nvPr>
            <p:ph type="dt" sz="half" idx="10"/>
          </p:nvPr>
        </p:nvSpPr>
        <p:spPr/>
        <p:txBody>
          <a:bodyPr/>
          <a:lstStyle/>
          <a:p>
            <a:fld id="{8D227648-7989-4D19-B242-A29CAB74E979}" type="datetimeFigureOut">
              <a:rPr lang="en-US" smtClean="0"/>
              <a:t>11/5/2018</a:t>
            </a:fld>
            <a:endParaRPr lang="en-US"/>
          </a:p>
        </p:txBody>
      </p:sp>
      <p:sp>
        <p:nvSpPr>
          <p:cNvPr id="5" name="Footer Placeholder 4">
            <a:extLst>
              <a:ext uri="{FF2B5EF4-FFF2-40B4-BE49-F238E27FC236}">
                <a16:creationId xmlns:a16="http://schemas.microsoft.com/office/drawing/2014/main" id="{42338005-A7B2-4169-857E-5B358B1690E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60C7B6-D004-49D7-86E4-F1655A2EC199}"/>
              </a:ext>
            </a:extLst>
          </p:cNvPr>
          <p:cNvSpPr>
            <a:spLocks noGrp="1"/>
          </p:cNvSpPr>
          <p:nvPr>
            <p:ph type="sldNum" sz="quarter" idx="12"/>
          </p:nvPr>
        </p:nvSpPr>
        <p:spPr/>
        <p:txBody>
          <a:bodyPr/>
          <a:lstStyle/>
          <a:p>
            <a:fld id="{9109FD6D-B242-4E10-BB28-73281977C889}" type="slidenum">
              <a:rPr lang="en-US" smtClean="0"/>
              <a:t>‹#›</a:t>
            </a:fld>
            <a:endParaRPr lang="en-US"/>
          </a:p>
        </p:txBody>
      </p:sp>
    </p:spTree>
    <p:extLst>
      <p:ext uri="{BB962C8B-B14F-4D97-AF65-F5344CB8AC3E}">
        <p14:creationId xmlns:p14="http://schemas.microsoft.com/office/powerpoint/2010/main" val="22636781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04AE0-E037-4CB8-B223-FBE36410669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E79D224-8CDC-4FD4-805C-D5D49538D13F}"/>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771B1E2-B3C5-43AB-A4E2-2E09FEE14791}"/>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7FA8C32-63EF-4039-B17C-C83B96FC312B}"/>
              </a:ext>
            </a:extLst>
          </p:cNvPr>
          <p:cNvSpPr>
            <a:spLocks noGrp="1"/>
          </p:cNvSpPr>
          <p:nvPr>
            <p:ph type="dt" sz="half" idx="10"/>
          </p:nvPr>
        </p:nvSpPr>
        <p:spPr/>
        <p:txBody>
          <a:bodyPr/>
          <a:lstStyle/>
          <a:p>
            <a:fld id="{8D227648-7989-4D19-B242-A29CAB74E979}" type="datetimeFigureOut">
              <a:rPr lang="en-US" smtClean="0"/>
              <a:t>11/5/2018</a:t>
            </a:fld>
            <a:endParaRPr lang="en-US"/>
          </a:p>
        </p:txBody>
      </p:sp>
      <p:sp>
        <p:nvSpPr>
          <p:cNvPr id="6" name="Footer Placeholder 5">
            <a:extLst>
              <a:ext uri="{FF2B5EF4-FFF2-40B4-BE49-F238E27FC236}">
                <a16:creationId xmlns:a16="http://schemas.microsoft.com/office/drawing/2014/main" id="{024C7B6F-F786-49F2-AD0C-6D600B240FB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E78DFCA-9F9A-4020-AAEF-CA25CBA3FFF5}"/>
              </a:ext>
            </a:extLst>
          </p:cNvPr>
          <p:cNvSpPr>
            <a:spLocks noGrp="1"/>
          </p:cNvSpPr>
          <p:nvPr>
            <p:ph type="sldNum" sz="quarter" idx="12"/>
          </p:nvPr>
        </p:nvSpPr>
        <p:spPr/>
        <p:txBody>
          <a:bodyPr/>
          <a:lstStyle/>
          <a:p>
            <a:fld id="{9109FD6D-B242-4E10-BB28-73281977C889}" type="slidenum">
              <a:rPr lang="en-US" smtClean="0"/>
              <a:t>‹#›</a:t>
            </a:fld>
            <a:endParaRPr lang="en-US"/>
          </a:p>
        </p:txBody>
      </p:sp>
    </p:spTree>
    <p:extLst>
      <p:ext uri="{BB962C8B-B14F-4D97-AF65-F5344CB8AC3E}">
        <p14:creationId xmlns:p14="http://schemas.microsoft.com/office/powerpoint/2010/main" val="17096800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049B1D-4C3A-406D-99CC-52EA5C19090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4A94858-5C74-40C7-9D4D-DA3585B74BB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AB9F841A-2C2B-401A-B1FD-475F8859BE0C}"/>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5988262-FD68-425C-9EAC-4AC4AD6CACD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094A3108-E71C-4147-A3CE-494E116D5100}"/>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48A1999-009B-44C4-B76A-5ABE305AC452}"/>
              </a:ext>
            </a:extLst>
          </p:cNvPr>
          <p:cNvSpPr>
            <a:spLocks noGrp="1"/>
          </p:cNvSpPr>
          <p:nvPr>
            <p:ph type="dt" sz="half" idx="10"/>
          </p:nvPr>
        </p:nvSpPr>
        <p:spPr/>
        <p:txBody>
          <a:bodyPr/>
          <a:lstStyle/>
          <a:p>
            <a:fld id="{8D227648-7989-4D19-B242-A29CAB74E979}" type="datetimeFigureOut">
              <a:rPr lang="en-US" smtClean="0"/>
              <a:t>11/5/2018</a:t>
            </a:fld>
            <a:endParaRPr lang="en-US"/>
          </a:p>
        </p:txBody>
      </p:sp>
      <p:sp>
        <p:nvSpPr>
          <p:cNvPr id="8" name="Footer Placeholder 7">
            <a:extLst>
              <a:ext uri="{FF2B5EF4-FFF2-40B4-BE49-F238E27FC236}">
                <a16:creationId xmlns:a16="http://schemas.microsoft.com/office/drawing/2014/main" id="{F70D87C1-771A-4976-B3E4-CFBC0CA036C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F111081-99DC-4E95-B09D-A6A68AFADF9B}"/>
              </a:ext>
            </a:extLst>
          </p:cNvPr>
          <p:cNvSpPr>
            <a:spLocks noGrp="1"/>
          </p:cNvSpPr>
          <p:nvPr>
            <p:ph type="sldNum" sz="quarter" idx="12"/>
          </p:nvPr>
        </p:nvSpPr>
        <p:spPr/>
        <p:txBody>
          <a:bodyPr/>
          <a:lstStyle/>
          <a:p>
            <a:fld id="{9109FD6D-B242-4E10-BB28-73281977C889}" type="slidenum">
              <a:rPr lang="en-US" smtClean="0"/>
              <a:t>‹#›</a:t>
            </a:fld>
            <a:endParaRPr lang="en-US"/>
          </a:p>
        </p:txBody>
      </p:sp>
    </p:spTree>
    <p:extLst>
      <p:ext uri="{BB962C8B-B14F-4D97-AF65-F5344CB8AC3E}">
        <p14:creationId xmlns:p14="http://schemas.microsoft.com/office/powerpoint/2010/main" val="13893310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85E040-E8F8-42DD-9F68-DB0519FE5AC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349DF79-E043-4C97-8A65-1999C018BF95}"/>
              </a:ext>
            </a:extLst>
          </p:cNvPr>
          <p:cNvSpPr>
            <a:spLocks noGrp="1"/>
          </p:cNvSpPr>
          <p:nvPr>
            <p:ph type="dt" sz="half" idx="10"/>
          </p:nvPr>
        </p:nvSpPr>
        <p:spPr/>
        <p:txBody>
          <a:bodyPr/>
          <a:lstStyle/>
          <a:p>
            <a:fld id="{8D227648-7989-4D19-B242-A29CAB74E979}" type="datetimeFigureOut">
              <a:rPr lang="en-US" smtClean="0"/>
              <a:t>11/5/2018</a:t>
            </a:fld>
            <a:endParaRPr lang="en-US"/>
          </a:p>
        </p:txBody>
      </p:sp>
      <p:sp>
        <p:nvSpPr>
          <p:cNvPr id="4" name="Footer Placeholder 3">
            <a:extLst>
              <a:ext uri="{FF2B5EF4-FFF2-40B4-BE49-F238E27FC236}">
                <a16:creationId xmlns:a16="http://schemas.microsoft.com/office/drawing/2014/main" id="{8F261BBC-5057-4B42-A9DE-CCC3BDE234D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D40704E-432E-4330-AE5A-014DD1672F78}"/>
              </a:ext>
            </a:extLst>
          </p:cNvPr>
          <p:cNvSpPr>
            <a:spLocks noGrp="1"/>
          </p:cNvSpPr>
          <p:nvPr>
            <p:ph type="sldNum" sz="quarter" idx="12"/>
          </p:nvPr>
        </p:nvSpPr>
        <p:spPr/>
        <p:txBody>
          <a:bodyPr/>
          <a:lstStyle/>
          <a:p>
            <a:fld id="{9109FD6D-B242-4E10-BB28-73281977C889}" type="slidenum">
              <a:rPr lang="en-US" smtClean="0"/>
              <a:t>‹#›</a:t>
            </a:fld>
            <a:endParaRPr lang="en-US"/>
          </a:p>
        </p:txBody>
      </p:sp>
    </p:spTree>
    <p:extLst>
      <p:ext uri="{BB962C8B-B14F-4D97-AF65-F5344CB8AC3E}">
        <p14:creationId xmlns:p14="http://schemas.microsoft.com/office/powerpoint/2010/main" val="41022647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757E912-0EBA-46D0-81BA-579B11DF7819}"/>
              </a:ext>
            </a:extLst>
          </p:cNvPr>
          <p:cNvSpPr>
            <a:spLocks noGrp="1"/>
          </p:cNvSpPr>
          <p:nvPr>
            <p:ph type="dt" sz="half" idx="10"/>
          </p:nvPr>
        </p:nvSpPr>
        <p:spPr/>
        <p:txBody>
          <a:bodyPr/>
          <a:lstStyle/>
          <a:p>
            <a:fld id="{8D227648-7989-4D19-B242-A29CAB74E979}" type="datetimeFigureOut">
              <a:rPr lang="en-US" smtClean="0"/>
              <a:t>11/5/2018</a:t>
            </a:fld>
            <a:endParaRPr lang="en-US"/>
          </a:p>
        </p:txBody>
      </p:sp>
      <p:sp>
        <p:nvSpPr>
          <p:cNvPr id="3" name="Footer Placeholder 2">
            <a:extLst>
              <a:ext uri="{FF2B5EF4-FFF2-40B4-BE49-F238E27FC236}">
                <a16:creationId xmlns:a16="http://schemas.microsoft.com/office/drawing/2014/main" id="{E665D07B-ED57-4A87-88D1-840190E12FE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628C9AF-F51F-41DD-9B14-BB4B35921271}"/>
              </a:ext>
            </a:extLst>
          </p:cNvPr>
          <p:cNvSpPr>
            <a:spLocks noGrp="1"/>
          </p:cNvSpPr>
          <p:nvPr>
            <p:ph type="sldNum" sz="quarter" idx="12"/>
          </p:nvPr>
        </p:nvSpPr>
        <p:spPr/>
        <p:txBody>
          <a:bodyPr/>
          <a:lstStyle/>
          <a:p>
            <a:fld id="{9109FD6D-B242-4E10-BB28-73281977C889}" type="slidenum">
              <a:rPr lang="en-US" smtClean="0"/>
              <a:t>‹#›</a:t>
            </a:fld>
            <a:endParaRPr lang="en-US"/>
          </a:p>
        </p:txBody>
      </p:sp>
    </p:spTree>
    <p:extLst>
      <p:ext uri="{BB962C8B-B14F-4D97-AF65-F5344CB8AC3E}">
        <p14:creationId xmlns:p14="http://schemas.microsoft.com/office/powerpoint/2010/main" val="33336257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942BD7-EC54-4FCD-B068-46ED59DC165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5DFB698-A256-44DA-87AE-B9E5E6D9325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AA36744-0645-4F3D-80C5-14DE19BB74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3FBF870-43B5-4A79-B7FC-F00783D52A3F}"/>
              </a:ext>
            </a:extLst>
          </p:cNvPr>
          <p:cNvSpPr>
            <a:spLocks noGrp="1"/>
          </p:cNvSpPr>
          <p:nvPr>
            <p:ph type="dt" sz="half" idx="10"/>
          </p:nvPr>
        </p:nvSpPr>
        <p:spPr/>
        <p:txBody>
          <a:bodyPr/>
          <a:lstStyle/>
          <a:p>
            <a:fld id="{8D227648-7989-4D19-B242-A29CAB74E979}" type="datetimeFigureOut">
              <a:rPr lang="en-US" smtClean="0"/>
              <a:t>11/5/2018</a:t>
            </a:fld>
            <a:endParaRPr lang="en-US"/>
          </a:p>
        </p:txBody>
      </p:sp>
      <p:sp>
        <p:nvSpPr>
          <p:cNvPr id="6" name="Footer Placeholder 5">
            <a:extLst>
              <a:ext uri="{FF2B5EF4-FFF2-40B4-BE49-F238E27FC236}">
                <a16:creationId xmlns:a16="http://schemas.microsoft.com/office/drawing/2014/main" id="{D45771EF-53C5-480C-AD3E-35D12FC0329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B8666E3-9722-4CC0-8147-073A62C53AA0}"/>
              </a:ext>
            </a:extLst>
          </p:cNvPr>
          <p:cNvSpPr>
            <a:spLocks noGrp="1"/>
          </p:cNvSpPr>
          <p:nvPr>
            <p:ph type="sldNum" sz="quarter" idx="12"/>
          </p:nvPr>
        </p:nvSpPr>
        <p:spPr/>
        <p:txBody>
          <a:bodyPr/>
          <a:lstStyle/>
          <a:p>
            <a:fld id="{9109FD6D-B242-4E10-BB28-73281977C889}" type="slidenum">
              <a:rPr lang="en-US" smtClean="0"/>
              <a:t>‹#›</a:t>
            </a:fld>
            <a:endParaRPr lang="en-US"/>
          </a:p>
        </p:txBody>
      </p:sp>
    </p:spTree>
    <p:extLst>
      <p:ext uri="{BB962C8B-B14F-4D97-AF65-F5344CB8AC3E}">
        <p14:creationId xmlns:p14="http://schemas.microsoft.com/office/powerpoint/2010/main" val="29402205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5B02B-DD27-45D3-8E76-7DDC02A8589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6DEF6D0-62C2-4ADA-AC9E-A161BD81A51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F9B2F32-3561-4D15-8F60-F5490A1C1E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AF8C3B2-554C-48E4-B9B0-92452244864C}"/>
              </a:ext>
            </a:extLst>
          </p:cNvPr>
          <p:cNvSpPr>
            <a:spLocks noGrp="1"/>
          </p:cNvSpPr>
          <p:nvPr>
            <p:ph type="dt" sz="half" idx="10"/>
          </p:nvPr>
        </p:nvSpPr>
        <p:spPr/>
        <p:txBody>
          <a:bodyPr/>
          <a:lstStyle/>
          <a:p>
            <a:fld id="{8D227648-7989-4D19-B242-A29CAB74E979}" type="datetimeFigureOut">
              <a:rPr lang="en-US" smtClean="0"/>
              <a:t>11/5/2018</a:t>
            </a:fld>
            <a:endParaRPr lang="en-US"/>
          </a:p>
        </p:txBody>
      </p:sp>
      <p:sp>
        <p:nvSpPr>
          <p:cNvPr id="6" name="Footer Placeholder 5">
            <a:extLst>
              <a:ext uri="{FF2B5EF4-FFF2-40B4-BE49-F238E27FC236}">
                <a16:creationId xmlns:a16="http://schemas.microsoft.com/office/drawing/2014/main" id="{46F278CD-082B-4DC6-AA5E-ABD26B2F028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FA7CA71-3070-4CAB-81ED-BD41FD488068}"/>
              </a:ext>
            </a:extLst>
          </p:cNvPr>
          <p:cNvSpPr>
            <a:spLocks noGrp="1"/>
          </p:cNvSpPr>
          <p:nvPr>
            <p:ph type="sldNum" sz="quarter" idx="12"/>
          </p:nvPr>
        </p:nvSpPr>
        <p:spPr/>
        <p:txBody>
          <a:bodyPr/>
          <a:lstStyle/>
          <a:p>
            <a:fld id="{9109FD6D-B242-4E10-BB28-73281977C889}" type="slidenum">
              <a:rPr lang="en-US" smtClean="0"/>
              <a:t>‹#›</a:t>
            </a:fld>
            <a:endParaRPr lang="en-US"/>
          </a:p>
        </p:txBody>
      </p:sp>
    </p:spTree>
    <p:extLst>
      <p:ext uri="{BB962C8B-B14F-4D97-AF65-F5344CB8AC3E}">
        <p14:creationId xmlns:p14="http://schemas.microsoft.com/office/powerpoint/2010/main" val="36728480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B283D8-BBFF-48E9-8471-58B5F97188A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83C2C7A-D850-4627-98D2-BA54020F4264}"/>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2D22229-26A8-4E79-8BB2-F724E7A24E02}"/>
              </a:ext>
            </a:extLst>
          </p:cNvPr>
          <p:cNvSpPr>
            <a:spLocks noGrp="1"/>
          </p:cNvSpPr>
          <p:nvPr>
            <p:ph type="dt" sz="half" idx="10"/>
          </p:nvPr>
        </p:nvSpPr>
        <p:spPr/>
        <p:txBody>
          <a:bodyPr/>
          <a:lstStyle/>
          <a:p>
            <a:fld id="{8D227648-7989-4D19-B242-A29CAB74E979}" type="datetimeFigureOut">
              <a:rPr lang="en-US" smtClean="0"/>
              <a:t>11/5/2018</a:t>
            </a:fld>
            <a:endParaRPr lang="en-US"/>
          </a:p>
        </p:txBody>
      </p:sp>
      <p:sp>
        <p:nvSpPr>
          <p:cNvPr id="5" name="Footer Placeholder 4">
            <a:extLst>
              <a:ext uri="{FF2B5EF4-FFF2-40B4-BE49-F238E27FC236}">
                <a16:creationId xmlns:a16="http://schemas.microsoft.com/office/drawing/2014/main" id="{1E4A711A-1259-43AF-822A-C073A0964F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796E49-F9CC-4234-99DB-4E3AD9869759}"/>
              </a:ext>
            </a:extLst>
          </p:cNvPr>
          <p:cNvSpPr>
            <a:spLocks noGrp="1"/>
          </p:cNvSpPr>
          <p:nvPr>
            <p:ph type="sldNum" sz="quarter" idx="12"/>
          </p:nvPr>
        </p:nvSpPr>
        <p:spPr/>
        <p:txBody>
          <a:bodyPr/>
          <a:lstStyle/>
          <a:p>
            <a:fld id="{9109FD6D-B242-4E10-BB28-73281977C889}" type="slidenum">
              <a:rPr lang="en-US" smtClean="0"/>
              <a:t>‹#›</a:t>
            </a:fld>
            <a:endParaRPr lang="en-US"/>
          </a:p>
        </p:txBody>
      </p:sp>
    </p:spTree>
    <p:extLst>
      <p:ext uri="{BB962C8B-B14F-4D97-AF65-F5344CB8AC3E}">
        <p14:creationId xmlns:p14="http://schemas.microsoft.com/office/powerpoint/2010/main" val="17849799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F3A8DE7-967A-48FC-9E34-90042006525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17D3A03-C032-4C37-AD0B-585F5B2B8E52}"/>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2F1DBBD-2A50-4CA9-8032-E12C362D0C26}"/>
              </a:ext>
            </a:extLst>
          </p:cNvPr>
          <p:cNvSpPr>
            <a:spLocks noGrp="1"/>
          </p:cNvSpPr>
          <p:nvPr>
            <p:ph type="dt" sz="half" idx="10"/>
          </p:nvPr>
        </p:nvSpPr>
        <p:spPr/>
        <p:txBody>
          <a:bodyPr/>
          <a:lstStyle/>
          <a:p>
            <a:fld id="{8D227648-7989-4D19-B242-A29CAB74E979}" type="datetimeFigureOut">
              <a:rPr lang="en-US" smtClean="0"/>
              <a:t>11/5/2018</a:t>
            </a:fld>
            <a:endParaRPr lang="en-US"/>
          </a:p>
        </p:txBody>
      </p:sp>
      <p:sp>
        <p:nvSpPr>
          <p:cNvPr id="5" name="Footer Placeholder 4">
            <a:extLst>
              <a:ext uri="{FF2B5EF4-FFF2-40B4-BE49-F238E27FC236}">
                <a16:creationId xmlns:a16="http://schemas.microsoft.com/office/drawing/2014/main" id="{D58B6E3D-5275-4209-93F7-29972B17ED4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EEB118-BACC-4498-840F-B19E044409B8}"/>
              </a:ext>
            </a:extLst>
          </p:cNvPr>
          <p:cNvSpPr>
            <a:spLocks noGrp="1"/>
          </p:cNvSpPr>
          <p:nvPr>
            <p:ph type="sldNum" sz="quarter" idx="12"/>
          </p:nvPr>
        </p:nvSpPr>
        <p:spPr/>
        <p:txBody>
          <a:bodyPr/>
          <a:lstStyle/>
          <a:p>
            <a:fld id="{9109FD6D-B242-4E10-BB28-73281977C889}" type="slidenum">
              <a:rPr lang="en-US" smtClean="0"/>
              <a:t>‹#›</a:t>
            </a:fld>
            <a:endParaRPr lang="en-US"/>
          </a:p>
        </p:txBody>
      </p:sp>
    </p:spTree>
    <p:extLst>
      <p:ext uri="{BB962C8B-B14F-4D97-AF65-F5344CB8AC3E}">
        <p14:creationId xmlns:p14="http://schemas.microsoft.com/office/powerpoint/2010/main" val="36251384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6B41654-74FB-4D9F-BD9F-C865A312A0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6FF3AAE-1C55-4F99-B969-65579E4EE36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DCD3AE-F81D-4B2E-860C-0AE7C5E42B9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D227648-7989-4D19-B242-A29CAB74E979}" type="datetimeFigureOut">
              <a:rPr lang="en-US" smtClean="0"/>
              <a:t>11/5/2018</a:t>
            </a:fld>
            <a:endParaRPr lang="en-US"/>
          </a:p>
        </p:txBody>
      </p:sp>
      <p:sp>
        <p:nvSpPr>
          <p:cNvPr id="5" name="Footer Placeholder 4">
            <a:extLst>
              <a:ext uri="{FF2B5EF4-FFF2-40B4-BE49-F238E27FC236}">
                <a16:creationId xmlns:a16="http://schemas.microsoft.com/office/drawing/2014/main" id="{4F097571-0A92-4161-A613-B59C1F18D9F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7C26F15-7123-4E15-80F9-1917762AE8F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109FD6D-B242-4E10-BB28-73281977C889}" type="slidenum">
              <a:rPr lang="en-US" smtClean="0"/>
              <a:t>‹#›</a:t>
            </a:fld>
            <a:endParaRPr lang="en-US"/>
          </a:p>
        </p:txBody>
      </p:sp>
    </p:spTree>
    <p:extLst>
      <p:ext uri="{BB962C8B-B14F-4D97-AF65-F5344CB8AC3E}">
        <p14:creationId xmlns:p14="http://schemas.microsoft.com/office/powerpoint/2010/main" val="36785506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76AF8CC2-F38B-46BD-9BA5-A40514C2063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635000"/>
            <a:ext cx="12192000" cy="8128000"/>
          </a:xfrm>
          <a:prstGeom prst="rect">
            <a:avLst/>
          </a:prstGeom>
        </p:spPr>
      </p:pic>
      <p:sp>
        <p:nvSpPr>
          <p:cNvPr id="14" name="Rectangle 13"/>
          <p:cNvSpPr/>
          <p:nvPr/>
        </p:nvSpPr>
        <p:spPr>
          <a:xfrm>
            <a:off x="-163786" y="-369433"/>
            <a:ext cx="12566468" cy="7432765"/>
          </a:xfrm>
          <a:prstGeom prst="rect">
            <a:avLst/>
          </a:prstGeom>
          <a:solidFill>
            <a:schemeClr val="bg1">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ubtitle 1"/>
          <p:cNvSpPr>
            <a:spLocks noGrp="1"/>
          </p:cNvSpPr>
          <p:nvPr>
            <p:ph type="subTitle" idx="1"/>
          </p:nvPr>
        </p:nvSpPr>
        <p:spPr>
          <a:xfrm>
            <a:off x="908950" y="298683"/>
            <a:ext cx="6805699" cy="6096531"/>
          </a:xfrm>
        </p:spPr>
        <p:txBody>
          <a:bodyPr>
            <a:normAutofit/>
          </a:bodyPr>
          <a:lstStyle/>
          <a:p>
            <a:pPr algn="l"/>
            <a:r>
              <a:rPr lang="en-US" sz="7800" dirty="0">
                <a:solidFill>
                  <a:srgbClr val="566A6A"/>
                </a:solidFill>
                <a:latin typeface="The Bold Font" pitchFamily="2" charset="0"/>
                <a:ea typeface="Roboto Bk" pitchFamily="2" charset="0"/>
              </a:rPr>
              <a:t>CLINICS</a:t>
            </a:r>
          </a:p>
          <a:p>
            <a:pPr algn="l"/>
            <a:r>
              <a:rPr lang="en-US" sz="7800" dirty="0">
                <a:solidFill>
                  <a:srgbClr val="566A6A"/>
                </a:solidFill>
                <a:latin typeface="The Bold Font" pitchFamily="2" charset="0"/>
                <a:ea typeface="Roboto Bk" pitchFamily="2" charset="0"/>
              </a:rPr>
              <a:t>APPOINTMENT </a:t>
            </a:r>
          </a:p>
          <a:p>
            <a:pPr algn="l"/>
            <a:r>
              <a:rPr lang="en-US" sz="7800" dirty="0">
                <a:solidFill>
                  <a:srgbClr val="566A6A"/>
                </a:solidFill>
                <a:latin typeface="The Bold Font" pitchFamily="2" charset="0"/>
                <a:ea typeface="Roboto Bk" pitchFamily="2" charset="0"/>
              </a:rPr>
              <a:t>MANAGEMENT </a:t>
            </a:r>
          </a:p>
          <a:p>
            <a:pPr algn="l"/>
            <a:r>
              <a:rPr lang="en-US" sz="7800" dirty="0">
                <a:solidFill>
                  <a:srgbClr val="566A6A"/>
                </a:solidFill>
                <a:latin typeface="The Bold Font" pitchFamily="2" charset="0"/>
                <a:ea typeface="Roboto Bk" pitchFamily="2" charset="0"/>
              </a:rPr>
              <a:t>SYSTEM</a:t>
            </a:r>
          </a:p>
          <a:p>
            <a:endParaRPr lang="en-US" dirty="0"/>
          </a:p>
        </p:txBody>
      </p:sp>
      <p:sp>
        <p:nvSpPr>
          <p:cNvPr id="12" name="Rectangle 11"/>
          <p:cNvSpPr/>
          <p:nvPr/>
        </p:nvSpPr>
        <p:spPr>
          <a:xfrm rot="1215374">
            <a:off x="8957982" y="-896929"/>
            <a:ext cx="2527300" cy="9402115"/>
          </a:xfrm>
          <a:prstGeom prst="rect">
            <a:avLst/>
          </a:prstGeom>
          <a:solidFill>
            <a:srgbClr val="22C7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rot="1215374">
            <a:off x="8115255" y="-1113309"/>
            <a:ext cx="2527300" cy="9402115"/>
          </a:xfrm>
          <a:prstGeom prst="rect">
            <a:avLst/>
          </a:prstGeom>
          <a:solidFill>
            <a:srgbClr val="76F6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p:cNvSpPr txBox="1"/>
          <p:nvPr/>
        </p:nvSpPr>
        <p:spPr>
          <a:xfrm>
            <a:off x="908950" y="4861850"/>
            <a:ext cx="5281612" cy="584775"/>
          </a:xfrm>
          <a:prstGeom prst="rect">
            <a:avLst/>
          </a:prstGeom>
          <a:noFill/>
        </p:spPr>
        <p:txBody>
          <a:bodyPr wrap="square" rtlCol="0">
            <a:spAutoFit/>
          </a:bodyPr>
          <a:lstStyle/>
          <a:p>
            <a:r>
              <a:rPr lang="en-US" sz="3200" dirty="0">
                <a:solidFill>
                  <a:schemeClr val="bg2">
                    <a:lumMod val="25000"/>
                  </a:schemeClr>
                </a:solidFill>
                <a:latin typeface="Rajdhani Bold" panose="02000000000000000000" pitchFamily="2" charset="0"/>
                <a:ea typeface="Roboto Bk" pitchFamily="2" charset="0"/>
                <a:cs typeface="Rajdhani Bold" panose="02000000000000000000" pitchFamily="2" charset="0"/>
              </a:rPr>
              <a:t>GROUP 13</a:t>
            </a:r>
          </a:p>
        </p:txBody>
      </p:sp>
      <p:pic>
        <p:nvPicPr>
          <p:cNvPr id="16" name="Picture 1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08468" y="244476"/>
            <a:ext cx="6858000" cy="6858000"/>
          </a:xfrm>
          <a:prstGeom prst="rect">
            <a:avLst/>
          </a:prstGeom>
        </p:spPr>
      </p:pic>
    </p:spTree>
    <p:extLst>
      <p:ext uri="{BB962C8B-B14F-4D97-AF65-F5344CB8AC3E}">
        <p14:creationId xmlns:p14="http://schemas.microsoft.com/office/powerpoint/2010/main" val="18621683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AEEA78-CD22-413B-95F1-326FA7457CCD}"/>
              </a:ext>
            </a:extLst>
          </p:cNvPr>
          <p:cNvSpPr>
            <a:spLocks noGrp="1"/>
          </p:cNvSpPr>
          <p:nvPr>
            <p:ph type="title"/>
          </p:nvPr>
        </p:nvSpPr>
        <p:spPr>
          <a:xfrm>
            <a:off x="1042989" y="1548299"/>
            <a:ext cx="10515600" cy="1325563"/>
          </a:xfrm>
        </p:spPr>
        <p:txBody>
          <a:bodyPr>
            <a:noAutofit/>
          </a:bodyPr>
          <a:lstStyle/>
          <a:p>
            <a:pPr algn="ctr"/>
            <a:r>
              <a:rPr lang="en-US" sz="6600" dirty="0">
                <a:solidFill>
                  <a:srgbClr val="566A6B"/>
                </a:solidFill>
                <a:latin typeface="Bebas Neue" panose="020B0606020202050201" pitchFamily="34" charset="0"/>
                <a:ea typeface="Adobe Gothic Std B" panose="020B0800000000000000" pitchFamily="34" charset="-128"/>
                <a:cs typeface="Adobe Arabic" panose="02040503050201020203" pitchFamily="18" charset="-78"/>
              </a:rPr>
              <a:t>CHAPTER 1: </a:t>
            </a:r>
            <a:br>
              <a:rPr lang="en-US" sz="6600" dirty="0">
                <a:solidFill>
                  <a:srgbClr val="566A6B"/>
                </a:solidFill>
                <a:latin typeface="Bebas Neue" panose="020B0606020202050201" pitchFamily="34" charset="0"/>
                <a:ea typeface="Adobe Gothic Std B" panose="020B0800000000000000" pitchFamily="34" charset="-128"/>
                <a:cs typeface="Adobe Arabic" panose="02040503050201020203" pitchFamily="18" charset="-78"/>
              </a:rPr>
            </a:br>
            <a:r>
              <a:rPr lang="en-US" sz="6600" dirty="0">
                <a:solidFill>
                  <a:srgbClr val="566A6B"/>
                </a:solidFill>
                <a:latin typeface="Bebas Neue" panose="020B0606020202050201" pitchFamily="34" charset="0"/>
                <a:ea typeface="Adobe Gothic Std B" panose="020B0800000000000000" pitchFamily="34" charset="-128"/>
                <a:cs typeface="Adobe Arabic" panose="02040503050201020203" pitchFamily="18" charset="-78"/>
              </a:rPr>
              <a:t>Introduction</a:t>
            </a:r>
          </a:p>
        </p:txBody>
      </p:sp>
      <p:sp>
        <p:nvSpPr>
          <p:cNvPr id="3" name="Content Placeholder 2">
            <a:extLst>
              <a:ext uri="{FF2B5EF4-FFF2-40B4-BE49-F238E27FC236}">
                <a16:creationId xmlns:a16="http://schemas.microsoft.com/office/drawing/2014/main" id="{3C180F0A-4B45-428F-8BD4-FD0A59405DA9}"/>
              </a:ext>
            </a:extLst>
          </p:cNvPr>
          <p:cNvSpPr>
            <a:spLocks noGrp="1"/>
          </p:cNvSpPr>
          <p:nvPr>
            <p:ph idx="1"/>
          </p:nvPr>
        </p:nvSpPr>
        <p:spPr>
          <a:xfrm>
            <a:off x="1824607" y="3284203"/>
            <a:ext cx="10515600" cy="1603375"/>
          </a:xfrm>
        </p:spPr>
        <p:txBody>
          <a:bodyPr>
            <a:noAutofit/>
          </a:bodyPr>
          <a:lstStyle/>
          <a:p>
            <a:pPr marL="514350" indent="-514350">
              <a:buFont typeface="+mj-lt"/>
              <a:buAutoNum type="arabicPeriod"/>
            </a:pPr>
            <a:r>
              <a:rPr lang="en-US" sz="4000" dirty="0">
                <a:solidFill>
                  <a:srgbClr val="566A6B"/>
                </a:solidFill>
                <a:latin typeface="Bebas Neue" panose="020B0606020202050201" pitchFamily="34" charset="0"/>
                <a:ea typeface="Adobe Gothic Std B" panose="020B0800000000000000" pitchFamily="34" charset="-128"/>
              </a:rPr>
              <a:t>Rationale</a:t>
            </a:r>
          </a:p>
          <a:p>
            <a:pPr marL="514350" indent="-514350">
              <a:buFont typeface="+mj-lt"/>
              <a:buAutoNum type="arabicPeriod"/>
            </a:pPr>
            <a:r>
              <a:rPr lang="en-US" sz="4000" dirty="0">
                <a:solidFill>
                  <a:srgbClr val="566A6B"/>
                </a:solidFill>
                <a:latin typeface="Bebas Neue" panose="020B0606020202050201" pitchFamily="34" charset="0"/>
                <a:ea typeface="Adobe Gothic Std B" panose="020B0800000000000000" pitchFamily="34" charset="-128"/>
              </a:rPr>
              <a:t>Objectives of Study</a:t>
            </a:r>
          </a:p>
          <a:p>
            <a:pPr marL="514350" indent="-514350">
              <a:buFont typeface="+mj-lt"/>
              <a:buAutoNum type="arabicPeriod"/>
            </a:pPr>
            <a:r>
              <a:rPr lang="en-US" sz="4000" dirty="0">
                <a:solidFill>
                  <a:srgbClr val="566A6B"/>
                </a:solidFill>
                <a:latin typeface="Bebas Neue" panose="020B0606020202050201" pitchFamily="34" charset="0"/>
                <a:ea typeface="Adobe Gothic Std B" panose="020B0800000000000000" pitchFamily="34" charset="-128"/>
              </a:rPr>
              <a:t>Scope and Limitations</a:t>
            </a:r>
          </a:p>
        </p:txBody>
      </p:sp>
      <p:sp>
        <p:nvSpPr>
          <p:cNvPr id="13" name="Rectangle 12">
            <a:extLst>
              <a:ext uri="{FF2B5EF4-FFF2-40B4-BE49-F238E27FC236}">
                <a16:creationId xmlns:a16="http://schemas.microsoft.com/office/drawing/2014/main" id="{5D2BF202-9F55-40C8-9EAC-E4044572E3E5}"/>
              </a:ext>
            </a:extLst>
          </p:cNvPr>
          <p:cNvSpPr/>
          <p:nvPr/>
        </p:nvSpPr>
        <p:spPr>
          <a:xfrm rot="16200000">
            <a:off x="-5400957" y="4412317"/>
            <a:ext cx="12192000" cy="1271589"/>
          </a:xfrm>
          <a:prstGeom prst="rect">
            <a:avLst/>
          </a:prstGeom>
          <a:solidFill>
            <a:srgbClr val="76F6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a:extLst>
              <a:ext uri="{FF2B5EF4-FFF2-40B4-BE49-F238E27FC236}">
                <a16:creationId xmlns:a16="http://schemas.microsoft.com/office/drawing/2014/main" id="{8D1A272E-DE64-4E30-A4E9-8AD35B3A7EA1}"/>
              </a:ext>
            </a:extLst>
          </p:cNvPr>
          <p:cNvGrpSpPr/>
          <p:nvPr/>
        </p:nvGrpSpPr>
        <p:grpSpPr>
          <a:xfrm rot="16200000">
            <a:off x="-5502019" y="4511278"/>
            <a:ext cx="12192000" cy="1473711"/>
            <a:chOff x="971550" y="237976"/>
            <a:chExt cx="12192000" cy="1214632"/>
          </a:xfrm>
          <a:solidFill>
            <a:srgbClr val="22C7B7"/>
          </a:solidFill>
        </p:grpSpPr>
        <p:sp>
          <p:nvSpPr>
            <p:cNvPr id="10" name="Rectangle 9">
              <a:extLst>
                <a:ext uri="{FF2B5EF4-FFF2-40B4-BE49-F238E27FC236}">
                  <a16:creationId xmlns:a16="http://schemas.microsoft.com/office/drawing/2014/main" id="{5D2BF202-9F55-40C8-9EAC-E4044572E3E5}"/>
                </a:ext>
              </a:extLst>
            </p:cNvPr>
            <p:cNvSpPr/>
            <p:nvPr/>
          </p:nvSpPr>
          <p:spPr>
            <a:xfrm>
              <a:off x="971550" y="237976"/>
              <a:ext cx="12192000" cy="104804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ubtitle 2">
              <a:extLst>
                <a:ext uri="{FF2B5EF4-FFF2-40B4-BE49-F238E27FC236}">
                  <a16:creationId xmlns:a16="http://schemas.microsoft.com/office/drawing/2014/main" id="{A9DFA511-3CF8-496E-9FCA-CBDEF19FB747}"/>
                </a:ext>
              </a:extLst>
            </p:cNvPr>
            <p:cNvSpPr txBox="1">
              <a:spLocks/>
            </p:cNvSpPr>
            <p:nvPr/>
          </p:nvSpPr>
          <p:spPr>
            <a:xfrm>
              <a:off x="1873306" y="978120"/>
              <a:ext cx="9144000" cy="474488"/>
            </a:xfrm>
            <a:prstGeom prst="rect">
              <a:avLst/>
            </a:prstGeom>
            <a:no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b="1" dirty="0">
                  <a:solidFill>
                    <a:schemeClr val="bg1"/>
                  </a:solidFill>
                  <a:latin typeface="Bebas Neue" panose="020B0606020202050201" pitchFamily="34" charset="0"/>
                </a:rPr>
                <a:t>Clinics Appointment Management System</a:t>
              </a:r>
              <a:endParaRPr lang="en-US" dirty="0">
                <a:solidFill>
                  <a:schemeClr val="bg1"/>
                </a:solidFill>
                <a:latin typeface="Bebas Neue" panose="020B0606020202050201" pitchFamily="34" charset="0"/>
              </a:endParaRPr>
            </a:p>
          </p:txBody>
        </p:sp>
      </p:grpSp>
      <p:sp>
        <p:nvSpPr>
          <p:cNvPr id="15" name="Rectangle 14"/>
          <p:cNvSpPr/>
          <p:nvPr/>
        </p:nvSpPr>
        <p:spPr>
          <a:xfrm rot="1215374">
            <a:off x="10811951" y="-1004911"/>
            <a:ext cx="2527300" cy="9402115"/>
          </a:xfrm>
          <a:prstGeom prst="rect">
            <a:avLst/>
          </a:prstGeom>
          <a:solidFill>
            <a:srgbClr val="76F6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rot="20333552">
            <a:off x="10811950" y="-1606375"/>
            <a:ext cx="2527300" cy="9402115"/>
          </a:xfrm>
          <a:prstGeom prst="rect">
            <a:avLst/>
          </a:prstGeom>
          <a:solidFill>
            <a:srgbClr val="22C7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22C7B7"/>
              </a:solidFill>
            </a:endParaRPr>
          </a:p>
        </p:txBody>
      </p:sp>
    </p:spTree>
    <p:extLst>
      <p:ext uri="{BB962C8B-B14F-4D97-AF65-F5344CB8AC3E}">
        <p14:creationId xmlns:p14="http://schemas.microsoft.com/office/powerpoint/2010/main" val="18733616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D2BF202-9F55-40C8-9EAC-E4044572E3E5}"/>
              </a:ext>
            </a:extLst>
          </p:cNvPr>
          <p:cNvSpPr/>
          <p:nvPr/>
        </p:nvSpPr>
        <p:spPr>
          <a:xfrm rot="16200000">
            <a:off x="-5400957" y="4412317"/>
            <a:ext cx="12192000" cy="1271589"/>
          </a:xfrm>
          <a:prstGeom prst="rect">
            <a:avLst/>
          </a:prstGeom>
          <a:solidFill>
            <a:srgbClr val="76F6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BAEEA78-CD22-413B-95F1-326FA7457CCD}"/>
              </a:ext>
            </a:extLst>
          </p:cNvPr>
          <p:cNvSpPr>
            <a:spLocks noGrp="1"/>
          </p:cNvSpPr>
          <p:nvPr>
            <p:ph type="title"/>
          </p:nvPr>
        </p:nvSpPr>
        <p:spPr>
          <a:xfrm>
            <a:off x="1330838" y="635596"/>
            <a:ext cx="10515600" cy="1325563"/>
          </a:xfrm>
        </p:spPr>
        <p:txBody>
          <a:bodyPr>
            <a:noAutofit/>
          </a:bodyPr>
          <a:lstStyle/>
          <a:p>
            <a:r>
              <a:rPr lang="en-US" sz="6600" dirty="0">
                <a:solidFill>
                  <a:srgbClr val="566A6A"/>
                </a:solidFill>
                <a:latin typeface="Bebas Neue" panose="020B0606020202050201" pitchFamily="34" charset="0"/>
                <a:ea typeface="Adobe Gothic Std B" panose="020B0800000000000000" pitchFamily="34" charset="-128"/>
                <a:cs typeface="Adobe Arabic" panose="02040503050201020203" pitchFamily="18" charset="-78"/>
              </a:rPr>
              <a:t>rationale</a:t>
            </a:r>
          </a:p>
        </p:txBody>
      </p:sp>
      <p:sp>
        <p:nvSpPr>
          <p:cNvPr id="3" name="Content Placeholder 2">
            <a:extLst>
              <a:ext uri="{FF2B5EF4-FFF2-40B4-BE49-F238E27FC236}">
                <a16:creationId xmlns:a16="http://schemas.microsoft.com/office/drawing/2014/main" id="{3C180F0A-4B45-428F-8BD4-FD0A59405DA9}"/>
              </a:ext>
            </a:extLst>
          </p:cNvPr>
          <p:cNvSpPr>
            <a:spLocks noGrp="1"/>
          </p:cNvSpPr>
          <p:nvPr>
            <p:ph idx="1"/>
          </p:nvPr>
        </p:nvSpPr>
        <p:spPr>
          <a:xfrm>
            <a:off x="1330838" y="1961159"/>
            <a:ext cx="10687052" cy="4722421"/>
          </a:xfrm>
        </p:spPr>
        <p:txBody>
          <a:bodyPr>
            <a:noAutofit/>
          </a:bodyPr>
          <a:lstStyle/>
          <a:p>
            <a:r>
              <a:rPr lang="en-US" dirty="0" smtClean="0">
                <a:solidFill>
                  <a:srgbClr val="566A6B"/>
                </a:solidFill>
                <a:latin typeface="Adobe Gothic Std B" panose="020B0800000000000000" pitchFamily="34" charset="-128"/>
                <a:ea typeface="Adobe Gothic Std B" panose="020B0800000000000000" pitchFamily="34" charset="-128"/>
              </a:rPr>
              <a:t>Healthcare for the society is necessary as it </a:t>
            </a:r>
            <a:r>
              <a:rPr lang="en-US" dirty="0" smtClean="0">
                <a:solidFill>
                  <a:srgbClr val="566A6A"/>
                </a:solidFill>
                <a:latin typeface="Adobe Gothic Std B" panose="020B0800000000000000" pitchFamily="34" charset="-128"/>
                <a:ea typeface="Adobe Gothic Std B" panose="020B0800000000000000" pitchFamily="34" charset="-128"/>
              </a:rPr>
              <a:t>can lead to longer, healthier and happy lives</a:t>
            </a:r>
            <a:r>
              <a:rPr lang="en-US" dirty="0" smtClean="0">
                <a:solidFill>
                  <a:srgbClr val="566A6B"/>
                </a:solidFill>
                <a:latin typeface="Adobe Gothic Std B" panose="020B0800000000000000" pitchFamily="34" charset="-128"/>
                <a:ea typeface="Adobe Gothic Std B" panose="020B0800000000000000" pitchFamily="34" charset="-128"/>
              </a:rPr>
              <a:t>. </a:t>
            </a:r>
          </a:p>
          <a:p>
            <a:r>
              <a:rPr lang="en-US" dirty="0" smtClean="0">
                <a:solidFill>
                  <a:srgbClr val="566A6B"/>
                </a:solidFill>
                <a:latin typeface="Adobe Gothic Std B" panose="020B0800000000000000" pitchFamily="34" charset="-128"/>
                <a:ea typeface="Adobe Gothic Std B" panose="020B0800000000000000" pitchFamily="34" charset="-128"/>
              </a:rPr>
              <a:t>Having </a:t>
            </a:r>
            <a:r>
              <a:rPr lang="en-US" dirty="0">
                <a:solidFill>
                  <a:srgbClr val="566A6B"/>
                </a:solidFill>
                <a:latin typeface="Adobe Gothic Std B" panose="020B0800000000000000" pitchFamily="34" charset="-128"/>
                <a:ea typeface="Adobe Gothic Std B" panose="020B0800000000000000" pitchFamily="34" charset="-128"/>
              </a:rPr>
              <a:t>a regular check-up with a doctor can help us stay on top of our health</a:t>
            </a:r>
            <a:r>
              <a:rPr lang="en-US" dirty="0" smtClean="0">
                <a:solidFill>
                  <a:srgbClr val="566A6B"/>
                </a:solidFill>
                <a:latin typeface="Adobe Gothic Std B" panose="020B0800000000000000" pitchFamily="34" charset="-128"/>
                <a:ea typeface="Adobe Gothic Std B" panose="020B0800000000000000" pitchFamily="34" charset="-128"/>
              </a:rPr>
              <a:t>.</a:t>
            </a:r>
            <a:endParaRPr lang="en-US" dirty="0">
              <a:solidFill>
                <a:srgbClr val="566A6B"/>
              </a:solidFill>
              <a:latin typeface="Adobe Gothic Std B" panose="020B0800000000000000" pitchFamily="34" charset="-128"/>
              <a:ea typeface="Adobe Gothic Std B" panose="020B0800000000000000" pitchFamily="34" charset="-128"/>
            </a:endParaRPr>
          </a:p>
          <a:p>
            <a:r>
              <a:rPr lang="en-US" dirty="0" smtClean="0">
                <a:solidFill>
                  <a:srgbClr val="566A6B"/>
                </a:solidFill>
                <a:latin typeface="Adobe Gothic Std B" panose="020B0800000000000000" pitchFamily="34" charset="-128"/>
                <a:ea typeface="Adobe Gothic Std B" panose="020B0800000000000000" pitchFamily="34" charset="-128"/>
              </a:rPr>
              <a:t>Sad to say that most of us refuse to visit a doctor and only do self-medication or simply enduring the sickness according to Gary de </a:t>
            </a:r>
            <a:r>
              <a:rPr lang="en-US" dirty="0" err="1" smtClean="0">
                <a:solidFill>
                  <a:srgbClr val="566A6B"/>
                </a:solidFill>
                <a:latin typeface="Adobe Gothic Std B" panose="020B0800000000000000" pitchFamily="34" charset="-128"/>
                <a:ea typeface="Adobe Gothic Std B" panose="020B0800000000000000" pitchFamily="34" charset="-128"/>
              </a:rPr>
              <a:t>Ocampo</a:t>
            </a:r>
            <a:r>
              <a:rPr lang="en-US" dirty="0" smtClean="0">
                <a:solidFill>
                  <a:srgbClr val="566A6B"/>
                </a:solidFill>
                <a:latin typeface="Adobe Gothic Std B" panose="020B0800000000000000" pitchFamily="34" charset="-128"/>
                <a:ea typeface="Adobe Gothic Std B" panose="020B0800000000000000" pitchFamily="34" charset="-128"/>
              </a:rPr>
              <a:t>, CEO of Kantar Philippines.</a:t>
            </a:r>
          </a:p>
          <a:p>
            <a:r>
              <a:rPr lang="en-US" dirty="0">
                <a:solidFill>
                  <a:srgbClr val="566A6B"/>
                </a:solidFill>
                <a:latin typeface="Adobe Gothic Std B" panose="020B0800000000000000" pitchFamily="34" charset="-128"/>
                <a:ea typeface="Adobe Gothic Std B" panose="020B0800000000000000" pitchFamily="34" charset="-128"/>
              </a:rPr>
              <a:t>Factors in choosing a doctor includes the expertise, time management, rate, convenience and the relationship with their patient.</a:t>
            </a:r>
          </a:p>
          <a:p>
            <a:endParaRPr lang="en-US" dirty="0" smtClean="0">
              <a:solidFill>
                <a:srgbClr val="566A6B"/>
              </a:solidFill>
              <a:latin typeface="Adobe Gothic Std B" panose="020B0800000000000000" pitchFamily="34" charset="-128"/>
              <a:ea typeface="Adobe Gothic Std B" panose="020B0800000000000000" pitchFamily="34" charset="-128"/>
            </a:endParaRPr>
          </a:p>
          <a:p>
            <a:endParaRPr lang="en-US" dirty="0">
              <a:solidFill>
                <a:srgbClr val="566A6B"/>
              </a:solidFill>
              <a:latin typeface="Adobe Gothic Std B" panose="020B0800000000000000" pitchFamily="34" charset="-128"/>
              <a:ea typeface="Adobe Gothic Std B" panose="020B0800000000000000" pitchFamily="34" charset="-128"/>
            </a:endParaRPr>
          </a:p>
        </p:txBody>
      </p:sp>
      <p:grpSp>
        <p:nvGrpSpPr>
          <p:cNvPr id="7" name="Group 6">
            <a:extLst>
              <a:ext uri="{FF2B5EF4-FFF2-40B4-BE49-F238E27FC236}">
                <a16:creationId xmlns:a16="http://schemas.microsoft.com/office/drawing/2014/main" id="{8D1A272E-DE64-4E30-A4E9-8AD35B3A7EA1}"/>
              </a:ext>
            </a:extLst>
          </p:cNvPr>
          <p:cNvGrpSpPr/>
          <p:nvPr/>
        </p:nvGrpSpPr>
        <p:grpSpPr>
          <a:xfrm rot="16200000">
            <a:off x="-5502019" y="4511278"/>
            <a:ext cx="12192000" cy="1473711"/>
            <a:chOff x="971550" y="237976"/>
            <a:chExt cx="12192000" cy="1214632"/>
          </a:xfrm>
          <a:solidFill>
            <a:srgbClr val="22C7B7"/>
          </a:solidFill>
        </p:grpSpPr>
        <p:sp>
          <p:nvSpPr>
            <p:cNvPr id="10" name="Rectangle 9">
              <a:extLst>
                <a:ext uri="{FF2B5EF4-FFF2-40B4-BE49-F238E27FC236}">
                  <a16:creationId xmlns:a16="http://schemas.microsoft.com/office/drawing/2014/main" id="{5D2BF202-9F55-40C8-9EAC-E4044572E3E5}"/>
                </a:ext>
              </a:extLst>
            </p:cNvPr>
            <p:cNvSpPr/>
            <p:nvPr/>
          </p:nvSpPr>
          <p:spPr>
            <a:xfrm>
              <a:off x="971550" y="237976"/>
              <a:ext cx="12192000" cy="104804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ubtitle 2">
              <a:extLst>
                <a:ext uri="{FF2B5EF4-FFF2-40B4-BE49-F238E27FC236}">
                  <a16:creationId xmlns:a16="http://schemas.microsoft.com/office/drawing/2014/main" id="{A9DFA511-3CF8-496E-9FCA-CBDEF19FB747}"/>
                </a:ext>
              </a:extLst>
            </p:cNvPr>
            <p:cNvSpPr txBox="1">
              <a:spLocks/>
            </p:cNvSpPr>
            <p:nvPr/>
          </p:nvSpPr>
          <p:spPr>
            <a:xfrm>
              <a:off x="1873306" y="978120"/>
              <a:ext cx="9144000" cy="474488"/>
            </a:xfrm>
            <a:prstGeom prst="rect">
              <a:avLst/>
            </a:prstGeom>
            <a:no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b="1" dirty="0">
                  <a:solidFill>
                    <a:schemeClr val="bg1"/>
                  </a:solidFill>
                  <a:latin typeface="Bebas Neue" panose="020B0606020202050201" pitchFamily="34" charset="0"/>
                </a:rPr>
                <a:t>Clinics Appointment Management System</a:t>
              </a:r>
              <a:endParaRPr lang="en-US" dirty="0">
                <a:solidFill>
                  <a:schemeClr val="bg1"/>
                </a:solidFill>
                <a:latin typeface="Bebas Neue" panose="020B0606020202050201" pitchFamily="34" charset="0"/>
              </a:endParaRPr>
            </a:p>
          </p:txBody>
        </p:sp>
      </p:grpSp>
    </p:spTree>
    <p:extLst>
      <p:ext uri="{BB962C8B-B14F-4D97-AF65-F5344CB8AC3E}">
        <p14:creationId xmlns:p14="http://schemas.microsoft.com/office/powerpoint/2010/main" val="19645567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D2BF202-9F55-40C8-9EAC-E4044572E3E5}"/>
              </a:ext>
            </a:extLst>
          </p:cNvPr>
          <p:cNvSpPr/>
          <p:nvPr/>
        </p:nvSpPr>
        <p:spPr>
          <a:xfrm rot="16200000">
            <a:off x="-5400957" y="4412317"/>
            <a:ext cx="12192000" cy="1271589"/>
          </a:xfrm>
          <a:prstGeom prst="rect">
            <a:avLst/>
          </a:prstGeom>
          <a:solidFill>
            <a:srgbClr val="76F6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BAEEA78-CD22-413B-95F1-326FA7457CCD}"/>
              </a:ext>
            </a:extLst>
          </p:cNvPr>
          <p:cNvSpPr>
            <a:spLocks noGrp="1"/>
          </p:cNvSpPr>
          <p:nvPr>
            <p:ph type="title"/>
          </p:nvPr>
        </p:nvSpPr>
        <p:spPr>
          <a:xfrm>
            <a:off x="1330838" y="635596"/>
            <a:ext cx="10515600" cy="1325563"/>
          </a:xfrm>
        </p:spPr>
        <p:txBody>
          <a:bodyPr>
            <a:noAutofit/>
          </a:bodyPr>
          <a:lstStyle/>
          <a:p>
            <a:r>
              <a:rPr lang="en-US" sz="6600" dirty="0">
                <a:solidFill>
                  <a:srgbClr val="566A6A"/>
                </a:solidFill>
                <a:latin typeface="Bebas Neue" panose="020B0606020202050201" pitchFamily="34" charset="0"/>
                <a:ea typeface="Adobe Gothic Std B" panose="020B0800000000000000" pitchFamily="34" charset="-128"/>
                <a:cs typeface="Adobe Arabic" panose="02040503050201020203" pitchFamily="18" charset="-78"/>
              </a:rPr>
              <a:t>rationale</a:t>
            </a:r>
          </a:p>
        </p:txBody>
      </p:sp>
      <p:sp>
        <p:nvSpPr>
          <p:cNvPr id="3" name="Content Placeholder 2">
            <a:extLst>
              <a:ext uri="{FF2B5EF4-FFF2-40B4-BE49-F238E27FC236}">
                <a16:creationId xmlns:a16="http://schemas.microsoft.com/office/drawing/2014/main" id="{3C180F0A-4B45-428F-8BD4-FD0A59405DA9}"/>
              </a:ext>
            </a:extLst>
          </p:cNvPr>
          <p:cNvSpPr>
            <a:spLocks noGrp="1"/>
          </p:cNvSpPr>
          <p:nvPr>
            <p:ph idx="1"/>
          </p:nvPr>
        </p:nvSpPr>
        <p:spPr>
          <a:xfrm>
            <a:off x="1330838" y="2035566"/>
            <a:ext cx="10687052" cy="4722421"/>
          </a:xfrm>
        </p:spPr>
        <p:txBody>
          <a:bodyPr>
            <a:noAutofit/>
          </a:bodyPr>
          <a:lstStyle/>
          <a:p>
            <a:pPr>
              <a:lnSpc>
                <a:spcPct val="100000"/>
              </a:lnSpc>
            </a:pPr>
            <a:r>
              <a:rPr lang="en-US" dirty="0" smtClean="0">
                <a:solidFill>
                  <a:srgbClr val="566A6B"/>
                </a:solidFill>
                <a:latin typeface="Adobe Gothic Std B" panose="020B0800000000000000" pitchFamily="34" charset="-128"/>
                <a:ea typeface="Adobe Gothic Std B" panose="020B0800000000000000" pitchFamily="34" charset="-128"/>
              </a:rPr>
              <a:t>And </a:t>
            </a:r>
            <a:r>
              <a:rPr lang="en-US" dirty="0">
                <a:solidFill>
                  <a:srgbClr val="566A6B"/>
                </a:solidFill>
                <a:latin typeface="Adobe Gothic Std B" panose="020B0800000000000000" pitchFamily="34" charset="-128"/>
                <a:ea typeface="Adobe Gothic Std B" panose="020B0800000000000000" pitchFamily="34" charset="-128"/>
              </a:rPr>
              <a:t>having a consultation with a doctor </a:t>
            </a:r>
            <a:r>
              <a:rPr lang="en-US" dirty="0" smtClean="0">
                <a:solidFill>
                  <a:srgbClr val="566A6B"/>
                </a:solidFill>
                <a:latin typeface="Adobe Gothic Std B" panose="020B0800000000000000" pitchFamily="34" charset="-128"/>
                <a:ea typeface="Adobe Gothic Std B" panose="020B0800000000000000" pitchFamily="34" charset="-128"/>
              </a:rPr>
              <a:t>gets a lot of complaints like: </a:t>
            </a:r>
          </a:p>
          <a:p>
            <a:pPr lvl="1">
              <a:lnSpc>
                <a:spcPct val="100000"/>
              </a:lnSpc>
            </a:pPr>
            <a:r>
              <a:rPr lang="en-US" dirty="0" smtClean="0">
                <a:solidFill>
                  <a:srgbClr val="566A6B"/>
                </a:solidFill>
                <a:latin typeface="Adobe Gothic Std B" panose="020B0800000000000000" pitchFamily="34" charset="-128"/>
                <a:ea typeface="Adobe Gothic Std B" panose="020B0800000000000000" pitchFamily="34" charset="-128"/>
              </a:rPr>
              <a:t>Long </a:t>
            </a:r>
            <a:r>
              <a:rPr lang="en-US" dirty="0">
                <a:solidFill>
                  <a:srgbClr val="566A6B"/>
                </a:solidFill>
                <a:latin typeface="Adobe Gothic Std B" panose="020B0800000000000000" pitchFamily="34" charset="-128"/>
                <a:ea typeface="Adobe Gothic Std B" panose="020B0800000000000000" pitchFamily="34" charset="-128"/>
              </a:rPr>
              <a:t>queues </a:t>
            </a:r>
          </a:p>
          <a:p>
            <a:pPr lvl="1">
              <a:lnSpc>
                <a:spcPct val="100000"/>
              </a:lnSpc>
            </a:pPr>
            <a:r>
              <a:rPr lang="en-US" dirty="0">
                <a:solidFill>
                  <a:srgbClr val="566A6B"/>
                </a:solidFill>
                <a:latin typeface="Adobe Gothic Std B" panose="020B0800000000000000" pitchFamily="34" charset="-128"/>
                <a:ea typeface="Adobe Gothic Std B" panose="020B0800000000000000" pitchFamily="34" charset="-128"/>
              </a:rPr>
              <a:t>Canceled and rescheduled appointments</a:t>
            </a:r>
          </a:p>
          <a:p>
            <a:pPr lvl="1">
              <a:lnSpc>
                <a:spcPct val="100000"/>
              </a:lnSpc>
            </a:pPr>
            <a:r>
              <a:rPr lang="en-US" dirty="0">
                <a:solidFill>
                  <a:srgbClr val="566A6B"/>
                </a:solidFill>
                <a:latin typeface="Adobe Gothic Std B" panose="020B0800000000000000" pitchFamily="34" charset="-128"/>
                <a:ea typeface="Adobe Gothic Std B" panose="020B0800000000000000" pitchFamily="34" charset="-128"/>
              </a:rPr>
              <a:t>The traditional style of queueing made it a lot worse as it lacks convenience and time management </a:t>
            </a:r>
          </a:p>
          <a:p>
            <a:pPr lvl="1">
              <a:lnSpc>
                <a:spcPct val="100000"/>
              </a:lnSpc>
            </a:pPr>
            <a:r>
              <a:rPr lang="en-US" dirty="0">
                <a:solidFill>
                  <a:srgbClr val="566A6B"/>
                </a:solidFill>
                <a:latin typeface="Adobe Gothic Std B" panose="020B0800000000000000" pitchFamily="34" charset="-128"/>
                <a:ea typeface="Adobe Gothic Std B" panose="020B0800000000000000" pitchFamily="34" charset="-128"/>
              </a:rPr>
              <a:t>Waits for hours without getting notified if it was canceled or not</a:t>
            </a:r>
          </a:p>
          <a:p>
            <a:pPr lvl="1">
              <a:lnSpc>
                <a:spcPct val="100000"/>
              </a:lnSpc>
            </a:pPr>
            <a:r>
              <a:rPr lang="en-US" dirty="0">
                <a:solidFill>
                  <a:srgbClr val="566A6B"/>
                </a:solidFill>
                <a:latin typeface="Adobe Gothic Std B" panose="020B0800000000000000" pitchFamily="34" charset="-128"/>
                <a:ea typeface="Adobe Gothic Std B" panose="020B0800000000000000" pitchFamily="34" charset="-128"/>
              </a:rPr>
              <a:t>Does not know the doctor to approach or in what specialization</a:t>
            </a:r>
          </a:p>
        </p:txBody>
      </p:sp>
      <p:grpSp>
        <p:nvGrpSpPr>
          <p:cNvPr id="7" name="Group 6">
            <a:extLst>
              <a:ext uri="{FF2B5EF4-FFF2-40B4-BE49-F238E27FC236}">
                <a16:creationId xmlns:a16="http://schemas.microsoft.com/office/drawing/2014/main" id="{8D1A272E-DE64-4E30-A4E9-8AD35B3A7EA1}"/>
              </a:ext>
            </a:extLst>
          </p:cNvPr>
          <p:cNvGrpSpPr/>
          <p:nvPr/>
        </p:nvGrpSpPr>
        <p:grpSpPr>
          <a:xfrm rot="16200000">
            <a:off x="-5502019" y="4511278"/>
            <a:ext cx="12192000" cy="1473711"/>
            <a:chOff x="971550" y="237976"/>
            <a:chExt cx="12192000" cy="1214632"/>
          </a:xfrm>
          <a:solidFill>
            <a:srgbClr val="22C7B7"/>
          </a:solidFill>
        </p:grpSpPr>
        <p:sp>
          <p:nvSpPr>
            <p:cNvPr id="10" name="Rectangle 9">
              <a:extLst>
                <a:ext uri="{FF2B5EF4-FFF2-40B4-BE49-F238E27FC236}">
                  <a16:creationId xmlns:a16="http://schemas.microsoft.com/office/drawing/2014/main" id="{5D2BF202-9F55-40C8-9EAC-E4044572E3E5}"/>
                </a:ext>
              </a:extLst>
            </p:cNvPr>
            <p:cNvSpPr/>
            <p:nvPr/>
          </p:nvSpPr>
          <p:spPr>
            <a:xfrm>
              <a:off x="971550" y="237976"/>
              <a:ext cx="12192000" cy="104804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ubtitle 2">
              <a:extLst>
                <a:ext uri="{FF2B5EF4-FFF2-40B4-BE49-F238E27FC236}">
                  <a16:creationId xmlns:a16="http://schemas.microsoft.com/office/drawing/2014/main" id="{A9DFA511-3CF8-496E-9FCA-CBDEF19FB747}"/>
                </a:ext>
              </a:extLst>
            </p:cNvPr>
            <p:cNvSpPr txBox="1">
              <a:spLocks/>
            </p:cNvSpPr>
            <p:nvPr/>
          </p:nvSpPr>
          <p:spPr>
            <a:xfrm>
              <a:off x="1873306" y="978120"/>
              <a:ext cx="9144000" cy="474488"/>
            </a:xfrm>
            <a:prstGeom prst="rect">
              <a:avLst/>
            </a:prstGeom>
            <a:no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b="1" dirty="0">
                  <a:solidFill>
                    <a:schemeClr val="bg1"/>
                  </a:solidFill>
                  <a:latin typeface="Bebas Neue" panose="020B0606020202050201" pitchFamily="34" charset="0"/>
                </a:rPr>
                <a:t>Clinics Appointment Management System</a:t>
              </a:r>
              <a:endParaRPr lang="en-US" dirty="0">
                <a:solidFill>
                  <a:schemeClr val="bg1"/>
                </a:solidFill>
                <a:latin typeface="Bebas Neue" panose="020B0606020202050201" pitchFamily="34" charset="0"/>
              </a:endParaRPr>
            </a:p>
          </p:txBody>
        </p:sp>
      </p:grpSp>
    </p:spTree>
    <p:extLst>
      <p:ext uri="{BB962C8B-B14F-4D97-AF65-F5344CB8AC3E}">
        <p14:creationId xmlns:p14="http://schemas.microsoft.com/office/powerpoint/2010/main" val="16136196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D2BF202-9F55-40C8-9EAC-E4044572E3E5}"/>
              </a:ext>
            </a:extLst>
          </p:cNvPr>
          <p:cNvSpPr/>
          <p:nvPr/>
        </p:nvSpPr>
        <p:spPr>
          <a:xfrm rot="16200000">
            <a:off x="-5400957" y="4412317"/>
            <a:ext cx="12192000" cy="1271589"/>
          </a:xfrm>
          <a:prstGeom prst="rect">
            <a:avLst/>
          </a:prstGeom>
          <a:solidFill>
            <a:srgbClr val="76F6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BAEEA78-CD22-413B-95F1-326FA7457CCD}"/>
              </a:ext>
            </a:extLst>
          </p:cNvPr>
          <p:cNvSpPr>
            <a:spLocks noGrp="1"/>
          </p:cNvSpPr>
          <p:nvPr>
            <p:ph type="title"/>
          </p:nvPr>
        </p:nvSpPr>
        <p:spPr>
          <a:xfrm>
            <a:off x="1330838" y="635596"/>
            <a:ext cx="10515600" cy="1325563"/>
          </a:xfrm>
        </p:spPr>
        <p:txBody>
          <a:bodyPr>
            <a:noAutofit/>
          </a:bodyPr>
          <a:lstStyle/>
          <a:p>
            <a:r>
              <a:rPr lang="en-US" sz="6600" dirty="0">
                <a:solidFill>
                  <a:srgbClr val="566A6A"/>
                </a:solidFill>
                <a:latin typeface="Bebas Neue" panose="020B0606020202050201" pitchFamily="34" charset="0"/>
                <a:ea typeface="Adobe Gothic Std B" panose="020B0800000000000000" pitchFamily="34" charset="-128"/>
                <a:cs typeface="Adobe Arabic" panose="02040503050201020203" pitchFamily="18" charset="-78"/>
              </a:rPr>
              <a:t>rationale</a:t>
            </a:r>
          </a:p>
        </p:txBody>
      </p:sp>
      <p:sp>
        <p:nvSpPr>
          <p:cNvPr id="3" name="Content Placeholder 2">
            <a:extLst>
              <a:ext uri="{FF2B5EF4-FFF2-40B4-BE49-F238E27FC236}">
                <a16:creationId xmlns:a16="http://schemas.microsoft.com/office/drawing/2014/main" id="{3C180F0A-4B45-428F-8BD4-FD0A59405DA9}"/>
              </a:ext>
            </a:extLst>
          </p:cNvPr>
          <p:cNvSpPr>
            <a:spLocks noGrp="1"/>
          </p:cNvSpPr>
          <p:nvPr>
            <p:ph idx="1"/>
          </p:nvPr>
        </p:nvSpPr>
        <p:spPr>
          <a:xfrm>
            <a:off x="1330838" y="2035566"/>
            <a:ext cx="10687052" cy="4722421"/>
          </a:xfrm>
        </p:spPr>
        <p:txBody>
          <a:bodyPr>
            <a:noAutofit/>
          </a:bodyPr>
          <a:lstStyle/>
          <a:p>
            <a:pPr marL="0" indent="0" algn="just">
              <a:lnSpc>
                <a:spcPct val="150000"/>
              </a:lnSpc>
              <a:buNone/>
            </a:pPr>
            <a:r>
              <a:rPr lang="en-US" dirty="0">
                <a:solidFill>
                  <a:srgbClr val="566A6A"/>
                </a:solidFill>
                <a:latin typeface="Adobe Gothic Std B" panose="020B0800000000000000" pitchFamily="34" charset="-128"/>
                <a:ea typeface="Adobe Gothic Std B" panose="020B0800000000000000" pitchFamily="34" charset="-128"/>
              </a:rPr>
              <a:t>To address these issues, </a:t>
            </a:r>
            <a:r>
              <a:rPr lang="en-US" dirty="0">
                <a:solidFill>
                  <a:schemeClr val="tx1">
                    <a:lumMod val="65000"/>
                    <a:lumOff val="35000"/>
                  </a:schemeClr>
                </a:solidFill>
                <a:latin typeface="Adobe Gothic Std B" panose="020B0800000000000000" pitchFamily="34" charset="-128"/>
                <a:ea typeface="Adobe Gothic Std B" panose="020B0800000000000000" pitchFamily="34" charset="-128"/>
              </a:rPr>
              <a:t>the researchers came up with a study that will significantly improve the healthcare services of the clinic in terms of convenience and efficiency in accommodating the patients through their flexible and comfortable time where reservation</a:t>
            </a:r>
            <a:r>
              <a:rPr lang="en-US" dirty="0"/>
              <a:t> </a:t>
            </a:r>
            <a:r>
              <a:rPr lang="en-US" dirty="0">
                <a:solidFill>
                  <a:srgbClr val="595959"/>
                </a:solidFill>
                <a:latin typeface="Adobe Gothic Std B" panose="020B0800000000000000" pitchFamily="34" charset="-128"/>
                <a:ea typeface="Adobe Gothic Std B" panose="020B0800000000000000" pitchFamily="34" charset="-128"/>
              </a:rPr>
              <a:t>of appointment can be done anytime and anywhere.</a:t>
            </a:r>
            <a:r>
              <a:rPr lang="en-US" dirty="0">
                <a:solidFill>
                  <a:srgbClr val="566A6B"/>
                </a:solidFill>
                <a:latin typeface="Adobe Gothic Std B" panose="020B0800000000000000" pitchFamily="34" charset="-128"/>
                <a:ea typeface="Adobe Gothic Std B" panose="020B0800000000000000" pitchFamily="34" charset="-128"/>
              </a:rPr>
              <a:t> </a:t>
            </a:r>
          </a:p>
        </p:txBody>
      </p:sp>
      <p:grpSp>
        <p:nvGrpSpPr>
          <p:cNvPr id="7" name="Group 6">
            <a:extLst>
              <a:ext uri="{FF2B5EF4-FFF2-40B4-BE49-F238E27FC236}">
                <a16:creationId xmlns:a16="http://schemas.microsoft.com/office/drawing/2014/main" id="{8D1A272E-DE64-4E30-A4E9-8AD35B3A7EA1}"/>
              </a:ext>
            </a:extLst>
          </p:cNvPr>
          <p:cNvGrpSpPr/>
          <p:nvPr/>
        </p:nvGrpSpPr>
        <p:grpSpPr>
          <a:xfrm rot="16200000">
            <a:off x="-5502019" y="4511278"/>
            <a:ext cx="12192000" cy="1473711"/>
            <a:chOff x="971550" y="237976"/>
            <a:chExt cx="12192000" cy="1214632"/>
          </a:xfrm>
          <a:solidFill>
            <a:srgbClr val="22C7B7"/>
          </a:solidFill>
        </p:grpSpPr>
        <p:sp>
          <p:nvSpPr>
            <p:cNvPr id="10" name="Rectangle 9">
              <a:extLst>
                <a:ext uri="{FF2B5EF4-FFF2-40B4-BE49-F238E27FC236}">
                  <a16:creationId xmlns:a16="http://schemas.microsoft.com/office/drawing/2014/main" id="{5D2BF202-9F55-40C8-9EAC-E4044572E3E5}"/>
                </a:ext>
              </a:extLst>
            </p:cNvPr>
            <p:cNvSpPr/>
            <p:nvPr/>
          </p:nvSpPr>
          <p:spPr>
            <a:xfrm>
              <a:off x="971550" y="237976"/>
              <a:ext cx="12192000" cy="104804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ubtitle 2">
              <a:extLst>
                <a:ext uri="{FF2B5EF4-FFF2-40B4-BE49-F238E27FC236}">
                  <a16:creationId xmlns:a16="http://schemas.microsoft.com/office/drawing/2014/main" id="{A9DFA511-3CF8-496E-9FCA-CBDEF19FB747}"/>
                </a:ext>
              </a:extLst>
            </p:cNvPr>
            <p:cNvSpPr txBox="1">
              <a:spLocks/>
            </p:cNvSpPr>
            <p:nvPr/>
          </p:nvSpPr>
          <p:spPr>
            <a:xfrm>
              <a:off x="1873306" y="978120"/>
              <a:ext cx="9144000" cy="474488"/>
            </a:xfrm>
            <a:prstGeom prst="rect">
              <a:avLst/>
            </a:prstGeom>
            <a:no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b="1" dirty="0">
                  <a:solidFill>
                    <a:schemeClr val="bg1"/>
                  </a:solidFill>
                  <a:latin typeface="Bebas Neue" panose="020B0606020202050201" pitchFamily="34" charset="0"/>
                </a:rPr>
                <a:t>Clinics Appointment Management System</a:t>
              </a:r>
              <a:endParaRPr lang="en-US" dirty="0">
                <a:solidFill>
                  <a:schemeClr val="bg1"/>
                </a:solidFill>
                <a:latin typeface="Bebas Neue" panose="020B0606020202050201" pitchFamily="34" charset="0"/>
              </a:endParaRPr>
            </a:p>
          </p:txBody>
        </p:sp>
      </p:grpSp>
    </p:spTree>
    <p:extLst>
      <p:ext uri="{BB962C8B-B14F-4D97-AF65-F5344CB8AC3E}">
        <p14:creationId xmlns:p14="http://schemas.microsoft.com/office/powerpoint/2010/main" val="42194976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D2BF202-9F55-40C8-9EAC-E4044572E3E5}"/>
              </a:ext>
            </a:extLst>
          </p:cNvPr>
          <p:cNvSpPr/>
          <p:nvPr/>
        </p:nvSpPr>
        <p:spPr>
          <a:xfrm rot="16200000">
            <a:off x="-5400957" y="4412317"/>
            <a:ext cx="12192000" cy="1271589"/>
          </a:xfrm>
          <a:prstGeom prst="rect">
            <a:avLst/>
          </a:prstGeom>
          <a:solidFill>
            <a:srgbClr val="76F6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BAEEA78-CD22-413B-95F1-326FA7457CCD}"/>
              </a:ext>
            </a:extLst>
          </p:cNvPr>
          <p:cNvSpPr>
            <a:spLocks noGrp="1"/>
          </p:cNvSpPr>
          <p:nvPr>
            <p:ph type="title"/>
          </p:nvPr>
        </p:nvSpPr>
        <p:spPr>
          <a:xfrm>
            <a:off x="1330838" y="635596"/>
            <a:ext cx="10515600" cy="1325563"/>
          </a:xfrm>
        </p:spPr>
        <p:txBody>
          <a:bodyPr>
            <a:noAutofit/>
          </a:bodyPr>
          <a:lstStyle/>
          <a:p>
            <a:r>
              <a:rPr lang="en-US" sz="5400" dirty="0">
                <a:solidFill>
                  <a:srgbClr val="566A6A"/>
                </a:solidFill>
                <a:latin typeface="Bebas Neue" panose="020B0606020202050201" pitchFamily="34" charset="0"/>
                <a:ea typeface="Adobe Gothic Std B" panose="020B0800000000000000" pitchFamily="34" charset="-128"/>
                <a:cs typeface="Adobe Arabic" panose="02040503050201020203" pitchFamily="18" charset="-78"/>
              </a:rPr>
              <a:t>Clinics Appointment Management System</a:t>
            </a:r>
          </a:p>
        </p:txBody>
      </p:sp>
      <p:sp>
        <p:nvSpPr>
          <p:cNvPr id="3" name="Content Placeholder 2">
            <a:extLst>
              <a:ext uri="{FF2B5EF4-FFF2-40B4-BE49-F238E27FC236}">
                <a16:creationId xmlns:a16="http://schemas.microsoft.com/office/drawing/2014/main" id="{3C180F0A-4B45-428F-8BD4-FD0A59405DA9}"/>
              </a:ext>
            </a:extLst>
          </p:cNvPr>
          <p:cNvSpPr>
            <a:spLocks noGrp="1"/>
          </p:cNvSpPr>
          <p:nvPr>
            <p:ph idx="1"/>
          </p:nvPr>
        </p:nvSpPr>
        <p:spPr>
          <a:xfrm>
            <a:off x="1330838" y="2035566"/>
            <a:ext cx="10687052" cy="4722421"/>
          </a:xfrm>
        </p:spPr>
        <p:txBody>
          <a:bodyPr>
            <a:noAutofit/>
          </a:bodyPr>
          <a:lstStyle/>
          <a:p>
            <a:pPr algn="just"/>
            <a:r>
              <a:rPr lang="en-US" dirty="0">
                <a:solidFill>
                  <a:srgbClr val="566A6A"/>
                </a:solidFill>
                <a:latin typeface="Adobe Gothic Std B" panose="020B0800000000000000" pitchFamily="34" charset="-128"/>
                <a:ea typeface="Adobe Gothic Std B" panose="020B0800000000000000" pitchFamily="34" charset="-128"/>
              </a:rPr>
              <a:t>is a web-based application that provides a facility for doctors and patients to arrange or schedule clinic appointments conveniently and with appropriate notifications.</a:t>
            </a:r>
          </a:p>
          <a:p>
            <a:pPr marL="0" indent="0" algn="just">
              <a:buNone/>
            </a:pPr>
            <a:endParaRPr lang="en-US" dirty="0">
              <a:solidFill>
                <a:srgbClr val="566A6A"/>
              </a:solidFill>
              <a:latin typeface="Adobe Gothic Std B" panose="020B0800000000000000" pitchFamily="34" charset="-128"/>
              <a:ea typeface="Adobe Gothic Std B" panose="020B0800000000000000" pitchFamily="34" charset="-128"/>
            </a:endParaRPr>
          </a:p>
          <a:p>
            <a:pPr algn="just"/>
            <a:r>
              <a:rPr lang="en-US" dirty="0">
                <a:solidFill>
                  <a:srgbClr val="566A6B"/>
                </a:solidFill>
                <a:latin typeface="Adobe Gothic Std B" panose="020B0800000000000000" pitchFamily="34" charset="-128"/>
                <a:ea typeface="Adobe Gothic Std B" panose="020B0800000000000000" pitchFamily="34" charset="-128"/>
              </a:rPr>
              <a:t>caters different clinics that are registered in the system and will enable the patients to search a doctor based on his preferences</a:t>
            </a:r>
            <a:r>
              <a:rPr lang="en-US" dirty="0" smtClean="0">
                <a:solidFill>
                  <a:srgbClr val="566A6B"/>
                </a:solidFill>
                <a:latin typeface="Adobe Gothic Std B" panose="020B0800000000000000" pitchFamily="34" charset="-128"/>
                <a:ea typeface="Adobe Gothic Std B" panose="020B0800000000000000" pitchFamily="34" charset="-128"/>
              </a:rPr>
              <a:t>.</a:t>
            </a:r>
          </a:p>
          <a:p>
            <a:pPr algn="just"/>
            <a:endParaRPr lang="en-US" dirty="0">
              <a:solidFill>
                <a:srgbClr val="566A6B"/>
              </a:solidFill>
              <a:latin typeface="Adobe Gothic Std B" panose="020B0800000000000000" pitchFamily="34" charset="-128"/>
              <a:ea typeface="Adobe Gothic Std B" panose="020B0800000000000000" pitchFamily="34" charset="-128"/>
            </a:endParaRPr>
          </a:p>
          <a:p>
            <a:pPr algn="just"/>
            <a:r>
              <a:rPr lang="en-US" dirty="0" smtClean="0">
                <a:solidFill>
                  <a:srgbClr val="566A6B"/>
                </a:solidFill>
                <a:latin typeface="Adobe Gothic Std B" panose="020B0800000000000000" pitchFamily="34" charset="-128"/>
                <a:ea typeface="Adobe Gothic Std B" panose="020B0800000000000000" pitchFamily="34" charset="-128"/>
              </a:rPr>
              <a:t>It will cater different clinics of Holy Name University Medical Center Foundation Inc.</a:t>
            </a:r>
            <a:endParaRPr lang="en-US" dirty="0">
              <a:solidFill>
                <a:srgbClr val="566A6B"/>
              </a:solidFill>
              <a:latin typeface="Adobe Gothic Std B" panose="020B0800000000000000" pitchFamily="34" charset="-128"/>
              <a:ea typeface="Adobe Gothic Std B" panose="020B0800000000000000" pitchFamily="34" charset="-128"/>
            </a:endParaRPr>
          </a:p>
        </p:txBody>
      </p:sp>
      <p:grpSp>
        <p:nvGrpSpPr>
          <p:cNvPr id="7" name="Group 6">
            <a:extLst>
              <a:ext uri="{FF2B5EF4-FFF2-40B4-BE49-F238E27FC236}">
                <a16:creationId xmlns:a16="http://schemas.microsoft.com/office/drawing/2014/main" id="{8D1A272E-DE64-4E30-A4E9-8AD35B3A7EA1}"/>
              </a:ext>
            </a:extLst>
          </p:cNvPr>
          <p:cNvGrpSpPr/>
          <p:nvPr/>
        </p:nvGrpSpPr>
        <p:grpSpPr>
          <a:xfrm rot="16200000">
            <a:off x="-5502019" y="4511278"/>
            <a:ext cx="12192000" cy="1473711"/>
            <a:chOff x="971550" y="237976"/>
            <a:chExt cx="12192000" cy="1214632"/>
          </a:xfrm>
          <a:solidFill>
            <a:srgbClr val="22C7B7"/>
          </a:solidFill>
        </p:grpSpPr>
        <p:sp>
          <p:nvSpPr>
            <p:cNvPr id="10" name="Rectangle 9">
              <a:extLst>
                <a:ext uri="{FF2B5EF4-FFF2-40B4-BE49-F238E27FC236}">
                  <a16:creationId xmlns:a16="http://schemas.microsoft.com/office/drawing/2014/main" id="{5D2BF202-9F55-40C8-9EAC-E4044572E3E5}"/>
                </a:ext>
              </a:extLst>
            </p:cNvPr>
            <p:cNvSpPr/>
            <p:nvPr/>
          </p:nvSpPr>
          <p:spPr>
            <a:xfrm>
              <a:off x="971550" y="237976"/>
              <a:ext cx="12192000" cy="104804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ubtitle 2">
              <a:extLst>
                <a:ext uri="{FF2B5EF4-FFF2-40B4-BE49-F238E27FC236}">
                  <a16:creationId xmlns:a16="http://schemas.microsoft.com/office/drawing/2014/main" id="{A9DFA511-3CF8-496E-9FCA-CBDEF19FB747}"/>
                </a:ext>
              </a:extLst>
            </p:cNvPr>
            <p:cNvSpPr txBox="1">
              <a:spLocks/>
            </p:cNvSpPr>
            <p:nvPr/>
          </p:nvSpPr>
          <p:spPr>
            <a:xfrm>
              <a:off x="1873306" y="978120"/>
              <a:ext cx="9144000" cy="474488"/>
            </a:xfrm>
            <a:prstGeom prst="rect">
              <a:avLst/>
            </a:prstGeom>
            <a:no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b="1" dirty="0">
                  <a:solidFill>
                    <a:schemeClr val="bg1"/>
                  </a:solidFill>
                  <a:latin typeface="Bebas Neue" panose="020B0606020202050201" pitchFamily="34" charset="0"/>
                </a:rPr>
                <a:t>Clinics Appointment Management System</a:t>
              </a:r>
              <a:endParaRPr lang="en-US" dirty="0">
                <a:solidFill>
                  <a:schemeClr val="bg1"/>
                </a:solidFill>
                <a:latin typeface="Bebas Neue" panose="020B0606020202050201" pitchFamily="34" charset="0"/>
              </a:endParaRPr>
            </a:p>
          </p:txBody>
        </p:sp>
      </p:grpSp>
    </p:spTree>
    <p:extLst>
      <p:ext uri="{BB962C8B-B14F-4D97-AF65-F5344CB8AC3E}">
        <p14:creationId xmlns:p14="http://schemas.microsoft.com/office/powerpoint/2010/main" val="30593194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D2BF202-9F55-40C8-9EAC-E4044572E3E5}"/>
              </a:ext>
            </a:extLst>
          </p:cNvPr>
          <p:cNvSpPr/>
          <p:nvPr/>
        </p:nvSpPr>
        <p:spPr>
          <a:xfrm rot="16200000">
            <a:off x="-5400957" y="4412317"/>
            <a:ext cx="12192000" cy="1271589"/>
          </a:xfrm>
          <a:prstGeom prst="rect">
            <a:avLst/>
          </a:prstGeom>
          <a:solidFill>
            <a:srgbClr val="76F6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BAEEA78-CD22-413B-95F1-326FA7457CCD}"/>
              </a:ext>
            </a:extLst>
          </p:cNvPr>
          <p:cNvSpPr>
            <a:spLocks noGrp="1"/>
          </p:cNvSpPr>
          <p:nvPr>
            <p:ph type="title"/>
          </p:nvPr>
        </p:nvSpPr>
        <p:spPr>
          <a:xfrm>
            <a:off x="1328250" y="420630"/>
            <a:ext cx="10515600" cy="1325563"/>
          </a:xfrm>
        </p:spPr>
        <p:txBody>
          <a:bodyPr>
            <a:noAutofit/>
          </a:bodyPr>
          <a:lstStyle/>
          <a:p>
            <a:r>
              <a:rPr lang="en-US" dirty="0">
                <a:solidFill>
                  <a:srgbClr val="566A6A"/>
                </a:solidFill>
                <a:latin typeface="Bebas Neue" panose="020B0606020202050201" pitchFamily="34" charset="0"/>
                <a:ea typeface="Adobe Gothic Std B" panose="020B0800000000000000" pitchFamily="34" charset="-128"/>
                <a:cs typeface="Adobe Arabic" panose="02040503050201020203" pitchFamily="18" charset="-78"/>
              </a:rPr>
              <a:t>HOLY NAME UNIVERSITY MEDICAL Center foundation, INC.</a:t>
            </a:r>
          </a:p>
        </p:txBody>
      </p:sp>
      <p:sp>
        <p:nvSpPr>
          <p:cNvPr id="3" name="Content Placeholder 2">
            <a:extLst>
              <a:ext uri="{FF2B5EF4-FFF2-40B4-BE49-F238E27FC236}">
                <a16:creationId xmlns:a16="http://schemas.microsoft.com/office/drawing/2014/main" id="{3C180F0A-4B45-428F-8BD4-FD0A59405DA9}"/>
              </a:ext>
            </a:extLst>
          </p:cNvPr>
          <p:cNvSpPr>
            <a:spLocks noGrp="1"/>
          </p:cNvSpPr>
          <p:nvPr>
            <p:ph idx="1"/>
          </p:nvPr>
        </p:nvSpPr>
        <p:spPr>
          <a:xfrm>
            <a:off x="1430605" y="1850175"/>
            <a:ext cx="5552539" cy="3197936"/>
          </a:xfrm>
        </p:spPr>
        <p:txBody>
          <a:bodyPr>
            <a:noAutofit/>
          </a:bodyPr>
          <a:lstStyle/>
          <a:p>
            <a:pPr algn="just"/>
            <a:r>
              <a:rPr lang="en-US" sz="2400" dirty="0">
                <a:solidFill>
                  <a:srgbClr val="566A6B"/>
                </a:solidFill>
                <a:latin typeface="Adobe Gothic Std B" panose="020B0800000000000000" pitchFamily="34" charset="-128"/>
                <a:ea typeface="Adobe Gothic Std B" panose="020B0800000000000000" pitchFamily="34" charset="-128"/>
              </a:rPr>
              <a:t>is located inside the premises of HNU's </a:t>
            </a:r>
            <a:r>
              <a:rPr lang="en-US" sz="2400" dirty="0" err="1">
                <a:solidFill>
                  <a:srgbClr val="566A6B"/>
                </a:solidFill>
                <a:latin typeface="Adobe Gothic Std B" panose="020B0800000000000000" pitchFamily="34" charset="-128"/>
                <a:ea typeface="Adobe Gothic Std B" panose="020B0800000000000000" pitchFamily="34" charset="-128"/>
              </a:rPr>
              <a:t>Dampas</a:t>
            </a:r>
            <a:r>
              <a:rPr lang="en-US" sz="2400" dirty="0">
                <a:solidFill>
                  <a:srgbClr val="566A6B"/>
                </a:solidFill>
                <a:latin typeface="Adobe Gothic Std B" panose="020B0800000000000000" pitchFamily="34" charset="-128"/>
                <a:ea typeface="Adobe Gothic Std B" panose="020B0800000000000000" pitchFamily="34" charset="-128"/>
              </a:rPr>
              <a:t> Campus, </a:t>
            </a:r>
            <a:r>
              <a:rPr lang="en-US" sz="2400" dirty="0" err="1">
                <a:solidFill>
                  <a:srgbClr val="566A6B"/>
                </a:solidFill>
                <a:latin typeface="Adobe Gothic Std B" panose="020B0800000000000000" pitchFamily="34" charset="-128"/>
                <a:ea typeface="Adobe Gothic Std B" panose="020B0800000000000000" pitchFamily="34" charset="-128"/>
              </a:rPr>
              <a:t>Tagbilaran</a:t>
            </a:r>
            <a:r>
              <a:rPr lang="en-US" sz="2400" dirty="0">
                <a:solidFill>
                  <a:srgbClr val="566A6B"/>
                </a:solidFill>
                <a:latin typeface="Adobe Gothic Std B" panose="020B0800000000000000" pitchFamily="34" charset="-128"/>
                <a:ea typeface="Adobe Gothic Std B" panose="020B0800000000000000" pitchFamily="34" charset="-128"/>
              </a:rPr>
              <a:t> City Bohol. </a:t>
            </a:r>
          </a:p>
          <a:p>
            <a:pPr algn="just"/>
            <a:r>
              <a:rPr lang="en-US" sz="2400" dirty="0">
                <a:solidFill>
                  <a:srgbClr val="566A6B"/>
                </a:solidFill>
                <a:latin typeface="Adobe Gothic Std B" panose="020B0800000000000000" pitchFamily="34" charset="-128"/>
                <a:ea typeface="Adobe Gothic Std B" panose="020B0800000000000000" pitchFamily="34" charset="-128"/>
              </a:rPr>
              <a:t>Currently run by  CEO Fr. Michael </a:t>
            </a:r>
            <a:r>
              <a:rPr lang="en-US" sz="2400" dirty="0" err="1">
                <a:solidFill>
                  <a:srgbClr val="566A6B"/>
                </a:solidFill>
                <a:latin typeface="Adobe Gothic Std B" panose="020B0800000000000000" pitchFamily="34" charset="-128"/>
                <a:ea typeface="Adobe Gothic Std B" panose="020B0800000000000000" pitchFamily="34" charset="-128"/>
              </a:rPr>
              <a:t>Tangente</a:t>
            </a:r>
            <a:r>
              <a:rPr lang="en-US" sz="2400" dirty="0">
                <a:solidFill>
                  <a:srgbClr val="566A6B"/>
                </a:solidFill>
                <a:latin typeface="Adobe Gothic Std B" panose="020B0800000000000000" pitchFamily="34" charset="-128"/>
                <a:ea typeface="Adobe Gothic Std B" panose="020B0800000000000000" pitchFamily="34" charset="-128"/>
              </a:rPr>
              <a:t>, SVD and the Medical Director, Dr. </a:t>
            </a:r>
            <a:r>
              <a:rPr lang="en-US" sz="2400" dirty="0" err="1">
                <a:solidFill>
                  <a:srgbClr val="566A6B"/>
                </a:solidFill>
                <a:latin typeface="Adobe Gothic Std B" panose="020B0800000000000000" pitchFamily="34" charset="-128"/>
                <a:ea typeface="Adobe Gothic Std B" panose="020B0800000000000000" pitchFamily="34" charset="-128"/>
              </a:rPr>
              <a:t>Angelito</a:t>
            </a:r>
            <a:r>
              <a:rPr lang="en-US" sz="2400" dirty="0">
                <a:solidFill>
                  <a:srgbClr val="566A6B"/>
                </a:solidFill>
                <a:latin typeface="Adobe Gothic Std B" panose="020B0800000000000000" pitchFamily="34" charset="-128"/>
                <a:ea typeface="Adobe Gothic Std B" panose="020B0800000000000000" pitchFamily="34" charset="-128"/>
              </a:rPr>
              <a:t> </a:t>
            </a:r>
            <a:r>
              <a:rPr lang="en-US" sz="2400" dirty="0" err="1">
                <a:solidFill>
                  <a:srgbClr val="566A6B"/>
                </a:solidFill>
                <a:latin typeface="Adobe Gothic Std B" panose="020B0800000000000000" pitchFamily="34" charset="-128"/>
                <a:ea typeface="Adobe Gothic Std B" panose="020B0800000000000000" pitchFamily="34" charset="-128"/>
              </a:rPr>
              <a:t>Lechago</a:t>
            </a:r>
            <a:r>
              <a:rPr lang="en-US" sz="2400" dirty="0">
                <a:solidFill>
                  <a:srgbClr val="566A6B"/>
                </a:solidFill>
                <a:latin typeface="Adobe Gothic Std B" panose="020B0800000000000000" pitchFamily="34" charset="-128"/>
                <a:ea typeface="Adobe Gothic Std B" panose="020B0800000000000000" pitchFamily="34" charset="-128"/>
              </a:rPr>
              <a:t>, MD. </a:t>
            </a:r>
          </a:p>
          <a:p>
            <a:pPr algn="just"/>
            <a:endParaRPr lang="en-US" sz="2000" dirty="0">
              <a:solidFill>
                <a:srgbClr val="566A6B"/>
              </a:solidFill>
              <a:latin typeface="Adobe Gothic Std B" panose="020B0800000000000000" pitchFamily="34" charset="-128"/>
              <a:ea typeface="Adobe Gothic Std B" panose="020B0800000000000000" pitchFamily="34" charset="-128"/>
            </a:endParaRPr>
          </a:p>
        </p:txBody>
      </p:sp>
      <p:grpSp>
        <p:nvGrpSpPr>
          <p:cNvPr id="7" name="Group 6">
            <a:extLst>
              <a:ext uri="{FF2B5EF4-FFF2-40B4-BE49-F238E27FC236}">
                <a16:creationId xmlns:a16="http://schemas.microsoft.com/office/drawing/2014/main" id="{8D1A272E-DE64-4E30-A4E9-8AD35B3A7EA1}"/>
              </a:ext>
            </a:extLst>
          </p:cNvPr>
          <p:cNvGrpSpPr/>
          <p:nvPr/>
        </p:nvGrpSpPr>
        <p:grpSpPr>
          <a:xfrm rot="16200000">
            <a:off x="-5502019" y="4511278"/>
            <a:ext cx="12192000" cy="1473711"/>
            <a:chOff x="971550" y="237976"/>
            <a:chExt cx="12192000" cy="1214632"/>
          </a:xfrm>
          <a:solidFill>
            <a:srgbClr val="22C7B7"/>
          </a:solidFill>
        </p:grpSpPr>
        <p:sp>
          <p:nvSpPr>
            <p:cNvPr id="10" name="Rectangle 9">
              <a:extLst>
                <a:ext uri="{FF2B5EF4-FFF2-40B4-BE49-F238E27FC236}">
                  <a16:creationId xmlns:a16="http://schemas.microsoft.com/office/drawing/2014/main" id="{5D2BF202-9F55-40C8-9EAC-E4044572E3E5}"/>
                </a:ext>
              </a:extLst>
            </p:cNvPr>
            <p:cNvSpPr/>
            <p:nvPr/>
          </p:nvSpPr>
          <p:spPr>
            <a:xfrm>
              <a:off x="971550" y="237976"/>
              <a:ext cx="12192000" cy="104804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ubtitle 2">
              <a:extLst>
                <a:ext uri="{FF2B5EF4-FFF2-40B4-BE49-F238E27FC236}">
                  <a16:creationId xmlns:a16="http://schemas.microsoft.com/office/drawing/2014/main" id="{A9DFA511-3CF8-496E-9FCA-CBDEF19FB747}"/>
                </a:ext>
              </a:extLst>
            </p:cNvPr>
            <p:cNvSpPr txBox="1">
              <a:spLocks/>
            </p:cNvSpPr>
            <p:nvPr/>
          </p:nvSpPr>
          <p:spPr>
            <a:xfrm>
              <a:off x="1873306" y="978120"/>
              <a:ext cx="9144000" cy="474488"/>
            </a:xfrm>
            <a:prstGeom prst="rect">
              <a:avLst/>
            </a:prstGeom>
            <a:no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b="1" dirty="0">
                  <a:solidFill>
                    <a:schemeClr val="bg1"/>
                  </a:solidFill>
                  <a:latin typeface="Bebas Neue" panose="020B0606020202050201" pitchFamily="34" charset="0"/>
                </a:rPr>
                <a:t>Clinics Appointment Management System</a:t>
              </a:r>
              <a:endParaRPr lang="en-US" dirty="0">
                <a:solidFill>
                  <a:schemeClr val="bg1"/>
                </a:solidFill>
                <a:latin typeface="Bebas Neue" panose="020B0606020202050201" pitchFamily="34" charset="0"/>
              </a:endParaRPr>
            </a:p>
          </p:txBody>
        </p:sp>
      </p:gr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27959" y="1850175"/>
            <a:ext cx="4615890" cy="2209461"/>
          </a:xfrm>
          <a:prstGeom prst="rect">
            <a:avLst/>
          </a:prstGeom>
        </p:spPr>
      </p:pic>
      <p:sp>
        <p:nvSpPr>
          <p:cNvPr id="5" name="TextBox 4"/>
          <p:cNvSpPr txBox="1"/>
          <p:nvPr/>
        </p:nvSpPr>
        <p:spPr>
          <a:xfrm>
            <a:off x="1430605" y="3955471"/>
            <a:ext cx="10313477" cy="1846659"/>
          </a:xfrm>
          <a:prstGeom prst="rect">
            <a:avLst/>
          </a:prstGeom>
          <a:noFill/>
        </p:spPr>
        <p:txBody>
          <a:bodyPr wrap="square" rtlCol="0">
            <a:spAutoFit/>
          </a:bodyPr>
          <a:lstStyle/>
          <a:p>
            <a:pPr marL="285750" indent="-285750" algn="just">
              <a:buFont typeface="Arial" panose="020B0604020202020204" pitchFamily="34" charset="0"/>
              <a:buChar char="•"/>
            </a:pPr>
            <a:endParaRPr lang="en-US" sz="2400" dirty="0">
              <a:solidFill>
                <a:srgbClr val="566A6B"/>
              </a:solidFill>
              <a:latin typeface="Adobe Gothic Std B" panose="020B0800000000000000" pitchFamily="34" charset="-128"/>
              <a:ea typeface="Adobe Gothic Std B" panose="020B0800000000000000" pitchFamily="34" charset="-128"/>
            </a:endParaRPr>
          </a:p>
          <a:p>
            <a:pPr marL="285750" indent="-285750" algn="just">
              <a:buFont typeface="Arial" panose="020B0604020202020204" pitchFamily="34" charset="0"/>
              <a:buChar char="•"/>
            </a:pPr>
            <a:r>
              <a:rPr lang="en-US" sz="2400" dirty="0">
                <a:solidFill>
                  <a:srgbClr val="566A6B"/>
                </a:solidFill>
                <a:latin typeface="Adobe Gothic Std B" panose="020B0800000000000000" pitchFamily="34" charset="-128"/>
                <a:ea typeface="Adobe Gothic Std B" panose="020B0800000000000000" pitchFamily="34" charset="-128"/>
              </a:rPr>
              <a:t>Initially opened as a 50-bed, level II hospital with a tertiary level laboratory, but it is geared towards becoming a level III.</a:t>
            </a:r>
          </a:p>
          <a:p>
            <a:pPr marL="285750" indent="-285750" algn="just">
              <a:buFont typeface="Arial" panose="020B0604020202020204" pitchFamily="34" charset="0"/>
              <a:buChar char="•"/>
            </a:pPr>
            <a:r>
              <a:rPr lang="en-US" sz="2400" dirty="0">
                <a:solidFill>
                  <a:srgbClr val="566A6B"/>
                </a:solidFill>
                <a:latin typeface="Adobe Gothic Std B" panose="020B0800000000000000" pitchFamily="34" charset="-128"/>
                <a:ea typeface="Adobe Gothic Std B" panose="020B0800000000000000" pitchFamily="34" charset="-128"/>
              </a:rPr>
              <a:t>Has 18 clinics and 56 doctors</a:t>
            </a:r>
          </a:p>
          <a:p>
            <a:endParaRPr lang="en-US" dirty="0"/>
          </a:p>
        </p:txBody>
      </p:sp>
    </p:spTree>
    <p:extLst>
      <p:ext uri="{BB962C8B-B14F-4D97-AF65-F5344CB8AC3E}">
        <p14:creationId xmlns:p14="http://schemas.microsoft.com/office/powerpoint/2010/main" val="14765529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D2BF202-9F55-40C8-9EAC-E4044572E3E5}"/>
              </a:ext>
            </a:extLst>
          </p:cNvPr>
          <p:cNvSpPr/>
          <p:nvPr/>
        </p:nvSpPr>
        <p:spPr>
          <a:xfrm rot="16200000">
            <a:off x="-5400957" y="4412317"/>
            <a:ext cx="12192000" cy="1271589"/>
          </a:xfrm>
          <a:prstGeom prst="rect">
            <a:avLst/>
          </a:prstGeom>
          <a:solidFill>
            <a:srgbClr val="76F6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BAEEA78-CD22-413B-95F1-326FA7457CCD}"/>
              </a:ext>
            </a:extLst>
          </p:cNvPr>
          <p:cNvSpPr>
            <a:spLocks noGrp="1"/>
          </p:cNvSpPr>
          <p:nvPr>
            <p:ph type="title"/>
          </p:nvPr>
        </p:nvSpPr>
        <p:spPr>
          <a:xfrm>
            <a:off x="1527785" y="257925"/>
            <a:ext cx="10515600" cy="1325563"/>
          </a:xfrm>
        </p:spPr>
        <p:txBody>
          <a:bodyPr>
            <a:noAutofit/>
          </a:bodyPr>
          <a:lstStyle/>
          <a:p>
            <a:r>
              <a:rPr lang="en-US" dirty="0">
                <a:solidFill>
                  <a:srgbClr val="566A6A"/>
                </a:solidFill>
                <a:latin typeface="Bebas Neue" panose="020B0606020202050201" pitchFamily="34" charset="0"/>
                <a:ea typeface="Adobe Gothic Std B" panose="020B0800000000000000" pitchFamily="34" charset="-128"/>
                <a:cs typeface="Adobe Arabic" panose="02040503050201020203" pitchFamily="18" charset="-78"/>
              </a:rPr>
              <a:t>HOLY NAME UNIVERSITY MEDICAL Center foundation, INC.</a:t>
            </a:r>
          </a:p>
        </p:txBody>
      </p:sp>
      <p:grpSp>
        <p:nvGrpSpPr>
          <p:cNvPr id="7" name="Group 6">
            <a:extLst>
              <a:ext uri="{FF2B5EF4-FFF2-40B4-BE49-F238E27FC236}">
                <a16:creationId xmlns:a16="http://schemas.microsoft.com/office/drawing/2014/main" id="{8D1A272E-DE64-4E30-A4E9-8AD35B3A7EA1}"/>
              </a:ext>
            </a:extLst>
          </p:cNvPr>
          <p:cNvGrpSpPr/>
          <p:nvPr/>
        </p:nvGrpSpPr>
        <p:grpSpPr>
          <a:xfrm rot="16200000">
            <a:off x="-5502019" y="4511278"/>
            <a:ext cx="12192000" cy="1473711"/>
            <a:chOff x="971550" y="237976"/>
            <a:chExt cx="12192000" cy="1214632"/>
          </a:xfrm>
          <a:solidFill>
            <a:srgbClr val="22C7B7"/>
          </a:solidFill>
        </p:grpSpPr>
        <p:sp>
          <p:nvSpPr>
            <p:cNvPr id="10" name="Rectangle 9">
              <a:extLst>
                <a:ext uri="{FF2B5EF4-FFF2-40B4-BE49-F238E27FC236}">
                  <a16:creationId xmlns:a16="http://schemas.microsoft.com/office/drawing/2014/main" id="{5D2BF202-9F55-40C8-9EAC-E4044572E3E5}"/>
                </a:ext>
              </a:extLst>
            </p:cNvPr>
            <p:cNvSpPr/>
            <p:nvPr/>
          </p:nvSpPr>
          <p:spPr>
            <a:xfrm>
              <a:off x="971550" y="237976"/>
              <a:ext cx="12192000" cy="104804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ubtitle 2">
              <a:extLst>
                <a:ext uri="{FF2B5EF4-FFF2-40B4-BE49-F238E27FC236}">
                  <a16:creationId xmlns:a16="http://schemas.microsoft.com/office/drawing/2014/main" id="{A9DFA511-3CF8-496E-9FCA-CBDEF19FB747}"/>
                </a:ext>
              </a:extLst>
            </p:cNvPr>
            <p:cNvSpPr txBox="1">
              <a:spLocks/>
            </p:cNvSpPr>
            <p:nvPr/>
          </p:nvSpPr>
          <p:spPr>
            <a:xfrm>
              <a:off x="1873306" y="978120"/>
              <a:ext cx="9144000" cy="474488"/>
            </a:xfrm>
            <a:prstGeom prst="rect">
              <a:avLst/>
            </a:prstGeom>
            <a:no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b="1" dirty="0">
                  <a:solidFill>
                    <a:schemeClr val="bg1"/>
                  </a:solidFill>
                  <a:latin typeface="Bebas Neue" panose="020B0606020202050201" pitchFamily="34" charset="0"/>
                </a:rPr>
                <a:t>Clinics Appointment Management System</a:t>
              </a:r>
              <a:endParaRPr lang="en-US" dirty="0">
                <a:solidFill>
                  <a:schemeClr val="bg1"/>
                </a:solidFill>
                <a:latin typeface="Bebas Neue" panose="020B0606020202050201" pitchFamily="34" charset="0"/>
              </a:endParaRPr>
            </a:p>
          </p:txBody>
        </p:sp>
      </p:gr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27495" y="1440142"/>
            <a:ext cx="4615890" cy="2209461"/>
          </a:xfrm>
          <a:prstGeom prst="rect">
            <a:avLst/>
          </a:prstGeom>
        </p:spPr>
      </p:pic>
      <p:sp>
        <p:nvSpPr>
          <p:cNvPr id="5" name="TextBox 4"/>
          <p:cNvSpPr txBox="1"/>
          <p:nvPr/>
        </p:nvSpPr>
        <p:spPr>
          <a:xfrm>
            <a:off x="1627552" y="920706"/>
            <a:ext cx="10612780" cy="5632311"/>
          </a:xfrm>
          <a:prstGeom prst="rect">
            <a:avLst/>
          </a:prstGeom>
          <a:noFill/>
        </p:spPr>
        <p:txBody>
          <a:bodyPr wrap="square" rtlCol="0">
            <a:spAutoFit/>
          </a:bodyPr>
          <a:lstStyle/>
          <a:p>
            <a:pPr marL="285750" indent="-285750" algn="just">
              <a:buFont typeface="Arial" panose="020B0604020202020204" pitchFamily="34" charset="0"/>
              <a:buChar char="•"/>
            </a:pPr>
            <a:endParaRPr lang="en-US" sz="2400" dirty="0">
              <a:solidFill>
                <a:srgbClr val="566A6B"/>
              </a:solidFill>
              <a:latin typeface="Adobe Gothic Std B" panose="020B0800000000000000" pitchFamily="34" charset="-128"/>
              <a:ea typeface="Adobe Gothic Std B" panose="020B0800000000000000" pitchFamily="34" charset="-128"/>
            </a:endParaRPr>
          </a:p>
          <a:p>
            <a:r>
              <a:rPr lang="en-US" sz="2400" dirty="0" smtClean="0">
                <a:solidFill>
                  <a:srgbClr val="566A6B"/>
                </a:solidFill>
                <a:latin typeface="Adobe Gothic Std B" panose="020B0800000000000000" pitchFamily="34" charset="-128"/>
                <a:ea typeface="Adobe Gothic Std B" panose="020B0800000000000000" pitchFamily="34" charset="-128"/>
              </a:rPr>
              <a:t>Areas </a:t>
            </a:r>
            <a:r>
              <a:rPr lang="en-US" sz="2400" dirty="0">
                <a:solidFill>
                  <a:srgbClr val="566A6B"/>
                </a:solidFill>
                <a:latin typeface="Adobe Gothic Std B" panose="020B0800000000000000" pitchFamily="34" charset="-128"/>
                <a:ea typeface="Adobe Gothic Std B" panose="020B0800000000000000" pitchFamily="34" charset="-128"/>
              </a:rPr>
              <a:t>of specialization include </a:t>
            </a:r>
            <a:endParaRPr lang="en-US" sz="2400" dirty="0" smtClean="0">
              <a:solidFill>
                <a:srgbClr val="566A6B"/>
              </a:solidFill>
              <a:latin typeface="Adobe Gothic Std B" panose="020B0800000000000000" pitchFamily="34" charset="-128"/>
              <a:ea typeface="Adobe Gothic Std B" panose="020B0800000000000000" pitchFamily="34" charset="-128"/>
            </a:endParaRPr>
          </a:p>
          <a:p>
            <a:pPr marL="457200" indent="-457200">
              <a:buFont typeface="+mj-lt"/>
              <a:buAutoNum type="arabicPeriod"/>
            </a:pPr>
            <a:r>
              <a:rPr lang="en-US" sz="2400" dirty="0" smtClean="0">
                <a:solidFill>
                  <a:srgbClr val="566A6B"/>
                </a:solidFill>
                <a:latin typeface="Adobe Gothic Std B" panose="020B0800000000000000" pitchFamily="34" charset="-128"/>
                <a:ea typeface="Adobe Gothic Std B" panose="020B0800000000000000" pitchFamily="34" charset="-128"/>
              </a:rPr>
              <a:t>Anesthesiology</a:t>
            </a:r>
            <a:r>
              <a:rPr lang="en-US" sz="2400" dirty="0">
                <a:solidFill>
                  <a:srgbClr val="566A6B"/>
                </a:solidFill>
                <a:latin typeface="Adobe Gothic Std B" panose="020B0800000000000000" pitchFamily="34" charset="-128"/>
                <a:ea typeface="Adobe Gothic Std B" panose="020B0800000000000000" pitchFamily="34" charset="-128"/>
              </a:rPr>
              <a:t>, </a:t>
            </a:r>
            <a:endParaRPr lang="en-US" sz="2400" dirty="0" smtClean="0">
              <a:solidFill>
                <a:srgbClr val="566A6B"/>
              </a:solidFill>
              <a:latin typeface="Adobe Gothic Std B" panose="020B0800000000000000" pitchFamily="34" charset="-128"/>
              <a:ea typeface="Adobe Gothic Std B" panose="020B0800000000000000" pitchFamily="34" charset="-128"/>
            </a:endParaRPr>
          </a:p>
          <a:p>
            <a:pPr marL="457200" indent="-457200">
              <a:buFont typeface="+mj-lt"/>
              <a:buAutoNum type="arabicPeriod"/>
            </a:pPr>
            <a:r>
              <a:rPr lang="en-US" sz="2400" dirty="0" smtClean="0">
                <a:solidFill>
                  <a:srgbClr val="566A6B"/>
                </a:solidFill>
                <a:latin typeface="Adobe Gothic Std B" panose="020B0800000000000000" pitchFamily="34" charset="-128"/>
                <a:ea typeface="Adobe Gothic Std B" panose="020B0800000000000000" pitchFamily="34" charset="-128"/>
              </a:rPr>
              <a:t>Pediatric</a:t>
            </a:r>
            <a:r>
              <a:rPr lang="en-US" sz="2400" dirty="0">
                <a:solidFill>
                  <a:srgbClr val="566A6B"/>
                </a:solidFill>
                <a:latin typeface="Adobe Gothic Std B" panose="020B0800000000000000" pitchFamily="34" charset="-128"/>
                <a:ea typeface="Adobe Gothic Std B" panose="020B0800000000000000" pitchFamily="34" charset="-128"/>
              </a:rPr>
              <a:t>, </a:t>
            </a:r>
            <a:endParaRPr lang="en-US" sz="2400" dirty="0" smtClean="0">
              <a:solidFill>
                <a:srgbClr val="566A6B"/>
              </a:solidFill>
              <a:latin typeface="Adobe Gothic Std B" panose="020B0800000000000000" pitchFamily="34" charset="-128"/>
              <a:ea typeface="Adobe Gothic Std B" panose="020B0800000000000000" pitchFamily="34" charset="-128"/>
            </a:endParaRPr>
          </a:p>
          <a:p>
            <a:pPr marL="457200" indent="-457200">
              <a:buFont typeface="+mj-lt"/>
              <a:buAutoNum type="arabicPeriod"/>
            </a:pPr>
            <a:r>
              <a:rPr lang="en-US" sz="2400" dirty="0" smtClean="0">
                <a:solidFill>
                  <a:srgbClr val="566A6B"/>
                </a:solidFill>
                <a:latin typeface="Adobe Gothic Std B" panose="020B0800000000000000" pitchFamily="34" charset="-128"/>
                <a:ea typeface="Adobe Gothic Std B" panose="020B0800000000000000" pitchFamily="34" charset="-128"/>
              </a:rPr>
              <a:t>EENT</a:t>
            </a:r>
            <a:r>
              <a:rPr lang="en-US" sz="2400" dirty="0">
                <a:solidFill>
                  <a:srgbClr val="566A6B"/>
                </a:solidFill>
                <a:latin typeface="Adobe Gothic Std B" panose="020B0800000000000000" pitchFamily="34" charset="-128"/>
                <a:ea typeface="Adobe Gothic Std B" panose="020B0800000000000000" pitchFamily="34" charset="-128"/>
              </a:rPr>
              <a:t>, </a:t>
            </a:r>
            <a:endParaRPr lang="en-US" sz="2400" dirty="0" smtClean="0">
              <a:solidFill>
                <a:srgbClr val="566A6B"/>
              </a:solidFill>
              <a:latin typeface="Adobe Gothic Std B" panose="020B0800000000000000" pitchFamily="34" charset="-128"/>
              <a:ea typeface="Adobe Gothic Std B" panose="020B0800000000000000" pitchFamily="34" charset="-128"/>
            </a:endParaRPr>
          </a:p>
          <a:p>
            <a:pPr marL="457200" indent="-457200">
              <a:buFont typeface="+mj-lt"/>
              <a:buAutoNum type="arabicPeriod"/>
            </a:pPr>
            <a:r>
              <a:rPr lang="en-US" sz="2400" dirty="0" smtClean="0">
                <a:solidFill>
                  <a:srgbClr val="566A6B"/>
                </a:solidFill>
                <a:latin typeface="Adobe Gothic Std B" panose="020B0800000000000000" pitchFamily="34" charset="-128"/>
                <a:ea typeface="Adobe Gothic Std B" panose="020B0800000000000000" pitchFamily="34" charset="-128"/>
              </a:rPr>
              <a:t>Family</a:t>
            </a:r>
          </a:p>
          <a:p>
            <a:pPr marL="457200" indent="-457200">
              <a:buFont typeface="+mj-lt"/>
              <a:buAutoNum type="arabicPeriod"/>
            </a:pPr>
            <a:r>
              <a:rPr lang="en-US" sz="2400" dirty="0" smtClean="0">
                <a:solidFill>
                  <a:srgbClr val="566A6B"/>
                </a:solidFill>
                <a:latin typeface="Adobe Gothic Std B" panose="020B0800000000000000" pitchFamily="34" charset="-128"/>
                <a:ea typeface="Adobe Gothic Std B" panose="020B0800000000000000" pitchFamily="34" charset="-128"/>
              </a:rPr>
              <a:t> </a:t>
            </a:r>
            <a:r>
              <a:rPr lang="en-US" sz="2400" dirty="0">
                <a:solidFill>
                  <a:srgbClr val="566A6B"/>
                </a:solidFill>
                <a:latin typeface="Adobe Gothic Std B" panose="020B0800000000000000" pitchFamily="34" charset="-128"/>
                <a:ea typeface="Adobe Gothic Std B" panose="020B0800000000000000" pitchFamily="34" charset="-128"/>
              </a:rPr>
              <a:t>Medicine, </a:t>
            </a:r>
            <a:endParaRPr lang="en-US" sz="2400" dirty="0" smtClean="0">
              <a:solidFill>
                <a:srgbClr val="566A6B"/>
              </a:solidFill>
              <a:latin typeface="Adobe Gothic Std B" panose="020B0800000000000000" pitchFamily="34" charset="-128"/>
              <a:ea typeface="Adobe Gothic Std B" panose="020B0800000000000000" pitchFamily="34" charset="-128"/>
            </a:endParaRPr>
          </a:p>
          <a:p>
            <a:pPr marL="457200" indent="-457200">
              <a:buFont typeface="+mj-lt"/>
              <a:buAutoNum type="arabicPeriod"/>
            </a:pPr>
            <a:r>
              <a:rPr lang="en-US" sz="2400" dirty="0" smtClean="0">
                <a:solidFill>
                  <a:srgbClr val="566A6B"/>
                </a:solidFill>
                <a:latin typeface="Adobe Gothic Std B" panose="020B0800000000000000" pitchFamily="34" charset="-128"/>
                <a:ea typeface="Adobe Gothic Std B" panose="020B0800000000000000" pitchFamily="34" charset="-128"/>
              </a:rPr>
              <a:t>Obstetrics-Gynecology</a:t>
            </a:r>
            <a:r>
              <a:rPr lang="en-US" sz="2400" dirty="0">
                <a:solidFill>
                  <a:srgbClr val="566A6B"/>
                </a:solidFill>
                <a:latin typeface="Adobe Gothic Std B" panose="020B0800000000000000" pitchFamily="34" charset="-128"/>
                <a:ea typeface="Adobe Gothic Std B" panose="020B0800000000000000" pitchFamily="34" charset="-128"/>
              </a:rPr>
              <a:t>, </a:t>
            </a:r>
            <a:endParaRPr lang="en-US" sz="2400" dirty="0" smtClean="0">
              <a:solidFill>
                <a:srgbClr val="566A6B"/>
              </a:solidFill>
              <a:latin typeface="Adobe Gothic Std B" panose="020B0800000000000000" pitchFamily="34" charset="-128"/>
              <a:ea typeface="Adobe Gothic Std B" panose="020B0800000000000000" pitchFamily="34" charset="-128"/>
            </a:endParaRPr>
          </a:p>
          <a:p>
            <a:pPr marL="457200" indent="-457200">
              <a:buFont typeface="+mj-lt"/>
              <a:buAutoNum type="arabicPeriod"/>
            </a:pPr>
            <a:r>
              <a:rPr lang="en-US" sz="2400" dirty="0" smtClean="0">
                <a:solidFill>
                  <a:srgbClr val="566A6B"/>
                </a:solidFill>
                <a:latin typeface="Adobe Gothic Std B" panose="020B0800000000000000" pitchFamily="34" charset="-128"/>
                <a:ea typeface="Adobe Gothic Std B" panose="020B0800000000000000" pitchFamily="34" charset="-128"/>
              </a:rPr>
              <a:t>Rehab </a:t>
            </a:r>
            <a:r>
              <a:rPr lang="en-US" sz="2400" dirty="0">
                <a:solidFill>
                  <a:srgbClr val="566A6B"/>
                </a:solidFill>
                <a:latin typeface="Adobe Gothic Std B" panose="020B0800000000000000" pitchFamily="34" charset="-128"/>
                <a:ea typeface="Adobe Gothic Std B" panose="020B0800000000000000" pitchFamily="34" charset="-128"/>
              </a:rPr>
              <a:t>Medicine, and </a:t>
            </a:r>
            <a:endParaRPr lang="en-US" sz="2400" dirty="0" smtClean="0">
              <a:solidFill>
                <a:srgbClr val="566A6B"/>
              </a:solidFill>
              <a:latin typeface="Adobe Gothic Std B" panose="020B0800000000000000" pitchFamily="34" charset="-128"/>
              <a:ea typeface="Adobe Gothic Std B" panose="020B0800000000000000" pitchFamily="34" charset="-128"/>
            </a:endParaRPr>
          </a:p>
          <a:p>
            <a:pPr marL="457200" indent="-457200">
              <a:buFont typeface="+mj-lt"/>
              <a:buAutoNum type="arabicPeriod"/>
            </a:pPr>
            <a:r>
              <a:rPr lang="en-US" sz="2400" dirty="0" smtClean="0">
                <a:solidFill>
                  <a:srgbClr val="566A6B"/>
                </a:solidFill>
                <a:latin typeface="Adobe Gothic Std B" panose="020B0800000000000000" pitchFamily="34" charset="-128"/>
                <a:ea typeface="Adobe Gothic Std B" panose="020B0800000000000000" pitchFamily="34" charset="-128"/>
              </a:rPr>
              <a:t>Surgery which includes </a:t>
            </a:r>
          </a:p>
          <a:p>
            <a:pPr marL="800100" lvl="1" indent="-342900">
              <a:buFont typeface="Arial" panose="020B0604020202020204" pitchFamily="34" charset="0"/>
              <a:buChar char="•"/>
            </a:pPr>
            <a:r>
              <a:rPr lang="en-US" sz="2400" dirty="0" smtClean="0">
                <a:solidFill>
                  <a:srgbClr val="566A6B"/>
                </a:solidFill>
                <a:latin typeface="Adobe Gothic Std B" panose="020B0800000000000000" pitchFamily="34" charset="-128"/>
                <a:ea typeface="Adobe Gothic Std B" panose="020B0800000000000000" pitchFamily="34" charset="-128"/>
              </a:rPr>
              <a:t>	Orthopedics </a:t>
            </a:r>
            <a:endParaRPr lang="en-US" sz="2400" dirty="0">
              <a:solidFill>
                <a:srgbClr val="566A6B"/>
              </a:solidFill>
              <a:latin typeface="Adobe Gothic Std B" panose="020B0800000000000000" pitchFamily="34" charset="-128"/>
              <a:ea typeface="Adobe Gothic Std B" panose="020B0800000000000000" pitchFamily="34" charset="-128"/>
            </a:endParaRPr>
          </a:p>
          <a:p>
            <a:pPr marL="800100" lvl="1" indent="-342900">
              <a:buFont typeface="Arial" panose="020B0604020202020204" pitchFamily="34" charset="0"/>
              <a:buChar char="•"/>
            </a:pPr>
            <a:r>
              <a:rPr lang="en-US" sz="2400" dirty="0" smtClean="0">
                <a:solidFill>
                  <a:srgbClr val="566A6B"/>
                </a:solidFill>
                <a:latin typeface="Adobe Gothic Std B" panose="020B0800000000000000" pitchFamily="34" charset="-128"/>
                <a:ea typeface="Adobe Gothic Std B" panose="020B0800000000000000" pitchFamily="34" charset="-128"/>
              </a:rPr>
              <a:t>	Neurosurgery</a:t>
            </a:r>
          </a:p>
          <a:p>
            <a:pPr marL="457200" indent="-457200">
              <a:buFont typeface="+mj-lt"/>
              <a:buAutoNum type="arabicPeriod"/>
            </a:pPr>
            <a:r>
              <a:rPr lang="en-US" sz="2400" dirty="0" smtClean="0">
                <a:solidFill>
                  <a:srgbClr val="566A6B"/>
                </a:solidFill>
                <a:latin typeface="Adobe Gothic Std B" panose="020B0800000000000000" pitchFamily="34" charset="-128"/>
                <a:ea typeface="Adobe Gothic Std B" panose="020B0800000000000000" pitchFamily="34" charset="-128"/>
              </a:rPr>
              <a:t>Internal Medicine which includes Rheumatology, Nephrology, Gastroenterology, Cardiology, Endocrinology, </a:t>
            </a:r>
            <a:r>
              <a:rPr lang="en-US" sz="2400" dirty="0" err="1" smtClean="0">
                <a:solidFill>
                  <a:srgbClr val="566A6B"/>
                </a:solidFill>
                <a:latin typeface="Adobe Gothic Std B" panose="020B0800000000000000" pitchFamily="34" charset="-128"/>
                <a:ea typeface="Adobe Gothic Std B" panose="020B0800000000000000" pitchFamily="34" charset="-128"/>
              </a:rPr>
              <a:t>Diabetology</a:t>
            </a:r>
            <a:r>
              <a:rPr lang="en-US" sz="2400" dirty="0" smtClean="0">
                <a:solidFill>
                  <a:srgbClr val="566A6B"/>
                </a:solidFill>
                <a:latin typeface="Adobe Gothic Std B" panose="020B0800000000000000" pitchFamily="34" charset="-128"/>
                <a:ea typeface="Adobe Gothic Std B" panose="020B0800000000000000" pitchFamily="34" charset="-128"/>
              </a:rPr>
              <a:t>, and Neurology</a:t>
            </a:r>
            <a:endParaRPr lang="en-US" dirty="0"/>
          </a:p>
        </p:txBody>
      </p:sp>
    </p:spTree>
    <p:extLst>
      <p:ext uri="{BB962C8B-B14F-4D97-AF65-F5344CB8AC3E}">
        <p14:creationId xmlns:p14="http://schemas.microsoft.com/office/powerpoint/2010/main" val="40292236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D2BF202-9F55-40C8-9EAC-E4044572E3E5}"/>
              </a:ext>
            </a:extLst>
          </p:cNvPr>
          <p:cNvSpPr/>
          <p:nvPr/>
        </p:nvSpPr>
        <p:spPr>
          <a:xfrm rot="16200000">
            <a:off x="-5400957" y="4412317"/>
            <a:ext cx="12192000" cy="1271589"/>
          </a:xfrm>
          <a:prstGeom prst="rect">
            <a:avLst/>
          </a:prstGeom>
          <a:solidFill>
            <a:srgbClr val="76F6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BAEEA78-CD22-413B-95F1-326FA7457CCD}"/>
              </a:ext>
            </a:extLst>
          </p:cNvPr>
          <p:cNvSpPr>
            <a:spLocks noGrp="1"/>
          </p:cNvSpPr>
          <p:nvPr>
            <p:ph type="title"/>
          </p:nvPr>
        </p:nvSpPr>
        <p:spPr>
          <a:xfrm>
            <a:off x="1330838" y="635596"/>
            <a:ext cx="10515600" cy="1325563"/>
          </a:xfrm>
        </p:spPr>
        <p:txBody>
          <a:bodyPr>
            <a:noAutofit/>
          </a:bodyPr>
          <a:lstStyle/>
          <a:p>
            <a:r>
              <a:rPr lang="en-US" sz="6600" dirty="0">
                <a:solidFill>
                  <a:srgbClr val="566A6A"/>
                </a:solidFill>
                <a:latin typeface="Bebas Neue" panose="020B0606020202050201" pitchFamily="34" charset="0"/>
                <a:ea typeface="Adobe Gothic Std B" panose="020B0800000000000000" pitchFamily="34" charset="-128"/>
                <a:cs typeface="Adobe Arabic" panose="02040503050201020203" pitchFamily="18" charset="-78"/>
              </a:rPr>
              <a:t>Objectives of the Study</a:t>
            </a:r>
          </a:p>
        </p:txBody>
      </p:sp>
      <p:sp>
        <p:nvSpPr>
          <p:cNvPr id="3" name="Content Placeholder 2">
            <a:extLst>
              <a:ext uri="{FF2B5EF4-FFF2-40B4-BE49-F238E27FC236}">
                <a16:creationId xmlns:a16="http://schemas.microsoft.com/office/drawing/2014/main" id="{3C180F0A-4B45-428F-8BD4-FD0A59405DA9}"/>
              </a:ext>
            </a:extLst>
          </p:cNvPr>
          <p:cNvSpPr>
            <a:spLocks noGrp="1"/>
          </p:cNvSpPr>
          <p:nvPr>
            <p:ph idx="1"/>
          </p:nvPr>
        </p:nvSpPr>
        <p:spPr>
          <a:xfrm>
            <a:off x="1330838" y="1961159"/>
            <a:ext cx="10687052" cy="4722421"/>
          </a:xfrm>
        </p:spPr>
        <p:txBody>
          <a:bodyPr>
            <a:noAutofit/>
          </a:bodyPr>
          <a:lstStyle/>
          <a:p>
            <a:r>
              <a:rPr lang="en-US" dirty="0">
                <a:solidFill>
                  <a:srgbClr val="566A6B"/>
                </a:solidFill>
                <a:latin typeface="Adobe Gothic Std B" panose="020B0800000000000000" pitchFamily="34" charset="-128"/>
                <a:ea typeface="Adobe Gothic Std B" panose="020B0800000000000000" pitchFamily="34" charset="-128"/>
              </a:rPr>
              <a:t>Specifically the study aims to:</a:t>
            </a:r>
          </a:p>
          <a:p>
            <a:endParaRPr lang="en-US" dirty="0">
              <a:solidFill>
                <a:srgbClr val="566A6B"/>
              </a:solidFill>
              <a:latin typeface="Adobe Gothic Std B" panose="020B0800000000000000" pitchFamily="34" charset="-128"/>
              <a:ea typeface="Adobe Gothic Std B" panose="020B0800000000000000" pitchFamily="34" charset="-128"/>
            </a:endParaRPr>
          </a:p>
          <a:p>
            <a:r>
              <a:rPr lang="en-US" dirty="0">
                <a:solidFill>
                  <a:srgbClr val="566A6B"/>
                </a:solidFill>
                <a:latin typeface="Adobe Gothic Std B" panose="020B0800000000000000" pitchFamily="34" charset="-128"/>
                <a:ea typeface="Adobe Gothic Std B" panose="020B0800000000000000" pitchFamily="34" charset="-128"/>
              </a:rPr>
              <a:t>1.	</a:t>
            </a:r>
            <a:r>
              <a:rPr lang="en-US" dirty="0" smtClean="0">
                <a:solidFill>
                  <a:srgbClr val="566A6B"/>
                </a:solidFill>
                <a:latin typeface="Adobe Gothic Std B" panose="020B0800000000000000" pitchFamily="34" charset="-128"/>
                <a:ea typeface="Adobe Gothic Std B" panose="020B0800000000000000" pitchFamily="34" charset="-128"/>
              </a:rPr>
              <a:t>To </a:t>
            </a:r>
            <a:r>
              <a:rPr lang="en-US" dirty="0">
                <a:solidFill>
                  <a:srgbClr val="566A6B"/>
                </a:solidFill>
                <a:latin typeface="Adobe Gothic Std B" panose="020B0800000000000000" pitchFamily="34" charset="-128"/>
                <a:ea typeface="Adobe Gothic Std B" panose="020B0800000000000000" pitchFamily="34" charset="-128"/>
              </a:rPr>
              <a:t>have a thorough understanding of the different processes and practices in managing </a:t>
            </a:r>
            <a:r>
              <a:rPr lang="en-US" dirty="0" smtClean="0">
                <a:solidFill>
                  <a:srgbClr val="566A6B"/>
                </a:solidFill>
                <a:latin typeface="Adobe Gothic Std B" panose="020B0800000000000000" pitchFamily="34" charset="-128"/>
                <a:ea typeface="Adobe Gothic Std B" panose="020B0800000000000000" pitchFamily="34" charset="-128"/>
              </a:rPr>
              <a:t>doctor’s </a:t>
            </a:r>
            <a:r>
              <a:rPr lang="en-US" dirty="0">
                <a:solidFill>
                  <a:srgbClr val="566A6B"/>
                </a:solidFill>
                <a:latin typeface="Adobe Gothic Std B" panose="020B0800000000000000" pitchFamily="34" charset="-128"/>
                <a:ea typeface="Adobe Gothic Std B" panose="020B0800000000000000" pitchFamily="34" charset="-128"/>
              </a:rPr>
              <a:t>appointments in a hospital clinic</a:t>
            </a:r>
            <a:r>
              <a:rPr lang="en-US" dirty="0" smtClean="0">
                <a:solidFill>
                  <a:srgbClr val="566A6B"/>
                </a:solidFill>
                <a:latin typeface="Adobe Gothic Std B" panose="020B0800000000000000" pitchFamily="34" charset="-128"/>
                <a:ea typeface="Adobe Gothic Std B" panose="020B0800000000000000" pitchFamily="34" charset="-128"/>
              </a:rPr>
              <a:t>;</a:t>
            </a:r>
          </a:p>
          <a:p>
            <a:endParaRPr lang="en-US" dirty="0">
              <a:solidFill>
                <a:srgbClr val="566A6B"/>
              </a:solidFill>
              <a:latin typeface="Adobe Gothic Std B" panose="020B0800000000000000" pitchFamily="34" charset="-128"/>
              <a:ea typeface="Adobe Gothic Std B" panose="020B0800000000000000" pitchFamily="34" charset="-128"/>
            </a:endParaRPr>
          </a:p>
          <a:p>
            <a:r>
              <a:rPr lang="en-US" dirty="0">
                <a:solidFill>
                  <a:srgbClr val="566A6B"/>
                </a:solidFill>
                <a:latin typeface="Adobe Gothic Std B" panose="020B0800000000000000" pitchFamily="34" charset="-128"/>
                <a:ea typeface="Adobe Gothic Std B" panose="020B0800000000000000" pitchFamily="34" charset="-128"/>
              </a:rPr>
              <a:t>2.	</a:t>
            </a:r>
            <a:r>
              <a:rPr lang="en-US" dirty="0" smtClean="0">
                <a:solidFill>
                  <a:srgbClr val="566A6B"/>
                </a:solidFill>
                <a:latin typeface="Adobe Gothic Std B" panose="020B0800000000000000" pitchFamily="34" charset="-128"/>
                <a:ea typeface="Adobe Gothic Std B" panose="020B0800000000000000" pitchFamily="34" charset="-128"/>
              </a:rPr>
              <a:t>To </a:t>
            </a:r>
            <a:r>
              <a:rPr lang="en-US" dirty="0">
                <a:solidFill>
                  <a:srgbClr val="566A6B"/>
                </a:solidFill>
                <a:latin typeface="Adobe Gothic Std B" panose="020B0800000000000000" pitchFamily="34" charset="-128"/>
                <a:ea typeface="Adobe Gothic Std B" panose="020B0800000000000000" pitchFamily="34" charset="-128"/>
              </a:rPr>
              <a:t>identify current processes that need improvements;</a:t>
            </a:r>
          </a:p>
        </p:txBody>
      </p:sp>
      <p:grpSp>
        <p:nvGrpSpPr>
          <p:cNvPr id="7" name="Group 6">
            <a:extLst>
              <a:ext uri="{FF2B5EF4-FFF2-40B4-BE49-F238E27FC236}">
                <a16:creationId xmlns:a16="http://schemas.microsoft.com/office/drawing/2014/main" id="{8D1A272E-DE64-4E30-A4E9-8AD35B3A7EA1}"/>
              </a:ext>
            </a:extLst>
          </p:cNvPr>
          <p:cNvGrpSpPr/>
          <p:nvPr/>
        </p:nvGrpSpPr>
        <p:grpSpPr>
          <a:xfrm rot="16200000">
            <a:off x="-5502019" y="4511278"/>
            <a:ext cx="12192000" cy="1473711"/>
            <a:chOff x="971550" y="237976"/>
            <a:chExt cx="12192000" cy="1214632"/>
          </a:xfrm>
          <a:solidFill>
            <a:srgbClr val="22C7B7"/>
          </a:solidFill>
        </p:grpSpPr>
        <p:sp>
          <p:nvSpPr>
            <p:cNvPr id="10" name="Rectangle 9">
              <a:extLst>
                <a:ext uri="{FF2B5EF4-FFF2-40B4-BE49-F238E27FC236}">
                  <a16:creationId xmlns:a16="http://schemas.microsoft.com/office/drawing/2014/main" id="{5D2BF202-9F55-40C8-9EAC-E4044572E3E5}"/>
                </a:ext>
              </a:extLst>
            </p:cNvPr>
            <p:cNvSpPr/>
            <p:nvPr/>
          </p:nvSpPr>
          <p:spPr>
            <a:xfrm>
              <a:off x="971550" y="237976"/>
              <a:ext cx="12192000" cy="104804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ubtitle 2">
              <a:extLst>
                <a:ext uri="{FF2B5EF4-FFF2-40B4-BE49-F238E27FC236}">
                  <a16:creationId xmlns:a16="http://schemas.microsoft.com/office/drawing/2014/main" id="{A9DFA511-3CF8-496E-9FCA-CBDEF19FB747}"/>
                </a:ext>
              </a:extLst>
            </p:cNvPr>
            <p:cNvSpPr txBox="1">
              <a:spLocks/>
            </p:cNvSpPr>
            <p:nvPr/>
          </p:nvSpPr>
          <p:spPr>
            <a:xfrm>
              <a:off x="1873306" y="978120"/>
              <a:ext cx="9144000" cy="474488"/>
            </a:xfrm>
            <a:prstGeom prst="rect">
              <a:avLst/>
            </a:prstGeom>
            <a:no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b="1" dirty="0">
                  <a:solidFill>
                    <a:schemeClr val="bg1"/>
                  </a:solidFill>
                  <a:latin typeface="Bebas Neue" panose="020B0606020202050201" pitchFamily="34" charset="0"/>
                </a:rPr>
                <a:t>Clinics Appointment Management System</a:t>
              </a:r>
              <a:endParaRPr lang="en-US" dirty="0">
                <a:solidFill>
                  <a:schemeClr val="bg1"/>
                </a:solidFill>
                <a:latin typeface="Bebas Neue" panose="020B0606020202050201" pitchFamily="34" charset="0"/>
              </a:endParaRPr>
            </a:p>
          </p:txBody>
        </p:sp>
      </p:grpSp>
    </p:spTree>
    <p:extLst>
      <p:ext uri="{BB962C8B-B14F-4D97-AF65-F5344CB8AC3E}">
        <p14:creationId xmlns:p14="http://schemas.microsoft.com/office/powerpoint/2010/main" val="17669904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D2BF202-9F55-40C8-9EAC-E4044572E3E5}"/>
              </a:ext>
            </a:extLst>
          </p:cNvPr>
          <p:cNvSpPr/>
          <p:nvPr/>
        </p:nvSpPr>
        <p:spPr>
          <a:xfrm rot="16200000">
            <a:off x="-5400957" y="4412317"/>
            <a:ext cx="12192000" cy="1271589"/>
          </a:xfrm>
          <a:prstGeom prst="rect">
            <a:avLst/>
          </a:prstGeom>
          <a:solidFill>
            <a:srgbClr val="76F6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BAEEA78-CD22-413B-95F1-326FA7457CCD}"/>
              </a:ext>
            </a:extLst>
          </p:cNvPr>
          <p:cNvSpPr>
            <a:spLocks noGrp="1"/>
          </p:cNvSpPr>
          <p:nvPr>
            <p:ph type="title"/>
          </p:nvPr>
        </p:nvSpPr>
        <p:spPr>
          <a:xfrm>
            <a:off x="1330838" y="635596"/>
            <a:ext cx="10515600" cy="1325563"/>
          </a:xfrm>
        </p:spPr>
        <p:txBody>
          <a:bodyPr>
            <a:noAutofit/>
          </a:bodyPr>
          <a:lstStyle/>
          <a:p>
            <a:r>
              <a:rPr lang="en-US" sz="6600" dirty="0">
                <a:solidFill>
                  <a:srgbClr val="566A6A"/>
                </a:solidFill>
                <a:latin typeface="Bebas Neue" panose="020B0606020202050201" pitchFamily="34" charset="0"/>
                <a:ea typeface="Adobe Gothic Std B" panose="020B0800000000000000" pitchFamily="34" charset="-128"/>
                <a:cs typeface="Adobe Arabic" panose="02040503050201020203" pitchFamily="18" charset="-78"/>
              </a:rPr>
              <a:t>Objectives of the Study</a:t>
            </a:r>
          </a:p>
        </p:txBody>
      </p:sp>
      <p:sp>
        <p:nvSpPr>
          <p:cNvPr id="3" name="Content Placeholder 2">
            <a:extLst>
              <a:ext uri="{FF2B5EF4-FFF2-40B4-BE49-F238E27FC236}">
                <a16:creationId xmlns:a16="http://schemas.microsoft.com/office/drawing/2014/main" id="{3C180F0A-4B45-428F-8BD4-FD0A59405DA9}"/>
              </a:ext>
            </a:extLst>
          </p:cNvPr>
          <p:cNvSpPr>
            <a:spLocks noGrp="1"/>
          </p:cNvSpPr>
          <p:nvPr>
            <p:ph idx="1"/>
          </p:nvPr>
        </p:nvSpPr>
        <p:spPr>
          <a:xfrm>
            <a:off x="1330838" y="1961159"/>
            <a:ext cx="10687052" cy="4722421"/>
          </a:xfrm>
        </p:spPr>
        <p:txBody>
          <a:bodyPr>
            <a:noAutofit/>
          </a:bodyPr>
          <a:lstStyle/>
          <a:p>
            <a:r>
              <a:rPr lang="en-US" dirty="0">
                <a:solidFill>
                  <a:srgbClr val="566A6B"/>
                </a:solidFill>
                <a:latin typeface="Adobe Gothic Std B" panose="020B0800000000000000" pitchFamily="34" charset="-128"/>
                <a:ea typeface="Adobe Gothic Std B" panose="020B0800000000000000" pitchFamily="34" charset="-128"/>
              </a:rPr>
              <a:t>3.	To provide a comprehensive solutions to the current problems of the existing systems; </a:t>
            </a:r>
            <a:r>
              <a:rPr lang="en-US" dirty="0" smtClean="0">
                <a:solidFill>
                  <a:srgbClr val="566A6B"/>
                </a:solidFill>
                <a:latin typeface="Adobe Gothic Std B" panose="020B0800000000000000" pitchFamily="34" charset="-128"/>
                <a:ea typeface="Adobe Gothic Std B" panose="020B0800000000000000" pitchFamily="34" charset="-128"/>
              </a:rPr>
              <a:t>and</a:t>
            </a:r>
          </a:p>
          <a:p>
            <a:endParaRPr lang="en-US" dirty="0">
              <a:solidFill>
                <a:srgbClr val="566A6B"/>
              </a:solidFill>
              <a:latin typeface="Adobe Gothic Std B" panose="020B0800000000000000" pitchFamily="34" charset="-128"/>
              <a:ea typeface="Adobe Gothic Std B" panose="020B0800000000000000" pitchFamily="34" charset="-128"/>
            </a:endParaRPr>
          </a:p>
          <a:p>
            <a:r>
              <a:rPr lang="en-US" dirty="0">
                <a:solidFill>
                  <a:srgbClr val="566A6B"/>
                </a:solidFill>
                <a:latin typeface="Adobe Gothic Std B" panose="020B0800000000000000" pitchFamily="34" charset="-128"/>
                <a:ea typeface="Adobe Gothic Std B" panose="020B0800000000000000" pitchFamily="34" charset="-128"/>
              </a:rPr>
              <a:t>4.	To have systematic reports on clinic appointments.</a:t>
            </a:r>
          </a:p>
        </p:txBody>
      </p:sp>
      <p:grpSp>
        <p:nvGrpSpPr>
          <p:cNvPr id="7" name="Group 6">
            <a:extLst>
              <a:ext uri="{FF2B5EF4-FFF2-40B4-BE49-F238E27FC236}">
                <a16:creationId xmlns:a16="http://schemas.microsoft.com/office/drawing/2014/main" id="{8D1A272E-DE64-4E30-A4E9-8AD35B3A7EA1}"/>
              </a:ext>
            </a:extLst>
          </p:cNvPr>
          <p:cNvGrpSpPr/>
          <p:nvPr/>
        </p:nvGrpSpPr>
        <p:grpSpPr>
          <a:xfrm rot="16200000">
            <a:off x="-5502019" y="4511278"/>
            <a:ext cx="12192000" cy="1473711"/>
            <a:chOff x="971550" y="237976"/>
            <a:chExt cx="12192000" cy="1214632"/>
          </a:xfrm>
          <a:solidFill>
            <a:srgbClr val="22C7B7"/>
          </a:solidFill>
        </p:grpSpPr>
        <p:sp>
          <p:nvSpPr>
            <p:cNvPr id="10" name="Rectangle 9">
              <a:extLst>
                <a:ext uri="{FF2B5EF4-FFF2-40B4-BE49-F238E27FC236}">
                  <a16:creationId xmlns:a16="http://schemas.microsoft.com/office/drawing/2014/main" id="{5D2BF202-9F55-40C8-9EAC-E4044572E3E5}"/>
                </a:ext>
              </a:extLst>
            </p:cNvPr>
            <p:cNvSpPr/>
            <p:nvPr/>
          </p:nvSpPr>
          <p:spPr>
            <a:xfrm>
              <a:off x="971550" y="237976"/>
              <a:ext cx="12192000" cy="104804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ubtitle 2">
              <a:extLst>
                <a:ext uri="{FF2B5EF4-FFF2-40B4-BE49-F238E27FC236}">
                  <a16:creationId xmlns:a16="http://schemas.microsoft.com/office/drawing/2014/main" id="{A9DFA511-3CF8-496E-9FCA-CBDEF19FB747}"/>
                </a:ext>
              </a:extLst>
            </p:cNvPr>
            <p:cNvSpPr txBox="1">
              <a:spLocks/>
            </p:cNvSpPr>
            <p:nvPr/>
          </p:nvSpPr>
          <p:spPr>
            <a:xfrm>
              <a:off x="1873306" y="978120"/>
              <a:ext cx="9144000" cy="474488"/>
            </a:xfrm>
            <a:prstGeom prst="rect">
              <a:avLst/>
            </a:prstGeom>
            <a:no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b="1" dirty="0">
                  <a:solidFill>
                    <a:schemeClr val="bg1"/>
                  </a:solidFill>
                  <a:latin typeface="Bebas Neue" panose="020B0606020202050201" pitchFamily="34" charset="0"/>
                </a:rPr>
                <a:t>Clinics Appointment Management System</a:t>
              </a:r>
              <a:endParaRPr lang="en-US" dirty="0">
                <a:solidFill>
                  <a:schemeClr val="bg1"/>
                </a:solidFill>
                <a:latin typeface="Bebas Neue" panose="020B0606020202050201" pitchFamily="34" charset="0"/>
              </a:endParaRPr>
            </a:p>
          </p:txBody>
        </p:sp>
      </p:grpSp>
    </p:spTree>
    <p:extLst>
      <p:ext uri="{BB962C8B-B14F-4D97-AF65-F5344CB8AC3E}">
        <p14:creationId xmlns:p14="http://schemas.microsoft.com/office/powerpoint/2010/main" val="249623692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D2BF202-9F55-40C8-9EAC-E4044572E3E5}"/>
              </a:ext>
            </a:extLst>
          </p:cNvPr>
          <p:cNvSpPr/>
          <p:nvPr/>
        </p:nvSpPr>
        <p:spPr>
          <a:xfrm rot="16200000">
            <a:off x="-5400957" y="4412317"/>
            <a:ext cx="12192000" cy="1271589"/>
          </a:xfrm>
          <a:prstGeom prst="rect">
            <a:avLst/>
          </a:prstGeom>
          <a:solidFill>
            <a:srgbClr val="76F6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BAEEA78-CD22-413B-95F1-326FA7457CCD}"/>
              </a:ext>
            </a:extLst>
          </p:cNvPr>
          <p:cNvSpPr>
            <a:spLocks noGrp="1"/>
          </p:cNvSpPr>
          <p:nvPr>
            <p:ph type="title"/>
          </p:nvPr>
        </p:nvSpPr>
        <p:spPr>
          <a:xfrm>
            <a:off x="1330838" y="342161"/>
            <a:ext cx="10515600" cy="1325563"/>
          </a:xfrm>
        </p:spPr>
        <p:txBody>
          <a:bodyPr>
            <a:noAutofit/>
          </a:bodyPr>
          <a:lstStyle/>
          <a:p>
            <a:r>
              <a:rPr lang="en-US" sz="6600" dirty="0">
                <a:solidFill>
                  <a:srgbClr val="566A6A"/>
                </a:solidFill>
                <a:latin typeface="Bebas Neue" panose="020B0606020202050201" pitchFamily="34" charset="0"/>
                <a:ea typeface="Adobe Gothic Std B" panose="020B0800000000000000" pitchFamily="34" charset="-128"/>
                <a:cs typeface="Adobe Arabic" panose="02040503050201020203" pitchFamily="18" charset="-78"/>
              </a:rPr>
              <a:t>Scope and Limitations of the Study</a:t>
            </a:r>
          </a:p>
        </p:txBody>
      </p:sp>
      <p:sp>
        <p:nvSpPr>
          <p:cNvPr id="3" name="Content Placeholder 2">
            <a:extLst>
              <a:ext uri="{FF2B5EF4-FFF2-40B4-BE49-F238E27FC236}">
                <a16:creationId xmlns:a16="http://schemas.microsoft.com/office/drawing/2014/main" id="{3C180F0A-4B45-428F-8BD4-FD0A59405DA9}"/>
              </a:ext>
            </a:extLst>
          </p:cNvPr>
          <p:cNvSpPr>
            <a:spLocks noGrp="1"/>
          </p:cNvSpPr>
          <p:nvPr>
            <p:ph idx="1"/>
          </p:nvPr>
        </p:nvSpPr>
        <p:spPr>
          <a:xfrm>
            <a:off x="1330838" y="1667724"/>
            <a:ext cx="10687052" cy="4202654"/>
          </a:xfrm>
        </p:spPr>
        <p:txBody>
          <a:bodyPr>
            <a:noAutofit/>
          </a:bodyPr>
          <a:lstStyle/>
          <a:p>
            <a:r>
              <a:rPr lang="en-US" sz="2400" dirty="0" smtClean="0">
                <a:solidFill>
                  <a:srgbClr val="566A6B"/>
                </a:solidFill>
                <a:latin typeface="Adobe Gothic Std B" panose="020B0800000000000000" pitchFamily="34" charset="-128"/>
                <a:ea typeface="Adobe Gothic Std B" panose="020B0800000000000000" pitchFamily="34" charset="-128"/>
              </a:rPr>
              <a:t>Focuses on the study of all clinics in HNU Medical Hospital, </a:t>
            </a:r>
            <a:r>
              <a:rPr lang="en-US" sz="2400" dirty="0" err="1" smtClean="0">
                <a:solidFill>
                  <a:srgbClr val="566A6B"/>
                </a:solidFill>
                <a:latin typeface="Adobe Gothic Std B" panose="020B0800000000000000" pitchFamily="34" charset="-128"/>
                <a:ea typeface="Adobe Gothic Std B" panose="020B0800000000000000" pitchFamily="34" charset="-128"/>
              </a:rPr>
              <a:t>Dampas</a:t>
            </a:r>
            <a:r>
              <a:rPr lang="en-US" sz="2400" dirty="0" smtClean="0">
                <a:solidFill>
                  <a:srgbClr val="566A6B"/>
                </a:solidFill>
                <a:latin typeface="Adobe Gothic Std B" panose="020B0800000000000000" pitchFamily="34" charset="-128"/>
                <a:ea typeface="Adobe Gothic Std B" panose="020B0800000000000000" pitchFamily="34" charset="-128"/>
              </a:rPr>
              <a:t> Dist. </a:t>
            </a:r>
            <a:r>
              <a:rPr lang="en-US" sz="2400" dirty="0" err="1" smtClean="0">
                <a:solidFill>
                  <a:srgbClr val="566A6B"/>
                </a:solidFill>
                <a:latin typeface="Adobe Gothic Std B" panose="020B0800000000000000" pitchFamily="34" charset="-128"/>
                <a:ea typeface="Adobe Gothic Std B" panose="020B0800000000000000" pitchFamily="34" charset="-128"/>
              </a:rPr>
              <a:t>Tagbilaran</a:t>
            </a:r>
            <a:r>
              <a:rPr lang="en-US" sz="2400" dirty="0" smtClean="0">
                <a:solidFill>
                  <a:srgbClr val="566A6B"/>
                </a:solidFill>
                <a:latin typeface="Adobe Gothic Std B" panose="020B0800000000000000" pitchFamily="34" charset="-128"/>
                <a:ea typeface="Adobe Gothic Std B" panose="020B0800000000000000" pitchFamily="34" charset="-128"/>
              </a:rPr>
              <a:t> City</a:t>
            </a:r>
          </a:p>
          <a:p>
            <a:pPr marL="0" indent="0">
              <a:buNone/>
            </a:pPr>
            <a:endParaRPr lang="en-US" sz="2400" dirty="0">
              <a:solidFill>
                <a:srgbClr val="566A6B"/>
              </a:solidFill>
              <a:latin typeface="Adobe Gothic Std B" panose="020B0800000000000000" pitchFamily="34" charset="-128"/>
              <a:ea typeface="Adobe Gothic Std B" panose="020B0800000000000000" pitchFamily="34" charset="-128"/>
            </a:endParaRPr>
          </a:p>
          <a:p>
            <a:r>
              <a:rPr lang="en-US" sz="2400" dirty="0">
                <a:solidFill>
                  <a:srgbClr val="566A6B"/>
                </a:solidFill>
                <a:latin typeface="Adobe Gothic Std B" panose="020B0800000000000000" pitchFamily="34" charset="-128"/>
                <a:ea typeface="Adobe Gothic Std B" panose="020B0800000000000000" pitchFamily="34" charset="-128"/>
              </a:rPr>
              <a:t>focuses mainly on </a:t>
            </a:r>
            <a:r>
              <a:rPr lang="en-US" sz="2400" dirty="0" smtClean="0">
                <a:solidFill>
                  <a:srgbClr val="566A6B"/>
                </a:solidFill>
                <a:latin typeface="Adobe Gothic Std B" panose="020B0800000000000000" pitchFamily="34" charset="-128"/>
                <a:ea typeface="Adobe Gothic Std B" panose="020B0800000000000000" pitchFamily="34" charset="-128"/>
              </a:rPr>
              <a:t>managing user and patient accounts, and appointments</a:t>
            </a:r>
          </a:p>
          <a:p>
            <a:endParaRPr lang="en-US" sz="2400" dirty="0" smtClean="0">
              <a:solidFill>
                <a:srgbClr val="566A6B"/>
              </a:solidFill>
              <a:latin typeface="Adobe Gothic Std B" panose="020B0800000000000000" pitchFamily="34" charset="-128"/>
              <a:ea typeface="Adobe Gothic Std B" panose="020B0800000000000000" pitchFamily="34" charset="-128"/>
            </a:endParaRPr>
          </a:p>
          <a:p>
            <a:r>
              <a:rPr lang="en-US" sz="2400" dirty="0" smtClean="0">
                <a:solidFill>
                  <a:srgbClr val="566A6B"/>
                </a:solidFill>
                <a:latin typeface="Adobe Gothic Std B" panose="020B0800000000000000" pitchFamily="34" charset="-128"/>
                <a:ea typeface="Adobe Gothic Std B" panose="020B0800000000000000" pitchFamily="34" charset="-128"/>
              </a:rPr>
              <a:t>Generate reports on a beginning and ending date</a:t>
            </a:r>
          </a:p>
          <a:p>
            <a:endParaRPr lang="en-US" sz="2400" dirty="0">
              <a:solidFill>
                <a:srgbClr val="566A6B"/>
              </a:solidFill>
              <a:latin typeface="Adobe Gothic Std B" panose="020B0800000000000000" pitchFamily="34" charset="-128"/>
              <a:ea typeface="Adobe Gothic Std B" panose="020B0800000000000000" pitchFamily="34" charset="-128"/>
            </a:endParaRPr>
          </a:p>
          <a:p>
            <a:r>
              <a:rPr lang="en-US" sz="2400" dirty="0">
                <a:solidFill>
                  <a:srgbClr val="566A6B"/>
                </a:solidFill>
                <a:latin typeface="Adobe Gothic Std B" panose="020B0800000000000000" pitchFamily="34" charset="-128"/>
                <a:ea typeface="Adobe Gothic Std B" panose="020B0800000000000000" pitchFamily="34" charset="-128"/>
              </a:rPr>
              <a:t>SMS notification is used for queuing and cancelling of appointments notification</a:t>
            </a:r>
            <a:r>
              <a:rPr lang="en-US" sz="2400" dirty="0" smtClean="0">
                <a:solidFill>
                  <a:srgbClr val="566A6B"/>
                </a:solidFill>
                <a:latin typeface="Adobe Gothic Std B" panose="020B0800000000000000" pitchFamily="34" charset="-128"/>
                <a:ea typeface="Adobe Gothic Std B" panose="020B0800000000000000" pitchFamily="34" charset="-128"/>
              </a:rPr>
              <a:t>.</a:t>
            </a:r>
          </a:p>
          <a:p>
            <a:r>
              <a:rPr lang="en-US" sz="2400" dirty="0">
                <a:solidFill>
                  <a:srgbClr val="566A6B"/>
                </a:solidFill>
                <a:latin typeface="Adobe Gothic Std B" panose="020B0800000000000000" pitchFamily="34" charset="-128"/>
                <a:ea typeface="Adobe Gothic Std B" panose="020B0800000000000000" pitchFamily="34" charset="-128"/>
              </a:rPr>
              <a:t>The study does not include the pre-consultation and the diagnosis of the actual consultation made</a:t>
            </a:r>
          </a:p>
        </p:txBody>
      </p:sp>
      <p:grpSp>
        <p:nvGrpSpPr>
          <p:cNvPr id="7" name="Group 6">
            <a:extLst>
              <a:ext uri="{FF2B5EF4-FFF2-40B4-BE49-F238E27FC236}">
                <a16:creationId xmlns:a16="http://schemas.microsoft.com/office/drawing/2014/main" id="{8D1A272E-DE64-4E30-A4E9-8AD35B3A7EA1}"/>
              </a:ext>
            </a:extLst>
          </p:cNvPr>
          <p:cNvGrpSpPr/>
          <p:nvPr/>
        </p:nvGrpSpPr>
        <p:grpSpPr>
          <a:xfrm rot="16200000">
            <a:off x="-5502019" y="4511278"/>
            <a:ext cx="12192000" cy="1473711"/>
            <a:chOff x="971550" y="237976"/>
            <a:chExt cx="12192000" cy="1214632"/>
          </a:xfrm>
          <a:solidFill>
            <a:srgbClr val="22C7B7"/>
          </a:solidFill>
        </p:grpSpPr>
        <p:sp>
          <p:nvSpPr>
            <p:cNvPr id="10" name="Rectangle 9">
              <a:extLst>
                <a:ext uri="{FF2B5EF4-FFF2-40B4-BE49-F238E27FC236}">
                  <a16:creationId xmlns:a16="http://schemas.microsoft.com/office/drawing/2014/main" id="{5D2BF202-9F55-40C8-9EAC-E4044572E3E5}"/>
                </a:ext>
              </a:extLst>
            </p:cNvPr>
            <p:cNvSpPr/>
            <p:nvPr/>
          </p:nvSpPr>
          <p:spPr>
            <a:xfrm>
              <a:off x="971550" y="237976"/>
              <a:ext cx="12192000" cy="104804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ubtitle 2">
              <a:extLst>
                <a:ext uri="{FF2B5EF4-FFF2-40B4-BE49-F238E27FC236}">
                  <a16:creationId xmlns:a16="http://schemas.microsoft.com/office/drawing/2014/main" id="{A9DFA511-3CF8-496E-9FCA-CBDEF19FB747}"/>
                </a:ext>
              </a:extLst>
            </p:cNvPr>
            <p:cNvSpPr txBox="1">
              <a:spLocks/>
            </p:cNvSpPr>
            <p:nvPr/>
          </p:nvSpPr>
          <p:spPr>
            <a:xfrm>
              <a:off x="1873306" y="978120"/>
              <a:ext cx="9144000" cy="474488"/>
            </a:xfrm>
            <a:prstGeom prst="rect">
              <a:avLst/>
            </a:prstGeom>
            <a:no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b="1" dirty="0">
                  <a:solidFill>
                    <a:schemeClr val="bg1"/>
                  </a:solidFill>
                  <a:latin typeface="Bebas Neue" panose="020B0606020202050201" pitchFamily="34" charset="0"/>
                </a:rPr>
                <a:t>Clinics Appointment Management System</a:t>
              </a:r>
              <a:endParaRPr lang="en-US" dirty="0">
                <a:solidFill>
                  <a:schemeClr val="bg1"/>
                </a:solidFill>
                <a:latin typeface="Bebas Neue" panose="020B0606020202050201" pitchFamily="34" charset="0"/>
              </a:endParaRPr>
            </a:p>
          </p:txBody>
        </p:sp>
      </p:grpSp>
    </p:spTree>
    <p:extLst>
      <p:ext uri="{BB962C8B-B14F-4D97-AF65-F5344CB8AC3E}">
        <p14:creationId xmlns:p14="http://schemas.microsoft.com/office/powerpoint/2010/main" val="7697833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AEEA78-CD22-413B-95F1-326FA7457CCD}"/>
              </a:ext>
            </a:extLst>
          </p:cNvPr>
          <p:cNvSpPr>
            <a:spLocks noGrp="1"/>
          </p:cNvSpPr>
          <p:nvPr>
            <p:ph type="title"/>
          </p:nvPr>
        </p:nvSpPr>
        <p:spPr>
          <a:xfrm>
            <a:off x="876734" y="2716257"/>
            <a:ext cx="10515600" cy="1325563"/>
          </a:xfrm>
        </p:spPr>
        <p:txBody>
          <a:bodyPr>
            <a:noAutofit/>
          </a:bodyPr>
          <a:lstStyle/>
          <a:p>
            <a:pPr algn="ctr"/>
            <a:r>
              <a:rPr lang="en-US" sz="6600" dirty="0">
                <a:solidFill>
                  <a:srgbClr val="566A6B"/>
                </a:solidFill>
                <a:latin typeface="Bebas Neue" panose="020B0606020202050201" pitchFamily="34" charset="0"/>
                <a:ea typeface="Adobe Gothic Std B" panose="020B0800000000000000" pitchFamily="34" charset="-128"/>
                <a:cs typeface="Adobe Arabic" panose="02040503050201020203" pitchFamily="18" charset="-78"/>
              </a:rPr>
              <a:t>CHAPTER 2: </a:t>
            </a:r>
            <a:br>
              <a:rPr lang="en-US" sz="6600" dirty="0">
                <a:solidFill>
                  <a:srgbClr val="566A6B"/>
                </a:solidFill>
                <a:latin typeface="Bebas Neue" panose="020B0606020202050201" pitchFamily="34" charset="0"/>
                <a:ea typeface="Adobe Gothic Std B" panose="020B0800000000000000" pitchFamily="34" charset="-128"/>
                <a:cs typeface="Adobe Arabic" panose="02040503050201020203" pitchFamily="18" charset="-78"/>
              </a:rPr>
            </a:br>
            <a:r>
              <a:rPr lang="en-US" sz="6600" dirty="0">
                <a:solidFill>
                  <a:srgbClr val="566A6B"/>
                </a:solidFill>
                <a:latin typeface="Bebas Neue" panose="020B0606020202050201" pitchFamily="34" charset="0"/>
                <a:ea typeface="Adobe Gothic Std B" panose="020B0800000000000000" pitchFamily="34" charset="-128"/>
                <a:cs typeface="Adobe Arabic" panose="02040503050201020203" pitchFamily="18" charset="-78"/>
              </a:rPr>
              <a:t>TECHNICAL BACKGROUND</a:t>
            </a:r>
          </a:p>
        </p:txBody>
      </p:sp>
      <p:sp>
        <p:nvSpPr>
          <p:cNvPr id="13" name="Rectangle 12">
            <a:extLst>
              <a:ext uri="{FF2B5EF4-FFF2-40B4-BE49-F238E27FC236}">
                <a16:creationId xmlns:a16="http://schemas.microsoft.com/office/drawing/2014/main" id="{5D2BF202-9F55-40C8-9EAC-E4044572E3E5}"/>
              </a:ext>
            </a:extLst>
          </p:cNvPr>
          <p:cNvSpPr/>
          <p:nvPr/>
        </p:nvSpPr>
        <p:spPr>
          <a:xfrm rot="16200000">
            <a:off x="-5400957" y="4412317"/>
            <a:ext cx="12192000" cy="1271589"/>
          </a:xfrm>
          <a:prstGeom prst="rect">
            <a:avLst/>
          </a:prstGeom>
          <a:solidFill>
            <a:srgbClr val="76F6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a:extLst>
              <a:ext uri="{FF2B5EF4-FFF2-40B4-BE49-F238E27FC236}">
                <a16:creationId xmlns:a16="http://schemas.microsoft.com/office/drawing/2014/main" id="{8D1A272E-DE64-4E30-A4E9-8AD35B3A7EA1}"/>
              </a:ext>
            </a:extLst>
          </p:cNvPr>
          <p:cNvGrpSpPr/>
          <p:nvPr/>
        </p:nvGrpSpPr>
        <p:grpSpPr>
          <a:xfrm rot="16200000">
            <a:off x="-5502019" y="4511278"/>
            <a:ext cx="12192000" cy="1473711"/>
            <a:chOff x="971550" y="237976"/>
            <a:chExt cx="12192000" cy="1214632"/>
          </a:xfrm>
          <a:solidFill>
            <a:srgbClr val="22C7B7"/>
          </a:solidFill>
        </p:grpSpPr>
        <p:sp>
          <p:nvSpPr>
            <p:cNvPr id="10" name="Rectangle 9">
              <a:extLst>
                <a:ext uri="{FF2B5EF4-FFF2-40B4-BE49-F238E27FC236}">
                  <a16:creationId xmlns:a16="http://schemas.microsoft.com/office/drawing/2014/main" id="{5D2BF202-9F55-40C8-9EAC-E4044572E3E5}"/>
                </a:ext>
              </a:extLst>
            </p:cNvPr>
            <p:cNvSpPr/>
            <p:nvPr/>
          </p:nvSpPr>
          <p:spPr>
            <a:xfrm>
              <a:off x="971550" y="237976"/>
              <a:ext cx="12192000" cy="104804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ubtitle 2">
              <a:extLst>
                <a:ext uri="{FF2B5EF4-FFF2-40B4-BE49-F238E27FC236}">
                  <a16:creationId xmlns:a16="http://schemas.microsoft.com/office/drawing/2014/main" id="{A9DFA511-3CF8-496E-9FCA-CBDEF19FB747}"/>
                </a:ext>
              </a:extLst>
            </p:cNvPr>
            <p:cNvSpPr txBox="1">
              <a:spLocks/>
            </p:cNvSpPr>
            <p:nvPr/>
          </p:nvSpPr>
          <p:spPr>
            <a:xfrm>
              <a:off x="1873306" y="978120"/>
              <a:ext cx="9144000" cy="474488"/>
            </a:xfrm>
            <a:prstGeom prst="rect">
              <a:avLst/>
            </a:prstGeom>
            <a:no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b="1" dirty="0">
                  <a:solidFill>
                    <a:schemeClr val="bg1"/>
                  </a:solidFill>
                  <a:latin typeface="Bebas Neue" panose="020B0606020202050201" pitchFamily="34" charset="0"/>
                </a:rPr>
                <a:t>Clinics Appointment Management System</a:t>
              </a:r>
              <a:endParaRPr lang="en-US" dirty="0">
                <a:solidFill>
                  <a:schemeClr val="bg1"/>
                </a:solidFill>
                <a:latin typeface="Bebas Neue" panose="020B0606020202050201" pitchFamily="34" charset="0"/>
              </a:endParaRPr>
            </a:p>
          </p:txBody>
        </p:sp>
      </p:grpSp>
      <p:sp>
        <p:nvSpPr>
          <p:cNvPr id="15" name="Rectangle 14"/>
          <p:cNvSpPr/>
          <p:nvPr/>
        </p:nvSpPr>
        <p:spPr>
          <a:xfrm rot="1215374">
            <a:off x="10811951" y="-1004911"/>
            <a:ext cx="2527300" cy="9402115"/>
          </a:xfrm>
          <a:prstGeom prst="rect">
            <a:avLst/>
          </a:prstGeom>
          <a:solidFill>
            <a:srgbClr val="76F6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rot="20333552">
            <a:off x="10811950" y="-1606375"/>
            <a:ext cx="2527300" cy="9402115"/>
          </a:xfrm>
          <a:prstGeom prst="rect">
            <a:avLst/>
          </a:prstGeom>
          <a:solidFill>
            <a:srgbClr val="22C7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22C7B7"/>
              </a:solidFill>
            </a:endParaRPr>
          </a:p>
        </p:txBody>
      </p:sp>
    </p:spTree>
    <p:extLst>
      <p:ext uri="{BB962C8B-B14F-4D97-AF65-F5344CB8AC3E}">
        <p14:creationId xmlns:p14="http://schemas.microsoft.com/office/powerpoint/2010/main" val="288305184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D2BF202-9F55-40C8-9EAC-E4044572E3E5}"/>
              </a:ext>
            </a:extLst>
          </p:cNvPr>
          <p:cNvSpPr/>
          <p:nvPr/>
        </p:nvSpPr>
        <p:spPr>
          <a:xfrm rot="16200000">
            <a:off x="-5400957" y="4412317"/>
            <a:ext cx="12192000" cy="1271589"/>
          </a:xfrm>
          <a:prstGeom prst="rect">
            <a:avLst/>
          </a:prstGeom>
          <a:solidFill>
            <a:srgbClr val="76F6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BAEEA78-CD22-413B-95F1-326FA7457CCD}"/>
              </a:ext>
            </a:extLst>
          </p:cNvPr>
          <p:cNvSpPr>
            <a:spLocks noGrp="1"/>
          </p:cNvSpPr>
          <p:nvPr>
            <p:ph type="title"/>
          </p:nvPr>
        </p:nvSpPr>
        <p:spPr>
          <a:xfrm>
            <a:off x="1330838" y="635596"/>
            <a:ext cx="10515600" cy="1325563"/>
          </a:xfrm>
        </p:spPr>
        <p:txBody>
          <a:bodyPr>
            <a:noAutofit/>
          </a:bodyPr>
          <a:lstStyle/>
          <a:p>
            <a:r>
              <a:rPr lang="en-US" sz="6600" dirty="0">
                <a:solidFill>
                  <a:srgbClr val="566A6A"/>
                </a:solidFill>
                <a:latin typeface="Bebas Neue" panose="020B0606020202050201" pitchFamily="34" charset="0"/>
                <a:ea typeface="Adobe Gothic Std B" panose="020B0800000000000000" pitchFamily="34" charset="-128"/>
                <a:cs typeface="Adobe Arabic" panose="02040503050201020203" pitchFamily="18" charset="-78"/>
              </a:rPr>
              <a:t>Technical Background</a:t>
            </a:r>
          </a:p>
        </p:txBody>
      </p:sp>
      <p:sp>
        <p:nvSpPr>
          <p:cNvPr id="3" name="Content Placeholder 2">
            <a:extLst>
              <a:ext uri="{FF2B5EF4-FFF2-40B4-BE49-F238E27FC236}">
                <a16:creationId xmlns:a16="http://schemas.microsoft.com/office/drawing/2014/main" id="{3C180F0A-4B45-428F-8BD4-FD0A59405DA9}"/>
              </a:ext>
            </a:extLst>
          </p:cNvPr>
          <p:cNvSpPr>
            <a:spLocks noGrp="1"/>
          </p:cNvSpPr>
          <p:nvPr>
            <p:ph idx="1"/>
          </p:nvPr>
        </p:nvSpPr>
        <p:spPr>
          <a:xfrm>
            <a:off x="1330838" y="1961159"/>
            <a:ext cx="10687052" cy="3445030"/>
          </a:xfrm>
        </p:spPr>
        <p:txBody>
          <a:bodyPr>
            <a:noAutofit/>
          </a:bodyPr>
          <a:lstStyle/>
          <a:p>
            <a:r>
              <a:rPr lang="en-US" sz="2400" dirty="0">
                <a:solidFill>
                  <a:srgbClr val="566A6B"/>
                </a:solidFill>
                <a:latin typeface="Adobe Gothic Std B" panose="020B0800000000000000" pitchFamily="34" charset="-128"/>
                <a:ea typeface="Adobe Gothic Std B" panose="020B0800000000000000" pitchFamily="34" charset="-128"/>
              </a:rPr>
              <a:t>The Clinics Appointment Management System is a transaction processing system (TPS) which enables patients, doctors’ secretaries, and doctors themselves to manage clinic appointments. </a:t>
            </a:r>
            <a:endParaRPr lang="en-US" sz="2400" dirty="0" smtClean="0">
              <a:solidFill>
                <a:srgbClr val="566A6B"/>
              </a:solidFill>
              <a:latin typeface="Adobe Gothic Std B" panose="020B0800000000000000" pitchFamily="34" charset="-128"/>
              <a:ea typeface="Adobe Gothic Std B" panose="020B0800000000000000" pitchFamily="34" charset="-128"/>
            </a:endParaRPr>
          </a:p>
          <a:p>
            <a:endParaRPr lang="en-US" sz="2400" dirty="0">
              <a:solidFill>
                <a:srgbClr val="566A6B"/>
              </a:solidFill>
              <a:latin typeface="Adobe Gothic Std B" panose="020B0800000000000000" pitchFamily="34" charset="-128"/>
              <a:ea typeface="Adobe Gothic Std B" panose="020B0800000000000000" pitchFamily="34" charset="-128"/>
            </a:endParaRPr>
          </a:p>
          <a:p>
            <a:r>
              <a:rPr lang="en-US" sz="2400" dirty="0">
                <a:solidFill>
                  <a:srgbClr val="566A6B"/>
                </a:solidFill>
                <a:latin typeface="Adobe Gothic Std B" panose="020B0800000000000000" pitchFamily="34" charset="-128"/>
                <a:ea typeface="Adobe Gothic Std B" panose="020B0800000000000000" pitchFamily="34" charset="-128"/>
              </a:rPr>
              <a:t>It aims to provide a platform for patients, HR department as admin, secretaries and doctors of multiple clinics of the Holy Name University Medical Center Foundation Inc.</a:t>
            </a:r>
          </a:p>
          <a:p>
            <a:endParaRPr lang="en-US" sz="2400" dirty="0">
              <a:solidFill>
                <a:srgbClr val="566A6B"/>
              </a:solidFill>
              <a:latin typeface="Adobe Gothic Std B" panose="020B0800000000000000" pitchFamily="34" charset="-128"/>
              <a:ea typeface="Adobe Gothic Std B" panose="020B0800000000000000" pitchFamily="34" charset="-128"/>
            </a:endParaRPr>
          </a:p>
        </p:txBody>
      </p:sp>
      <p:grpSp>
        <p:nvGrpSpPr>
          <p:cNvPr id="7" name="Group 6">
            <a:extLst>
              <a:ext uri="{FF2B5EF4-FFF2-40B4-BE49-F238E27FC236}">
                <a16:creationId xmlns:a16="http://schemas.microsoft.com/office/drawing/2014/main" id="{8D1A272E-DE64-4E30-A4E9-8AD35B3A7EA1}"/>
              </a:ext>
            </a:extLst>
          </p:cNvPr>
          <p:cNvGrpSpPr/>
          <p:nvPr/>
        </p:nvGrpSpPr>
        <p:grpSpPr>
          <a:xfrm rot="16200000">
            <a:off x="-5502019" y="4511278"/>
            <a:ext cx="12192000" cy="1473711"/>
            <a:chOff x="971550" y="237976"/>
            <a:chExt cx="12192000" cy="1214632"/>
          </a:xfrm>
          <a:solidFill>
            <a:srgbClr val="22C7B7"/>
          </a:solidFill>
        </p:grpSpPr>
        <p:sp>
          <p:nvSpPr>
            <p:cNvPr id="10" name="Rectangle 9">
              <a:extLst>
                <a:ext uri="{FF2B5EF4-FFF2-40B4-BE49-F238E27FC236}">
                  <a16:creationId xmlns:a16="http://schemas.microsoft.com/office/drawing/2014/main" id="{5D2BF202-9F55-40C8-9EAC-E4044572E3E5}"/>
                </a:ext>
              </a:extLst>
            </p:cNvPr>
            <p:cNvSpPr/>
            <p:nvPr/>
          </p:nvSpPr>
          <p:spPr>
            <a:xfrm>
              <a:off x="971550" y="237976"/>
              <a:ext cx="12192000" cy="104804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ubtitle 2">
              <a:extLst>
                <a:ext uri="{FF2B5EF4-FFF2-40B4-BE49-F238E27FC236}">
                  <a16:creationId xmlns:a16="http://schemas.microsoft.com/office/drawing/2014/main" id="{A9DFA511-3CF8-496E-9FCA-CBDEF19FB747}"/>
                </a:ext>
              </a:extLst>
            </p:cNvPr>
            <p:cNvSpPr txBox="1">
              <a:spLocks/>
            </p:cNvSpPr>
            <p:nvPr/>
          </p:nvSpPr>
          <p:spPr>
            <a:xfrm>
              <a:off x="1873306" y="978120"/>
              <a:ext cx="9144000" cy="474488"/>
            </a:xfrm>
            <a:prstGeom prst="rect">
              <a:avLst/>
            </a:prstGeom>
            <a:no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b="1" dirty="0">
                  <a:solidFill>
                    <a:schemeClr val="bg1"/>
                  </a:solidFill>
                  <a:latin typeface="Bebas Neue" panose="020B0606020202050201" pitchFamily="34" charset="0"/>
                </a:rPr>
                <a:t>Clinics Appointment Management System</a:t>
              </a:r>
              <a:endParaRPr lang="en-US" dirty="0">
                <a:solidFill>
                  <a:schemeClr val="bg1"/>
                </a:solidFill>
                <a:latin typeface="Bebas Neue" panose="020B0606020202050201" pitchFamily="34" charset="0"/>
              </a:endParaRPr>
            </a:p>
          </p:txBody>
        </p:sp>
      </p:grpSp>
    </p:spTree>
    <p:extLst>
      <p:ext uri="{BB962C8B-B14F-4D97-AF65-F5344CB8AC3E}">
        <p14:creationId xmlns:p14="http://schemas.microsoft.com/office/powerpoint/2010/main" val="33922455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D2BF202-9F55-40C8-9EAC-E4044572E3E5}"/>
              </a:ext>
            </a:extLst>
          </p:cNvPr>
          <p:cNvSpPr/>
          <p:nvPr/>
        </p:nvSpPr>
        <p:spPr>
          <a:xfrm rot="16200000">
            <a:off x="-5400957" y="4412317"/>
            <a:ext cx="12192000" cy="1271589"/>
          </a:xfrm>
          <a:prstGeom prst="rect">
            <a:avLst/>
          </a:prstGeom>
          <a:solidFill>
            <a:srgbClr val="76F6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BAEEA78-CD22-413B-95F1-326FA7457CCD}"/>
              </a:ext>
            </a:extLst>
          </p:cNvPr>
          <p:cNvSpPr>
            <a:spLocks noGrp="1"/>
          </p:cNvSpPr>
          <p:nvPr>
            <p:ph type="title"/>
          </p:nvPr>
        </p:nvSpPr>
        <p:spPr>
          <a:xfrm>
            <a:off x="1330838" y="635596"/>
            <a:ext cx="10515600" cy="1325563"/>
          </a:xfrm>
        </p:spPr>
        <p:txBody>
          <a:bodyPr>
            <a:noAutofit/>
          </a:bodyPr>
          <a:lstStyle/>
          <a:p>
            <a:r>
              <a:rPr lang="en-US" sz="6600" dirty="0">
                <a:solidFill>
                  <a:srgbClr val="566A6A"/>
                </a:solidFill>
                <a:latin typeface="Bebas Neue" panose="020B0606020202050201" pitchFamily="34" charset="0"/>
                <a:ea typeface="Adobe Gothic Std B" panose="020B0800000000000000" pitchFamily="34" charset="-128"/>
                <a:cs typeface="Adobe Arabic" panose="02040503050201020203" pitchFamily="18" charset="-78"/>
              </a:rPr>
              <a:t>Technical Background</a:t>
            </a:r>
          </a:p>
        </p:txBody>
      </p:sp>
      <p:sp>
        <p:nvSpPr>
          <p:cNvPr id="3" name="Content Placeholder 2">
            <a:extLst>
              <a:ext uri="{FF2B5EF4-FFF2-40B4-BE49-F238E27FC236}">
                <a16:creationId xmlns:a16="http://schemas.microsoft.com/office/drawing/2014/main" id="{3C180F0A-4B45-428F-8BD4-FD0A59405DA9}"/>
              </a:ext>
            </a:extLst>
          </p:cNvPr>
          <p:cNvSpPr>
            <a:spLocks noGrp="1"/>
          </p:cNvSpPr>
          <p:nvPr>
            <p:ph idx="1"/>
          </p:nvPr>
        </p:nvSpPr>
        <p:spPr>
          <a:xfrm>
            <a:off x="1330838" y="1593192"/>
            <a:ext cx="10687052" cy="2486150"/>
          </a:xfrm>
        </p:spPr>
        <p:txBody>
          <a:bodyPr>
            <a:noAutofit/>
          </a:bodyPr>
          <a:lstStyle/>
          <a:p>
            <a:pPr marL="0" indent="0">
              <a:buNone/>
            </a:pPr>
            <a:endParaRPr lang="en-US" sz="2400" dirty="0">
              <a:solidFill>
                <a:srgbClr val="566A6B"/>
              </a:solidFill>
              <a:latin typeface="Adobe Gothic Std B" panose="020B0800000000000000" pitchFamily="34" charset="-128"/>
              <a:ea typeface="Adobe Gothic Std B" panose="020B0800000000000000" pitchFamily="34" charset="-128"/>
            </a:endParaRPr>
          </a:p>
          <a:p>
            <a:r>
              <a:rPr lang="en-US" sz="2400" dirty="0" smtClean="0">
                <a:solidFill>
                  <a:srgbClr val="566A6B"/>
                </a:solidFill>
                <a:latin typeface="Adobe Gothic Std B" panose="020B0800000000000000" pitchFamily="34" charset="-128"/>
                <a:ea typeface="Adobe Gothic Std B" panose="020B0800000000000000" pitchFamily="34" charset="-128"/>
              </a:rPr>
              <a:t>The system also manages:</a:t>
            </a:r>
          </a:p>
          <a:p>
            <a:r>
              <a:rPr lang="en-US" sz="2400" dirty="0" smtClean="0">
                <a:solidFill>
                  <a:srgbClr val="566A6B"/>
                </a:solidFill>
                <a:latin typeface="Adobe Gothic Std B" panose="020B0800000000000000" pitchFamily="34" charset="-128"/>
                <a:ea typeface="Adobe Gothic Std B" panose="020B0800000000000000" pitchFamily="34" charset="-128"/>
              </a:rPr>
              <a:t>(a) patients records, e.g., basic personal and contact information and medical complaints for appointment with the doctor, </a:t>
            </a:r>
          </a:p>
          <a:p>
            <a:r>
              <a:rPr lang="en-US" sz="2400" dirty="0" smtClean="0">
                <a:solidFill>
                  <a:srgbClr val="566A6B"/>
                </a:solidFill>
                <a:latin typeface="Adobe Gothic Std B" panose="020B0800000000000000" pitchFamily="34" charset="-128"/>
                <a:ea typeface="Adobe Gothic Std B" panose="020B0800000000000000" pitchFamily="34" charset="-128"/>
              </a:rPr>
              <a:t>(b) appointment schedules, </a:t>
            </a:r>
          </a:p>
          <a:p>
            <a:r>
              <a:rPr lang="en-US" sz="2400" dirty="0" smtClean="0">
                <a:solidFill>
                  <a:srgbClr val="566A6B"/>
                </a:solidFill>
                <a:latin typeface="Adobe Gothic Std B" panose="020B0800000000000000" pitchFamily="34" charset="-128"/>
                <a:ea typeface="Adobe Gothic Std B" panose="020B0800000000000000" pitchFamily="34" charset="-128"/>
              </a:rPr>
              <a:t>(c) notification of doctors/patients on the current queue through the application, and </a:t>
            </a:r>
          </a:p>
          <a:p>
            <a:r>
              <a:rPr lang="en-US" sz="2400" dirty="0" smtClean="0">
                <a:solidFill>
                  <a:srgbClr val="566A6B"/>
                </a:solidFill>
                <a:latin typeface="Adobe Gothic Std B" panose="020B0800000000000000" pitchFamily="34" charset="-128"/>
                <a:ea typeface="Adobe Gothic Std B" panose="020B0800000000000000" pitchFamily="34" charset="-128"/>
              </a:rPr>
              <a:t>(d) generate reports on completed appointments.</a:t>
            </a:r>
          </a:p>
          <a:p>
            <a:endParaRPr lang="en-US" sz="2400" dirty="0">
              <a:solidFill>
                <a:srgbClr val="566A6B"/>
              </a:solidFill>
              <a:latin typeface="Adobe Gothic Std B" panose="020B0800000000000000" pitchFamily="34" charset="-128"/>
              <a:ea typeface="Adobe Gothic Std B" panose="020B0800000000000000" pitchFamily="34" charset="-128"/>
            </a:endParaRPr>
          </a:p>
        </p:txBody>
      </p:sp>
      <p:grpSp>
        <p:nvGrpSpPr>
          <p:cNvPr id="7" name="Group 6">
            <a:extLst>
              <a:ext uri="{FF2B5EF4-FFF2-40B4-BE49-F238E27FC236}">
                <a16:creationId xmlns:a16="http://schemas.microsoft.com/office/drawing/2014/main" id="{8D1A272E-DE64-4E30-A4E9-8AD35B3A7EA1}"/>
              </a:ext>
            </a:extLst>
          </p:cNvPr>
          <p:cNvGrpSpPr/>
          <p:nvPr/>
        </p:nvGrpSpPr>
        <p:grpSpPr>
          <a:xfrm rot="16200000">
            <a:off x="-5502019" y="4511278"/>
            <a:ext cx="12192000" cy="1473711"/>
            <a:chOff x="971550" y="237976"/>
            <a:chExt cx="12192000" cy="1214632"/>
          </a:xfrm>
          <a:solidFill>
            <a:srgbClr val="22C7B7"/>
          </a:solidFill>
        </p:grpSpPr>
        <p:sp>
          <p:nvSpPr>
            <p:cNvPr id="10" name="Rectangle 9">
              <a:extLst>
                <a:ext uri="{FF2B5EF4-FFF2-40B4-BE49-F238E27FC236}">
                  <a16:creationId xmlns:a16="http://schemas.microsoft.com/office/drawing/2014/main" id="{5D2BF202-9F55-40C8-9EAC-E4044572E3E5}"/>
                </a:ext>
              </a:extLst>
            </p:cNvPr>
            <p:cNvSpPr/>
            <p:nvPr/>
          </p:nvSpPr>
          <p:spPr>
            <a:xfrm>
              <a:off x="971550" y="237976"/>
              <a:ext cx="12192000" cy="104804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ubtitle 2">
              <a:extLst>
                <a:ext uri="{FF2B5EF4-FFF2-40B4-BE49-F238E27FC236}">
                  <a16:creationId xmlns:a16="http://schemas.microsoft.com/office/drawing/2014/main" id="{A9DFA511-3CF8-496E-9FCA-CBDEF19FB747}"/>
                </a:ext>
              </a:extLst>
            </p:cNvPr>
            <p:cNvSpPr txBox="1">
              <a:spLocks/>
            </p:cNvSpPr>
            <p:nvPr/>
          </p:nvSpPr>
          <p:spPr>
            <a:xfrm>
              <a:off x="1873306" y="978120"/>
              <a:ext cx="9144000" cy="474488"/>
            </a:xfrm>
            <a:prstGeom prst="rect">
              <a:avLst/>
            </a:prstGeom>
            <a:no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b="1" dirty="0">
                  <a:solidFill>
                    <a:schemeClr val="bg1"/>
                  </a:solidFill>
                  <a:latin typeface="Bebas Neue" panose="020B0606020202050201" pitchFamily="34" charset="0"/>
                </a:rPr>
                <a:t>Clinics Appointment Management System</a:t>
              </a:r>
              <a:endParaRPr lang="en-US" dirty="0">
                <a:solidFill>
                  <a:schemeClr val="bg1"/>
                </a:solidFill>
                <a:latin typeface="Bebas Neue" panose="020B0606020202050201" pitchFamily="34" charset="0"/>
              </a:endParaRPr>
            </a:p>
          </p:txBody>
        </p:sp>
      </p:grpSp>
    </p:spTree>
    <p:extLst>
      <p:ext uri="{BB962C8B-B14F-4D97-AF65-F5344CB8AC3E}">
        <p14:creationId xmlns:p14="http://schemas.microsoft.com/office/powerpoint/2010/main" val="345398107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Related image"/>
          <p:cNvPicPr/>
          <p:nvPr/>
        </p:nvPicPr>
        <p:blipFill>
          <a:blip r:embed="rId2">
            <a:extLst>
              <a:ext uri="{28A0092B-C50C-407E-A947-70E740481C1C}">
                <a14:useLocalDpi xmlns:a14="http://schemas.microsoft.com/office/drawing/2010/main" val="0"/>
              </a:ext>
            </a:extLst>
          </a:blip>
          <a:srcRect/>
          <a:stretch>
            <a:fillRect/>
          </a:stretch>
        </p:blipFill>
        <p:spPr bwMode="auto">
          <a:xfrm>
            <a:off x="6699905" y="1170126"/>
            <a:ext cx="4476750" cy="3286125"/>
          </a:xfrm>
          <a:prstGeom prst="rect">
            <a:avLst/>
          </a:prstGeom>
          <a:noFill/>
          <a:ln>
            <a:noFill/>
          </a:ln>
        </p:spPr>
      </p:pic>
      <p:sp>
        <p:nvSpPr>
          <p:cNvPr id="13" name="Rectangle 12">
            <a:extLst>
              <a:ext uri="{FF2B5EF4-FFF2-40B4-BE49-F238E27FC236}">
                <a16:creationId xmlns:a16="http://schemas.microsoft.com/office/drawing/2014/main" id="{5D2BF202-9F55-40C8-9EAC-E4044572E3E5}"/>
              </a:ext>
            </a:extLst>
          </p:cNvPr>
          <p:cNvSpPr/>
          <p:nvPr/>
        </p:nvSpPr>
        <p:spPr>
          <a:xfrm rot="16200000">
            <a:off x="-5400957" y="4412317"/>
            <a:ext cx="12192000" cy="1271589"/>
          </a:xfrm>
          <a:prstGeom prst="rect">
            <a:avLst/>
          </a:prstGeom>
          <a:solidFill>
            <a:srgbClr val="76F6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BAEEA78-CD22-413B-95F1-326FA7457CCD}"/>
              </a:ext>
            </a:extLst>
          </p:cNvPr>
          <p:cNvSpPr>
            <a:spLocks noGrp="1"/>
          </p:cNvSpPr>
          <p:nvPr>
            <p:ph type="title"/>
          </p:nvPr>
        </p:nvSpPr>
        <p:spPr>
          <a:xfrm>
            <a:off x="1330838" y="635596"/>
            <a:ext cx="10515600" cy="1325563"/>
          </a:xfrm>
        </p:spPr>
        <p:txBody>
          <a:bodyPr>
            <a:noAutofit/>
          </a:bodyPr>
          <a:lstStyle/>
          <a:p>
            <a:r>
              <a:rPr lang="en-US" sz="6600" dirty="0">
                <a:solidFill>
                  <a:srgbClr val="566A6A"/>
                </a:solidFill>
                <a:latin typeface="Bebas Neue" panose="020B0606020202050201" pitchFamily="34" charset="0"/>
                <a:ea typeface="Adobe Gothic Std B" panose="020B0800000000000000" pitchFamily="34" charset="-128"/>
                <a:cs typeface="Adobe Arabic" panose="02040503050201020203" pitchFamily="18" charset="-78"/>
              </a:rPr>
              <a:t>AGILE METHOD</a:t>
            </a:r>
          </a:p>
        </p:txBody>
      </p:sp>
      <p:grpSp>
        <p:nvGrpSpPr>
          <p:cNvPr id="7" name="Group 6">
            <a:extLst>
              <a:ext uri="{FF2B5EF4-FFF2-40B4-BE49-F238E27FC236}">
                <a16:creationId xmlns:a16="http://schemas.microsoft.com/office/drawing/2014/main" id="{8D1A272E-DE64-4E30-A4E9-8AD35B3A7EA1}"/>
              </a:ext>
            </a:extLst>
          </p:cNvPr>
          <p:cNvGrpSpPr/>
          <p:nvPr/>
        </p:nvGrpSpPr>
        <p:grpSpPr>
          <a:xfrm rot="16200000">
            <a:off x="-5502019" y="4511278"/>
            <a:ext cx="12192000" cy="1473711"/>
            <a:chOff x="971550" y="237976"/>
            <a:chExt cx="12192000" cy="1214632"/>
          </a:xfrm>
          <a:solidFill>
            <a:srgbClr val="22C7B7"/>
          </a:solidFill>
        </p:grpSpPr>
        <p:sp>
          <p:nvSpPr>
            <p:cNvPr id="10" name="Rectangle 9">
              <a:extLst>
                <a:ext uri="{FF2B5EF4-FFF2-40B4-BE49-F238E27FC236}">
                  <a16:creationId xmlns:a16="http://schemas.microsoft.com/office/drawing/2014/main" id="{5D2BF202-9F55-40C8-9EAC-E4044572E3E5}"/>
                </a:ext>
              </a:extLst>
            </p:cNvPr>
            <p:cNvSpPr/>
            <p:nvPr/>
          </p:nvSpPr>
          <p:spPr>
            <a:xfrm>
              <a:off x="971550" y="237976"/>
              <a:ext cx="12192000" cy="104804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ubtitle 2">
              <a:extLst>
                <a:ext uri="{FF2B5EF4-FFF2-40B4-BE49-F238E27FC236}">
                  <a16:creationId xmlns:a16="http://schemas.microsoft.com/office/drawing/2014/main" id="{A9DFA511-3CF8-496E-9FCA-CBDEF19FB747}"/>
                </a:ext>
              </a:extLst>
            </p:cNvPr>
            <p:cNvSpPr txBox="1">
              <a:spLocks/>
            </p:cNvSpPr>
            <p:nvPr/>
          </p:nvSpPr>
          <p:spPr>
            <a:xfrm>
              <a:off x="1873306" y="978120"/>
              <a:ext cx="9144000" cy="474488"/>
            </a:xfrm>
            <a:prstGeom prst="rect">
              <a:avLst/>
            </a:prstGeom>
            <a:no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b="1" dirty="0">
                  <a:solidFill>
                    <a:schemeClr val="bg1"/>
                  </a:solidFill>
                  <a:latin typeface="Bebas Neue" panose="020B0606020202050201" pitchFamily="34" charset="0"/>
                </a:rPr>
                <a:t>Clinics Appointment Management System</a:t>
              </a:r>
              <a:endParaRPr lang="en-US" dirty="0">
                <a:solidFill>
                  <a:schemeClr val="bg1"/>
                </a:solidFill>
                <a:latin typeface="Bebas Neue" panose="020B0606020202050201" pitchFamily="34" charset="0"/>
              </a:endParaRPr>
            </a:p>
          </p:txBody>
        </p:sp>
      </p:grpSp>
      <p:sp>
        <p:nvSpPr>
          <p:cNvPr id="4" name="TextBox 3"/>
          <p:cNvSpPr txBox="1"/>
          <p:nvPr/>
        </p:nvSpPr>
        <p:spPr>
          <a:xfrm>
            <a:off x="1330838" y="1840857"/>
            <a:ext cx="5166944" cy="2862322"/>
          </a:xfrm>
          <a:prstGeom prst="rect">
            <a:avLst/>
          </a:prstGeom>
          <a:noFill/>
        </p:spPr>
        <p:txBody>
          <a:bodyPr wrap="square" rtlCol="0">
            <a:spAutoFit/>
          </a:bodyPr>
          <a:lstStyle/>
          <a:p>
            <a:pPr marL="285750" indent="-285750" algn="just">
              <a:buFont typeface="Arial" panose="020B0604020202020204" pitchFamily="34" charset="0"/>
              <a:buChar char="•"/>
            </a:pPr>
            <a:r>
              <a:rPr lang="en-US" sz="2000" dirty="0">
                <a:solidFill>
                  <a:srgbClr val="566A6A"/>
                </a:solidFill>
                <a:latin typeface="Adobe Gothic Std B" panose="020B0800000000000000" pitchFamily="34" charset="-128"/>
                <a:ea typeface="Adobe Gothic Std B" panose="020B0800000000000000" pitchFamily="34" charset="-128"/>
              </a:rPr>
              <a:t>The agile method anticipates change and allows for much more flexibility than traditional methods.</a:t>
            </a:r>
          </a:p>
          <a:p>
            <a:pPr marL="285750" indent="-285750" algn="just">
              <a:buFont typeface="Arial" panose="020B0604020202020204" pitchFamily="34" charset="0"/>
              <a:buChar char="•"/>
            </a:pPr>
            <a:endParaRPr lang="en-US" sz="2000" dirty="0">
              <a:solidFill>
                <a:srgbClr val="566A6A"/>
              </a:solidFill>
              <a:latin typeface="Adobe Gothic Std B" panose="020B0800000000000000" pitchFamily="34" charset="-128"/>
              <a:ea typeface="Adobe Gothic Std B" panose="020B0800000000000000" pitchFamily="34" charset="-128"/>
            </a:endParaRPr>
          </a:p>
          <a:p>
            <a:pPr marL="285750" indent="-285750" algn="just">
              <a:buFont typeface="Arial" panose="020B0604020202020204" pitchFamily="34" charset="0"/>
              <a:buChar char="•"/>
            </a:pPr>
            <a:r>
              <a:rPr lang="en-US" sz="2000" dirty="0">
                <a:solidFill>
                  <a:srgbClr val="566A6A"/>
                </a:solidFill>
                <a:latin typeface="Adobe Gothic Std B" panose="020B0800000000000000" pitchFamily="34" charset="-128"/>
                <a:ea typeface="Adobe Gothic Std B" panose="020B0800000000000000" pitchFamily="34" charset="-128"/>
              </a:rPr>
              <a:t>The process involves breaking down each project into prioritized requirements, and delivering each individually within an iterative cycle. </a:t>
            </a:r>
          </a:p>
          <a:p>
            <a:pPr marL="285750" indent="-285750">
              <a:buFont typeface="Arial" panose="020B0604020202020204" pitchFamily="34" charset="0"/>
              <a:buChar char="•"/>
            </a:pPr>
            <a:endParaRPr lang="en-US" sz="2000" dirty="0">
              <a:solidFill>
                <a:srgbClr val="566A6A"/>
              </a:solidFill>
              <a:latin typeface="Adobe Gothic Std B" panose="020B0800000000000000" pitchFamily="34" charset="-128"/>
              <a:ea typeface="Adobe Gothic Std B" panose="020B0800000000000000" pitchFamily="34" charset="-128"/>
            </a:endParaRPr>
          </a:p>
        </p:txBody>
      </p:sp>
      <p:sp>
        <p:nvSpPr>
          <p:cNvPr id="5" name="TextBox 4"/>
          <p:cNvSpPr txBox="1"/>
          <p:nvPr/>
        </p:nvSpPr>
        <p:spPr>
          <a:xfrm>
            <a:off x="1330838" y="4663504"/>
            <a:ext cx="10313477" cy="1938992"/>
          </a:xfrm>
          <a:prstGeom prst="rect">
            <a:avLst/>
          </a:prstGeom>
          <a:noFill/>
        </p:spPr>
        <p:txBody>
          <a:bodyPr wrap="square" rtlCol="0">
            <a:spAutoFit/>
          </a:bodyPr>
          <a:lstStyle/>
          <a:p>
            <a:pPr marL="342900" indent="-342900">
              <a:buFont typeface="Arial" panose="020B0604020202020204" pitchFamily="34" charset="0"/>
              <a:buChar char="•"/>
            </a:pPr>
            <a:r>
              <a:rPr lang="en-US" sz="2000" dirty="0">
                <a:solidFill>
                  <a:srgbClr val="566A6A"/>
                </a:solidFill>
                <a:latin typeface="Adobe Gothic Std B" panose="020B0800000000000000" pitchFamily="34" charset="-128"/>
                <a:ea typeface="Adobe Gothic Std B" panose="020B0800000000000000" pitchFamily="34" charset="-128"/>
              </a:rPr>
              <a:t>Each iteration is reviewed and assessed by the development team and client</a:t>
            </a:r>
            <a:r>
              <a:rPr lang="en-US" sz="2000" dirty="0" smtClean="0">
                <a:latin typeface="Adobe Gothic Std B" panose="020B0800000000000000" pitchFamily="34" charset="-128"/>
                <a:ea typeface="Adobe Gothic Std B" panose="020B0800000000000000" pitchFamily="34" charset="-128"/>
              </a:rPr>
              <a:t>.</a:t>
            </a:r>
          </a:p>
          <a:p>
            <a:pPr marL="342900" indent="-342900">
              <a:buFont typeface="Arial" panose="020B0604020202020204" pitchFamily="34" charset="0"/>
              <a:buChar char="•"/>
            </a:pPr>
            <a:endParaRPr lang="en-US" sz="2000" dirty="0">
              <a:latin typeface="Adobe Gothic Std B" panose="020B0800000000000000" pitchFamily="34" charset="-128"/>
              <a:ea typeface="Adobe Gothic Std B" panose="020B0800000000000000" pitchFamily="34" charset="-128"/>
            </a:endParaRPr>
          </a:p>
          <a:p>
            <a:pPr marL="342900" indent="-342900">
              <a:buFont typeface="Arial" panose="020B0604020202020204" pitchFamily="34" charset="0"/>
              <a:buChar char="•"/>
            </a:pPr>
            <a:r>
              <a:rPr lang="en-US" sz="2000" dirty="0">
                <a:solidFill>
                  <a:srgbClr val="566A6A"/>
                </a:solidFill>
                <a:latin typeface="Adobe Gothic Std B" panose="020B0800000000000000" pitchFamily="34" charset="-128"/>
                <a:ea typeface="Adobe Gothic Std B" panose="020B0800000000000000" pitchFamily="34" charset="-128"/>
              </a:rPr>
              <a:t>We adapt this method as we are going to work hand-in-hand with the clients, which are the hospital HR department as the admin, as well as the doctors, secretaries, and patients with regards to the functionalities of the system until the all modules are </a:t>
            </a:r>
            <a:r>
              <a:rPr lang="en-US" sz="2000" dirty="0" smtClean="0">
                <a:solidFill>
                  <a:srgbClr val="566A6A"/>
                </a:solidFill>
                <a:latin typeface="Adobe Gothic Std B" panose="020B0800000000000000" pitchFamily="34" charset="-128"/>
                <a:ea typeface="Adobe Gothic Std B" panose="020B0800000000000000" pitchFamily="34" charset="-128"/>
              </a:rPr>
              <a:t>completed.</a:t>
            </a:r>
            <a:endParaRPr lang="en-US" sz="2000" dirty="0">
              <a:solidFill>
                <a:srgbClr val="566A6A"/>
              </a:solidFill>
              <a:latin typeface="Adobe Gothic Std B" panose="020B0800000000000000" pitchFamily="34" charset="-128"/>
              <a:ea typeface="Adobe Gothic Std B" panose="020B0800000000000000" pitchFamily="34" charset="-128"/>
            </a:endParaRPr>
          </a:p>
        </p:txBody>
      </p:sp>
    </p:spTree>
    <p:extLst>
      <p:ext uri="{BB962C8B-B14F-4D97-AF65-F5344CB8AC3E}">
        <p14:creationId xmlns:p14="http://schemas.microsoft.com/office/powerpoint/2010/main" val="41568538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D2BF202-9F55-40C8-9EAC-E4044572E3E5}"/>
              </a:ext>
            </a:extLst>
          </p:cNvPr>
          <p:cNvSpPr/>
          <p:nvPr/>
        </p:nvSpPr>
        <p:spPr>
          <a:xfrm rot="16200000">
            <a:off x="-5400957" y="4412317"/>
            <a:ext cx="12192000" cy="1271589"/>
          </a:xfrm>
          <a:prstGeom prst="rect">
            <a:avLst/>
          </a:prstGeom>
          <a:solidFill>
            <a:srgbClr val="76F6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BAEEA78-CD22-413B-95F1-326FA7457CCD}"/>
              </a:ext>
            </a:extLst>
          </p:cNvPr>
          <p:cNvSpPr>
            <a:spLocks noGrp="1"/>
          </p:cNvSpPr>
          <p:nvPr>
            <p:ph type="title"/>
          </p:nvPr>
        </p:nvSpPr>
        <p:spPr>
          <a:xfrm>
            <a:off x="1532961" y="523301"/>
            <a:ext cx="10515600" cy="1325563"/>
          </a:xfrm>
        </p:spPr>
        <p:txBody>
          <a:bodyPr>
            <a:noAutofit/>
          </a:bodyPr>
          <a:lstStyle/>
          <a:p>
            <a:r>
              <a:rPr lang="en-US" sz="6600" dirty="0">
                <a:solidFill>
                  <a:srgbClr val="566A6A"/>
                </a:solidFill>
                <a:latin typeface="Bebas Neue" panose="020B0606020202050201" pitchFamily="34" charset="0"/>
                <a:ea typeface="Adobe Gothic Std B" panose="020B0800000000000000" pitchFamily="34" charset="-128"/>
                <a:cs typeface="Adobe Arabic" panose="02040503050201020203" pitchFamily="18" charset="-78"/>
              </a:rPr>
              <a:t>CAPABILITIES</a:t>
            </a:r>
          </a:p>
        </p:txBody>
      </p:sp>
      <p:sp>
        <p:nvSpPr>
          <p:cNvPr id="3" name="Content Placeholder 2">
            <a:extLst>
              <a:ext uri="{FF2B5EF4-FFF2-40B4-BE49-F238E27FC236}">
                <a16:creationId xmlns:a16="http://schemas.microsoft.com/office/drawing/2014/main" id="{3C180F0A-4B45-428F-8BD4-FD0A59405DA9}"/>
              </a:ext>
            </a:extLst>
          </p:cNvPr>
          <p:cNvSpPr>
            <a:spLocks noGrp="1"/>
          </p:cNvSpPr>
          <p:nvPr>
            <p:ph idx="1"/>
          </p:nvPr>
        </p:nvSpPr>
        <p:spPr>
          <a:xfrm>
            <a:off x="1330838" y="1961159"/>
            <a:ext cx="10687052" cy="2486150"/>
          </a:xfrm>
        </p:spPr>
        <p:txBody>
          <a:bodyPr>
            <a:noAutofit/>
          </a:bodyPr>
          <a:lstStyle/>
          <a:p>
            <a:pPr marL="457200" indent="-457200">
              <a:buFont typeface="+mj-lt"/>
              <a:buAutoNum type="arabicPeriod"/>
            </a:pPr>
            <a:r>
              <a:rPr lang="en-US" sz="2400" dirty="0">
                <a:solidFill>
                  <a:srgbClr val="566A6B"/>
                </a:solidFill>
                <a:latin typeface="Adobe Gothic Std B" panose="020B0800000000000000" pitchFamily="34" charset="-128"/>
                <a:ea typeface="Adobe Gothic Std B" panose="020B0800000000000000" pitchFamily="34" charset="-128"/>
              </a:rPr>
              <a:t>The system can manage users, create account types and users.</a:t>
            </a:r>
          </a:p>
          <a:p>
            <a:pPr marL="457200" indent="-457200">
              <a:buFont typeface="+mj-lt"/>
              <a:buAutoNum type="arabicPeriod"/>
            </a:pPr>
            <a:r>
              <a:rPr lang="en-US" sz="2400" dirty="0" smtClean="0">
                <a:solidFill>
                  <a:srgbClr val="566A6B"/>
                </a:solidFill>
                <a:latin typeface="Adobe Gothic Std B" panose="020B0800000000000000" pitchFamily="34" charset="-128"/>
                <a:ea typeface="Adobe Gothic Std B" panose="020B0800000000000000" pitchFamily="34" charset="-128"/>
              </a:rPr>
              <a:t>Manage </a:t>
            </a:r>
            <a:r>
              <a:rPr lang="en-US" sz="2400" dirty="0">
                <a:solidFill>
                  <a:srgbClr val="566A6B"/>
                </a:solidFill>
                <a:latin typeface="Adobe Gothic Std B" panose="020B0800000000000000" pitchFamily="34" charset="-128"/>
                <a:ea typeface="Adobe Gothic Std B" panose="020B0800000000000000" pitchFamily="34" charset="-128"/>
              </a:rPr>
              <a:t>appointment information, manage and displays appointment history and set limit number of appointments per day</a:t>
            </a:r>
            <a:r>
              <a:rPr lang="en-US" sz="2400" dirty="0" smtClean="0">
                <a:solidFill>
                  <a:srgbClr val="566A6B"/>
                </a:solidFill>
                <a:latin typeface="Adobe Gothic Std B" panose="020B0800000000000000" pitchFamily="34" charset="-128"/>
                <a:ea typeface="Adobe Gothic Std B" panose="020B0800000000000000" pitchFamily="34" charset="-128"/>
              </a:rPr>
              <a:t>.</a:t>
            </a:r>
          </a:p>
          <a:p>
            <a:pPr marL="457200" indent="-457200">
              <a:buFont typeface="+mj-lt"/>
              <a:buAutoNum type="arabicPeriod"/>
            </a:pPr>
            <a:r>
              <a:rPr lang="en-US" sz="2400" dirty="0" smtClean="0">
                <a:solidFill>
                  <a:srgbClr val="566A6B"/>
                </a:solidFill>
                <a:latin typeface="Adobe Gothic Std B" panose="020B0800000000000000" pitchFamily="34" charset="-128"/>
                <a:ea typeface="Adobe Gothic Std B" panose="020B0800000000000000" pitchFamily="34" charset="-128"/>
              </a:rPr>
              <a:t>Serve </a:t>
            </a:r>
            <a:r>
              <a:rPr lang="en-US" sz="2400" dirty="0">
                <a:solidFill>
                  <a:srgbClr val="566A6B"/>
                </a:solidFill>
                <a:latin typeface="Adobe Gothic Std B" panose="020B0800000000000000" pitchFamily="34" charset="-128"/>
                <a:ea typeface="Adobe Gothic Std B" panose="020B0800000000000000" pitchFamily="34" charset="-128"/>
              </a:rPr>
              <a:t>as a search engine for doctors according to its specialization</a:t>
            </a:r>
            <a:r>
              <a:rPr lang="en-US" sz="2400" dirty="0" smtClean="0">
                <a:solidFill>
                  <a:srgbClr val="566A6B"/>
                </a:solidFill>
                <a:latin typeface="Adobe Gothic Std B" panose="020B0800000000000000" pitchFamily="34" charset="-128"/>
                <a:ea typeface="Adobe Gothic Std B" panose="020B0800000000000000" pitchFamily="34" charset="-128"/>
              </a:rPr>
              <a:t>.</a:t>
            </a:r>
          </a:p>
          <a:p>
            <a:pPr marL="457200" indent="-457200">
              <a:buFont typeface="+mj-lt"/>
              <a:buAutoNum type="arabicPeriod"/>
            </a:pPr>
            <a:r>
              <a:rPr lang="en-US" sz="2400" dirty="0" smtClean="0">
                <a:solidFill>
                  <a:srgbClr val="566A6B"/>
                </a:solidFill>
                <a:latin typeface="Adobe Gothic Std B" panose="020B0800000000000000" pitchFamily="34" charset="-128"/>
                <a:ea typeface="Adobe Gothic Std B" panose="020B0800000000000000" pitchFamily="34" charset="-128"/>
              </a:rPr>
              <a:t>Manage </a:t>
            </a:r>
            <a:r>
              <a:rPr lang="en-US" sz="2400" dirty="0">
                <a:solidFill>
                  <a:srgbClr val="566A6B"/>
                </a:solidFill>
                <a:latin typeface="Adobe Gothic Std B" panose="020B0800000000000000" pitchFamily="34" charset="-128"/>
                <a:ea typeface="Adobe Gothic Std B" panose="020B0800000000000000" pitchFamily="34" charset="-128"/>
              </a:rPr>
              <a:t>patient, view patient history, and edits patient profile.</a:t>
            </a:r>
          </a:p>
        </p:txBody>
      </p:sp>
      <p:grpSp>
        <p:nvGrpSpPr>
          <p:cNvPr id="7" name="Group 6">
            <a:extLst>
              <a:ext uri="{FF2B5EF4-FFF2-40B4-BE49-F238E27FC236}">
                <a16:creationId xmlns:a16="http://schemas.microsoft.com/office/drawing/2014/main" id="{8D1A272E-DE64-4E30-A4E9-8AD35B3A7EA1}"/>
              </a:ext>
            </a:extLst>
          </p:cNvPr>
          <p:cNvGrpSpPr/>
          <p:nvPr/>
        </p:nvGrpSpPr>
        <p:grpSpPr>
          <a:xfrm rot="16200000">
            <a:off x="-5502019" y="4511278"/>
            <a:ext cx="12192000" cy="1473711"/>
            <a:chOff x="971550" y="237976"/>
            <a:chExt cx="12192000" cy="1214632"/>
          </a:xfrm>
          <a:solidFill>
            <a:srgbClr val="22C7B7"/>
          </a:solidFill>
        </p:grpSpPr>
        <p:sp>
          <p:nvSpPr>
            <p:cNvPr id="10" name="Rectangle 9">
              <a:extLst>
                <a:ext uri="{FF2B5EF4-FFF2-40B4-BE49-F238E27FC236}">
                  <a16:creationId xmlns:a16="http://schemas.microsoft.com/office/drawing/2014/main" id="{5D2BF202-9F55-40C8-9EAC-E4044572E3E5}"/>
                </a:ext>
              </a:extLst>
            </p:cNvPr>
            <p:cNvSpPr/>
            <p:nvPr/>
          </p:nvSpPr>
          <p:spPr>
            <a:xfrm>
              <a:off x="971550" y="237976"/>
              <a:ext cx="12192000" cy="104804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ubtitle 2">
              <a:extLst>
                <a:ext uri="{FF2B5EF4-FFF2-40B4-BE49-F238E27FC236}">
                  <a16:creationId xmlns:a16="http://schemas.microsoft.com/office/drawing/2014/main" id="{A9DFA511-3CF8-496E-9FCA-CBDEF19FB747}"/>
                </a:ext>
              </a:extLst>
            </p:cNvPr>
            <p:cNvSpPr txBox="1">
              <a:spLocks/>
            </p:cNvSpPr>
            <p:nvPr/>
          </p:nvSpPr>
          <p:spPr>
            <a:xfrm>
              <a:off x="1873306" y="978120"/>
              <a:ext cx="9144000" cy="474488"/>
            </a:xfrm>
            <a:prstGeom prst="rect">
              <a:avLst/>
            </a:prstGeom>
            <a:no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b="1" dirty="0">
                  <a:solidFill>
                    <a:schemeClr val="bg1"/>
                  </a:solidFill>
                  <a:latin typeface="Bebas Neue" panose="020B0606020202050201" pitchFamily="34" charset="0"/>
                </a:rPr>
                <a:t>Clinics Appointment Management System</a:t>
              </a:r>
              <a:endParaRPr lang="en-US" dirty="0">
                <a:solidFill>
                  <a:schemeClr val="bg1"/>
                </a:solidFill>
                <a:latin typeface="Bebas Neue" panose="020B0606020202050201" pitchFamily="34" charset="0"/>
              </a:endParaRPr>
            </a:p>
          </p:txBody>
        </p:sp>
      </p:grpSp>
    </p:spTree>
    <p:extLst>
      <p:ext uri="{BB962C8B-B14F-4D97-AF65-F5344CB8AC3E}">
        <p14:creationId xmlns:p14="http://schemas.microsoft.com/office/powerpoint/2010/main" val="309646897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D2BF202-9F55-40C8-9EAC-E4044572E3E5}"/>
              </a:ext>
            </a:extLst>
          </p:cNvPr>
          <p:cNvSpPr/>
          <p:nvPr/>
        </p:nvSpPr>
        <p:spPr>
          <a:xfrm rot="16200000">
            <a:off x="-5400957" y="4412317"/>
            <a:ext cx="12192000" cy="1271589"/>
          </a:xfrm>
          <a:prstGeom prst="rect">
            <a:avLst/>
          </a:prstGeom>
          <a:solidFill>
            <a:srgbClr val="76F6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BAEEA78-CD22-413B-95F1-326FA7457CCD}"/>
              </a:ext>
            </a:extLst>
          </p:cNvPr>
          <p:cNvSpPr>
            <a:spLocks noGrp="1"/>
          </p:cNvSpPr>
          <p:nvPr>
            <p:ph type="title"/>
          </p:nvPr>
        </p:nvSpPr>
        <p:spPr>
          <a:xfrm>
            <a:off x="1502290" y="523301"/>
            <a:ext cx="10515600" cy="1325563"/>
          </a:xfrm>
        </p:spPr>
        <p:txBody>
          <a:bodyPr>
            <a:noAutofit/>
          </a:bodyPr>
          <a:lstStyle/>
          <a:p>
            <a:r>
              <a:rPr lang="en-US" sz="6600" dirty="0" smtClean="0">
                <a:solidFill>
                  <a:srgbClr val="566A6A"/>
                </a:solidFill>
                <a:latin typeface="Bebas Neue" panose="020B0606020202050201" pitchFamily="34" charset="0"/>
                <a:ea typeface="Adobe Gothic Std B" panose="020B0800000000000000" pitchFamily="34" charset="-128"/>
                <a:cs typeface="Adobe Arabic" panose="02040503050201020203" pitchFamily="18" charset="-78"/>
              </a:rPr>
              <a:t>Features</a:t>
            </a:r>
            <a:endParaRPr lang="en-US" sz="6600" dirty="0">
              <a:solidFill>
                <a:srgbClr val="566A6A"/>
              </a:solidFill>
              <a:latin typeface="Bebas Neue" panose="020B0606020202050201" pitchFamily="34" charset="0"/>
              <a:ea typeface="Adobe Gothic Std B" panose="020B0800000000000000" pitchFamily="34" charset="-128"/>
              <a:cs typeface="Adobe Arabic" panose="02040503050201020203" pitchFamily="18" charset="-78"/>
            </a:endParaRPr>
          </a:p>
        </p:txBody>
      </p:sp>
      <p:sp>
        <p:nvSpPr>
          <p:cNvPr id="3" name="Content Placeholder 2">
            <a:extLst>
              <a:ext uri="{FF2B5EF4-FFF2-40B4-BE49-F238E27FC236}">
                <a16:creationId xmlns:a16="http://schemas.microsoft.com/office/drawing/2014/main" id="{3C180F0A-4B45-428F-8BD4-FD0A59405DA9}"/>
              </a:ext>
            </a:extLst>
          </p:cNvPr>
          <p:cNvSpPr>
            <a:spLocks noGrp="1"/>
          </p:cNvSpPr>
          <p:nvPr>
            <p:ph idx="1"/>
          </p:nvPr>
        </p:nvSpPr>
        <p:spPr>
          <a:xfrm>
            <a:off x="1330838" y="1961159"/>
            <a:ext cx="10687052" cy="2486150"/>
          </a:xfrm>
        </p:spPr>
        <p:txBody>
          <a:bodyPr>
            <a:noAutofit/>
          </a:bodyPr>
          <a:lstStyle/>
          <a:p>
            <a:pPr marL="457200" indent="-457200">
              <a:buAutoNum type="arabicPeriod"/>
            </a:pPr>
            <a:r>
              <a:rPr lang="en-US" sz="2400" dirty="0" smtClean="0">
                <a:solidFill>
                  <a:srgbClr val="566A6B"/>
                </a:solidFill>
                <a:latin typeface="Adobe Gothic Std B" panose="020B0800000000000000" pitchFamily="34" charset="-128"/>
                <a:ea typeface="Adobe Gothic Std B" panose="020B0800000000000000" pitchFamily="34" charset="-128"/>
              </a:rPr>
              <a:t>Generates </a:t>
            </a:r>
            <a:r>
              <a:rPr lang="en-US" sz="2400" dirty="0">
                <a:solidFill>
                  <a:srgbClr val="566A6B"/>
                </a:solidFill>
                <a:latin typeface="Adobe Gothic Std B" panose="020B0800000000000000" pitchFamily="34" charset="-128"/>
                <a:ea typeface="Adobe Gothic Std B" panose="020B0800000000000000" pitchFamily="34" charset="-128"/>
              </a:rPr>
              <a:t>queue </a:t>
            </a:r>
            <a:r>
              <a:rPr lang="en-US" sz="2400" dirty="0" smtClean="0">
                <a:solidFill>
                  <a:srgbClr val="566A6B"/>
                </a:solidFill>
                <a:latin typeface="Adobe Gothic Std B" panose="020B0800000000000000" pitchFamily="34" charset="-128"/>
                <a:ea typeface="Adobe Gothic Std B" panose="020B0800000000000000" pitchFamily="34" charset="-128"/>
              </a:rPr>
              <a:t>number</a:t>
            </a:r>
          </a:p>
          <a:p>
            <a:pPr marL="457200" indent="-457200">
              <a:buAutoNum type="arabicPeriod"/>
            </a:pPr>
            <a:endParaRPr lang="en-US" sz="2400" dirty="0">
              <a:solidFill>
                <a:srgbClr val="566A6B"/>
              </a:solidFill>
              <a:latin typeface="Adobe Gothic Std B" panose="020B0800000000000000" pitchFamily="34" charset="-128"/>
              <a:ea typeface="Adobe Gothic Std B" panose="020B0800000000000000" pitchFamily="34" charset="-128"/>
            </a:endParaRPr>
          </a:p>
          <a:p>
            <a:pPr marL="457200" indent="-457200">
              <a:buAutoNum type="arabicPeriod"/>
            </a:pPr>
            <a:r>
              <a:rPr lang="en-US" sz="2400" dirty="0" smtClean="0">
                <a:solidFill>
                  <a:srgbClr val="566A6B"/>
                </a:solidFill>
                <a:latin typeface="Adobe Gothic Std B" panose="020B0800000000000000" pitchFamily="34" charset="-128"/>
                <a:ea typeface="Adobe Gothic Std B" panose="020B0800000000000000" pitchFamily="34" charset="-128"/>
              </a:rPr>
              <a:t>Sends </a:t>
            </a:r>
            <a:r>
              <a:rPr lang="en-US" sz="2400" dirty="0">
                <a:solidFill>
                  <a:srgbClr val="566A6B"/>
                </a:solidFill>
                <a:latin typeface="Adobe Gothic Std B" panose="020B0800000000000000" pitchFamily="34" charset="-128"/>
                <a:ea typeface="Adobe Gothic Std B" panose="020B0800000000000000" pitchFamily="34" charset="-128"/>
              </a:rPr>
              <a:t>SMS notification in queuing and cancellation of appointments</a:t>
            </a:r>
            <a:r>
              <a:rPr lang="en-US" sz="2400" dirty="0" smtClean="0">
                <a:solidFill>
                  <a:srgbClr val="566A6B"/>
                </a:solidFill>
                <a:latin typeface="Adobe Gothic Std B" panose="020B0800000000000000" pitchFamily="34" charset="-128"/>
                <a:ea typeface="Adobe Gothic Std B" panose="020B0800000000000000" pitchFamily="34" charset="-128"/>
              </a:rPr>
              <a:t>.</a:t>
            </a:r>
          </a:p>
          <a:p>
            <a:pPr marL="457200" indent="-457200">
              <a:buAutoNum type="arabicPeriod"/>
            </a:pPr>
            <a:endParaRPr lang="en-US" sz="2400" dirty="0">
              <a:solidFill>
                <a:srgbClr val="566A6B"/>
              </a:solidFill>
              <a:latin typeface="Adobe Gothic Std B" panose="020B0800000000000000" pitchFamily="34" charset="-128"/>
              <a:ea typeface="Adobe Gothic Std B" panose="020B0800000000000000" pitchFamily="34" charset="-128"/>
            </a:endParaRPr>
          </a:p>
          <a:p>
            <a:pPr marL="0" indent="0">
              <a:buNone/>
            </a:pPr>
            <a:r>
              <a:rPr lang="en-US" sz="2400" dirty="0">
                <a:solidFill>
                  <a:srgbClr val="566A6B"/>
                </a:solidFill>
                <a:latin typeface="Adobe Gothic Std B" panose="020B0800000000000000" pitchFamily="34" charset="-128"/>
                <a:ea typeface="Adobe Gothic Std B" panose="020B0800000000000000" pitchFamily="34" charset="-128"/>
              </a:rPr>
              <a:t>3.	Generate monthly reports on statistical data about the average appointments per day and completed appointments per day</a:t>
            </a:r>
          </a:p>
        </p:txBody>
      </p:sp>
      <p:grpSp>
        <p:nvGrpSpPr>
          <p:cNvPr id="7" name="Group 6">
            <a:extLst>
              <a:ext uri="{FF2B5EF4-FFF2-40B4-BE49-F238E27FC236}">
                <a16:creationId xmlns:a16="http://schemas.microsoft.com/office/drawing/2014/main" id="{8D1A272E-DE64-4E30-A4E9-8AD35B3A7EA1}"/>
              </a:ext>
            </a:extLst>
          </p:cNvPr>
          <p:cNvGrpSpPr/>
          <p:nvPr/>
        </p:nvGrpSpPr>
        <p:grpSpPr>
          <a:xfrm rot="16200000">
            <a:off x="-5502019" y="4511278"/>
            <a:ext cx="12192000" cy="1473711"/>
            <a:chOff x="971550" y="237976"/>
            <a:chExt cx="12192000" cy="1214632"/>
          </a:xfrm>
          <a:solidFill>
            <a:srgbClr val="22C7B7"/>
          </a:solidFill>
        </p:grpSpPr>
        <p:sp>
          <p:nvSpPr>
            <p:cNvPr id="10" name="Rectangle 9">
              <a:extLst>
                <a:ext uri="{FF2B5EF4-FFF2-40B4-BE49-F238E27FC236}">
                  <a16:creationId xmlns:a16="http://schemas.microsoft.com/office/drawing/2014/main" id="{5D2BF202-9F55-40C8-9EAC-E4044572E3E5}"/>
                </a:ext>
              </a:extLst>
            </p:cNvPr>
            <p:cNvSpPr/>
            <p:nvPr/>
          </p:nvSpPr>
          <p:spPr>
            <a:xfrm>
              <a:off x="971550" y="237976"/>
              <a:ext cx="12192000" cy="104804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ubtitle 2">
              <a:extLst>
                <a:ext uri="{FF2B5EF4-FFF2-40B4-BE49-F238E27FC236}">
                  <a16:creationId xmlns:a16="http://schemas.microsoft.com/office/drawing/2014/main" id="{A9DFA511-3CF8-496E-9FCA-CBDEF19FB747}"/>
                </a:ext>
              </a:extLst>
            </p:cNvPr>
            <p:cNvSpPr txBox="1">
              <a:spLocks/>
            </p:cNvSpPr>
            <p:nvPr/>
          </p:nvSpPr>
          <p:spPr>
            <a:xfrm>
              <a:off x="1873306" y="978120"/>
              <a:ext cx="9144000" cy="474488"/>
            </a:xfrm>
            <a:prstGeom prst="rect">
              <a:avLst/>
            </a:prstGeom>
            <a:no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b="1" dirty="0">
                  <a:solidFill>
                    <a:schemeClr val="bg1"/>
                  </a:solidFill>
                  <a:latin typeface="Bebas Neue" panose="020B0606020202050201" pitchFamily="34" charset="0"/>
                </a:rPr>
                <a:t>Clinics Appointment Management System</a:t>
              </a:r>
              <a:endParaRPr lang="en-US" dirty="0">
                <a:solidFill>
                  <a:schemeClr val="bg1"/>
                </a:solidFill>
                <a:latin typeface="Bebas Neue" panose="020B0606020202050201" pitchFamily="34" charset="0"/>
              </a:endParaRPr>
            </a:p>
          </p:txBody>
        </p:sp>
      </p:grpSp>
    </p:spTree>
    <p:extLst>
      <p:ext uri="{BB962C8B-B14F-4D97-AF65-F5344CB8AC3E}">
        <p14:creationId xmlns:p14="http://schemas.microsoft.com/office/powerpoint/2010/main" val="1324536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AEEA78-CD22-413B-95F1-326FA7457CCD}"/>
              </a:ext>
            </a:extLst>
          </p:cNvPr>
          <p:cNvSpPr>
            <a:spLocks noGrp="1"/>
          </p:cNvSpPr>
          <p:nvPr>
            <p:ph type="title"/>
          </p:nvPr>
        </p:nvSpPr>
        <p:spPr>
          <a:xfrm>
            <a:off x="876734" y="2716257"/>
            <a:ext cx="10515600" cy="1325563"/>
          </a:xfrm>
        </p:spPr>
        <p:txBody>
          <a:bodyPr>
            <a:noAutofit/>
          </a:bodyPr>
          <a:lstStyle/>
          <a:p>
            <a:pPr algn="ctr"/>
            <a:r>
              <a:rPr lang="en-US" sz="6600" dirty="0">
                <a:solidFill>
                  <a:srgbClr val="566A6B"/>
                </a:solidFill>
                <a:latin typeface="Bebas Neue" panose="020B0606020202050201" pitchFamily="34" charset="0"/>
                <a:ea typeface="Adobe Gothic Std B" panose="020B0800000000000000" pitchFamily="34" charset="-128"/>
                <a:cs typeface="Adobe Arabic" panose="02040503050201020203" pitchFamily="18" charset="-78"/>
              </a:rPr>
              <a:t>CHAPTER 3: </a:t>
            </a:r>
            <a:br>
              <a:rPr lang="en-US" sz="6600" dirty="0">
                <a:solidFill>
                  <a:srgbClr val="566A6B"/>
                </a:solidFill>
                <a:latin typeface="Bebas Neue" panose="020B0606020202050201" pitchFamily="34" charset="0"/>
                <a:ea typeface="Adobe Gothic Std B" panose="020B0800000000000000" pitchFamily="34" charset="-128"/>
                <a:cs typeface="Adobe Arabic" panose="02040503050201020203" pitchFamily="18" charset="-78"/>
              </a:rPr>
            </a:br>
            <a:r>
              <a:rPr lang="en-US" sz="6600" dirty="0">
                <a:solidFill>
                  <a:srgbClr val="566A6B"/>
                </a:solidFill>
                <a:latin typeface="Bebas Neue" panose="020B0606020202050201" pitchFamily="34" charset="0"/>
                <a:ea typeface="Adobe Gothic Std B" panose="020B0800000000000000" pitchFamily="34" charset="-128"/>
                <a:cs typeface="Adobe Arabic" panose="02040503050201020203" pitchFamily="18" charset="-78"/>
              </a:rPr>
              <a:t>Methodology</a:t>
            </a:r>
          </a:p>
        </p:txBody>
      </p:sp>
      <p:sp>
        <p:nvSpPr>
          <p:cNvPr id="13" name="Rectangle 12">
            <a:extLst>
              <a:ext uri="{FF2B5EF4-FFF2-40B4-BE49-F238E27FC236}">
                <a16:creationId xmlns:a16="http://schemas.microsoft.com/office/drawing/2014/main" id="{5D2BF202-9F55-40C8-9EAC-E4044572E3E5}"/>
              </a:ext>
            </a:extLst>
          </p:cNvPr>
          <p:cNvSpPr/>
          <p:nvPr/>
        </p:nvSpPr>
        <p:spPr>
          <a:xfrm rot="16200000">
            <a:off x="-5400957" y="4412317"/>
            <a:ext cx="12192000" cy="1271589"/>
          </a:xfrm>
          <a:prstGeom prst="rect">
            <a:avLst/>
          </a:prstGeom>
          <a:solidFill>
            <a:srgbClr val="76F6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a:extLst>
              <a:ext uri="{FF2B5EF4-FFF2-40B4-BE49-F238E27FC236}">
                <a16:creationId xmlns:a16="http://schemas.microsoft.com/office/drawing/2014/main" id="{8D1A272E-DE64-4E30-A4E9-8AD35B3A7EA1}"/>
              </a:ext>
            </a:extLst>
          </p:cNvPr>
          <p:cNvGrpSpPr/>
          <p:nvPr/>
        </p:nvGrpSpPr>
        <p:grpSpPr>
          <a:xfrm rot="16200000">
            <a:off x="-5502019" y="4511278"/>
            <a:ext cx="12192000" cy="1473711"/>
            <a:chOff x="971550" y="237976"/>
            <a:chExt cx="12192000" cy="1214632"/>
          </a:xfrm>
          <a:solidFill>
            <a:srgbClr val="22C7B7"/>
          </a:solidFill>
        </p:grpSpPr>
        <p:sp>
          <p:nvSpPr>
            <p:cNvPr id="10" name="Rectangle 9">
              <a:extLst>
                <a:ext uri="{FF2B5EF4-FFF2-40B4-BE49-F238E27FC236}">
                  <a16:creationId xmlns:a16="http://schemas.microsoft.com/office/drawing/2014/main" id="{5D2BF202-9F55-40C8-9EAC-E4044572E3E5}"/>
                </a:ext>
              </a:extLst>
            </p:cNvPr>
            <p:cNvSpPr/>
            <p:nvPr/>
          </p:nvSpPr>
          <p:spPr>
            <a:xfrm>
              <a:off x="971550" y="237976"/>
              <a:ext cx="12192000" cy="104804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ubtitle 2">
              <a:extLst>
                <a:ext uri="{FF2B5EF4-FFF2-40B4-BE49-F238E27FC236}">
                  <a16:creationId xmlns:a16="http://schemas.microsoft.com/office/drawing/2014/main" id="{A9DFA511-3CF8-496E-9FCA-CBDEF19FB747}"/>
                </a:ext>
              </a:extLst>
            </p:cNvPr>
            <p:cNvSpPr txBox="1">
              <a:spLocks/>
            </p:cNvSpPr>
            <p:nvPr/>
          </p:nvSpPr>
          <p:spPr>
            <a:xfrm>
              <a:off x="1873306" y="978120"/>
              <a:ext cx="9144000" cy="474488"/>
            </a:xfrm>
            <a:prstGeom prst="rect">
              <a:avLst/>
            </a:prstGeom>
            <a:no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b="1" dirty="0">
                  <a:solidFill>
                    <a:schemeClr val="bg1"/>
                  </a:solidFill>
                  <a:latin typeface="Bebas Neue" panose="020B0606020202050201" pitchFamily="34" charset="0"/>
                </a:rPr>
                <a:t>Clinics Appointment Management System</a:t>
              </a:r>
              <a:endParaRPr lang="en-US" dirty="0">
                <a:solidFill>
                  <a:schemeClr val="bg1"/>
                </a:solidFill>
                <a:latin typeface="Bebas Neue" panose="020B0606020202050201" pitchFamily="34" charset="0"/>
              </a:endParaRPr>
            </a:p>
          </p:txBody>
        </p:sp>
      </p:grpSp>
      <p:sp>
        <p:nvSpPr>
          <p:cNvPr id="15" name="Rectangle 14"/>
          <p:cNvSpPr/>
          <p:nvPr/>
        </p:nvSpPr>
        <p:spPr>
          <a:xfrm rot="1215374">
            <a:off x="10811951" y="-1004911"/>
            <a:ext cx="2527300" cy="9402115"/>
          </a:xfrm>
          <a:prstGeom prst="rect">
            <a:avLst/>
          </a:prstGeom>
          <a:solidFill>
            <a:srgbClr val="76F6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rot="20333552">
            <a:off x="10811950" y="-1606375"/>
            <a:ext cx="2527300" cy="9402115"/>
          </a:xfrm>
          <a:prstGeom prst="rect">
            <a:avLst/>
          </a:prstGeom>
          <a:solidFill>
            <a:srgbClr val="22C7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22C7B7"/>
              </a:solidFill>
            </a:endParaRPr>
          </a:p>
        </p:txBody>
      </p:sp>
    </p:spTree>
    <p:extLst>
      <p:ext uri="{BB962C8B-B14F-4D97-AF65-F5344CB8AC3E}">
        <p14:creationId xmlns:p14="http://schemas.microsoft.com/office/powerpoint/2010/main" val="28183298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D2BF202-9F55-40C8-9EAC-E4044572E3E5}"/>
              </a:ext>
            </a:extLst>
          </p:cNvPr>
          <p:cNvSpPr/>
          <p:nvPr/>
        </p:nvSpPr>
        <p:spPr>
          <a:xfrm rot="16200000">
            <a:off x="-5400957" y="4412317"/>
            <a:ext cx="12192000" cy="1271589"/>
          </a:xfrm>
          <a:prstGeom prst="rect">
            <a:avLst/>
          </a:prstGeom>
          <a:solidFill>
            <a:srgbClr val="76F6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BAEEA78-CD22-413B-95F1-326FA7457CCD}"/>
              </a:ext>
            </a:extLst>
          </p:cNvPr>
          <p:cNvSpPr>
            <a:spLocks noGrp="1"/>
          </p:cNvSpPr>
          <p:nvPr>
            <p:ph type="title"/>
          </p:nvPr>
        </p:nvSpPr>
        <p:spPr>
          <a:xfrm>
            <a:off x="1330838" y="635596"/>
            <a:ext cx="10515600" cy="1325563"/>
          </a:xfrm>
        </p:spPr>
        <p:txBody>
          <a:bodyPr>
            <a:noAutofit/>
          </a:bodyPr>
          <a:lstStyle/>
          <a:p>
            <a:r>
              <a:rPr lang="en-US" sz="6600" dirty="0">
                <a:solidFill>
                  <a:srgbClr val="566A6A"/>
                </a:solidFill>
                <a:latin typeface="Bebas Neue" panose="020B0606020202050201" pitchFamily="34" charset="0"/>
                <a:ea typeface="Adobe Gothic Std B" panose="020B0800000000000000" pitchFamily="34" charset="-128"/>
                <a:cs typeface="Adobe Arabic" panose="02040503050201020203" pitchFamily="18" charset="-78"/>
              </a:rPr>
              <a:t>Analysis</a:t>
            </a:r>
          </a:p>
        </p:txBody>
      </p:sp>
      <p:sp>
        <p:nvSpPr>
          <p:cNvPr id="3" name="Content Placeholder 2">
            <a:extLst>
              <a:ext uri="{FF2B5EF4-FFF2-40B4-BE49-F238E27FC236}">
                <a16:creationId xmlns:a16="http://schemas.microsoft.com/office/drawing/2014/main" id="{3C180F0A-4B45-428F-8BD4-FD0A59405DA9}"/>
              </a:ext>
            </a:extLst>
          </p:cNvPr>
          <p:cNvSpPr>
            <a:spLocks noGrp="1"/>
          </p:cNvSpPr>
          <p:nvPr>
            <p:ph idx="1"/>
          </p:nvPr>
        </p:nvSpPr>
        <p:spPr>
          <a:xfrm>
            <a:off x="1330838" y="1961159"/>
            <a:ext cx="10687052" cy="2486150"/>
          </a:xfrm>
        </p:spPr>
        <p:txBody>
          <a:bodyPr>
            <a:noAutofit/>
          </a:bodyPr>
          <a:lstStyle/>
          <a:p>
            <a:r>
              <a:rPr lang="en-US" sz="2400" dirty="0">
                <a:solidFill>
                  <a:srgbClr val="566A6B"/>
                </a:solidFill>
                <a:latin typeface="Adobe Gothic Std B" panose="020B0800000000000000" pitchFamily="34" charset="-128"/>
                <a:ea typeface="Adobe Gothic Std B" panose="020B0800000000000000" pitchFamily="34" charset="-128"/>
              </a:rPr>
              <a:t>The system analysis is done through the use case diagram and use case narrative. </a:t>
            </a:r>
          </a:p>
          <a:p>
            <a:endParaRPr lang="en-US" sz="2400" dirty="0">
              <a:solidFill>
                <a:srgbClr val="566A6B"/>
              </a:solidFill>
              <a:latin typeface="Adobe Gothic Std B" panose="020B0800000000000000" pitchFamily="34" charset="-128"/>
              <a:ea typeface="Adobe Gothic Std B" panose="020B0800000000000000" pitchFamily="34" charset="-128"/>
            </a:endParaRPr>
          </a:p>
          <a:p>
            <a:r>
              <a:rPr lang="en-US" sz="2400" dirty="0">
                <a:solidFill>
                  <a:srgbClr val="566A6B"/>
                </a:solidFill>
                <a:latin typeface="Adobe Gothic Std B" panose="020B0800000000000000" pitchFamily="34" charset="-128"/>
                <a:ea typeface="Adobe Gothic Std B" panose="020B0800000000000000" pitchFamily="34" charset="-128"/>
              </a:rPr>
              <a:t>The use case diagram show the structure composing relationship between the system and the user.</a:t>
            </a:r>
          </a:p>
          <a:p>
            <a:endParaRPr lang="en-US" sz="2400" dirty="0">
              <a:solidFill>
                <a:srgbClr val="566A6B"/>
              </a:solidFill>
              <a:latin typeface="Adobe Gothic Std B" panose="020B0800000000000000" pitchFamily="34" charset="-128"/>
              <a:ea typeface="Adobe Gothic Std B" panose="020B0800000000000000" pitchFamily="34" charset="-128"/>
            </a:endParaRPr>
          </a:p>
          <a:p>
            <a:r>
              <a:rPr lang="en-US" sz="2400" dirty="0">
                <a:solidFill>
                  <a:srgbClr val="566A6B"/>
                </a:solidFill>
                <a:latin typeface="Adobe Gothic Std B" panose="020B0800000000000000" pitchFamily="34" charset="-128"/>
                <a:ea typeface="Adobe Gothic Std B" panose="020B0800000000000000" pitchFamily="34" charset="-128"/>
              </a:rPr>
              <a:t>The system has four users, the patient, doctor, secretary and the admin. All the users must login to their accounts.</a:t>
            </a:r>
          </a:p>
          <a:p>
            <a:endParaRPr lang="en-US" sz="2400" dirty="0">
              <a:solidFill>
                <a:srgbClr val="566A6B"/>
              </a:solidFill>
              <a:latin typeface="Adobe Gothic Std B" panose="020B0800000000000000" pitchFamily="34" charset="-128"/>
              <a:ea typeface="Adobe Gothic Std B" panose="020B0800000000000000" pitchFamily="34" charset="-128"/>
            </a:endParaRPr>
          </a:p>
          <a:p>
            <a:r>
              <a:rPr lang="en-US" sz="2400" dirty="0">
                <a:solidFill>
                  <a:srgbClr val="566A6B"/>
                </a:solidFill>
                <a:latin typeface="Adobe Gothic Std B" panose="020B0800000000000000" pitchFamily="34" charset="-128"/>
                <a:ea typeface="Adobe Gothic Std B" panose="020B0800000000000000" pitchFamily="34" charset="-128"/>
              </a:rPr>
              <a:t>Only the secretary and doctor can view patient records/history for confidentiality.</a:t>
            </a:r>
          </a:p>
        </p:txBody>
      </p:sp>
      <p:grpSp>
        <p:nvGrpSpPr>
          <p:cNvPr id="7" name="Group 6">
            <a:extLst>
              <a:ext uri="{FF2B5EF4-FFF2-40B4-BE49-F238E27FC236}">
                <a16:creationId xmlns:a16="http://schemas.microsoft.com/office/drawing/2014/main" id="{8D1A272E-DE64-4E30-A4E9-8AD35B3A7EA1}"/>
              </a:ext>
            </a:extLst>
          </p:cNvPr>
          <p:cNvGrpSpPr/>
          <p:nvPr/>
        </p:nvGrpSpPr>
        <p:grpSpPr>
          <a:xfrm rot="16200000">
            <a:off x="-5502019" y="4511278"/>
            <a:ext cx="12192000" cy="1473711"/>
            <a:chOff x="971550" y="237976"/>
            <a:chExt cx="12192000" cy="1214632"/>
          </a:xfrm>
          <a:solidFill>
            <a:srgbClr val="22C7B7"/>
          </a:solidFill>
        </p:grpSpPr>
        <p:sp>
          <p:nvSpPr>
            <p:cNvPr id="10" name="Rectangle 9">
              <a:extLst>
                <a:ext uri="{FF2B5EF4-FFF2-40B4-BE49-F238E27FC236}">
                  <a16:creationId xmlns:a16="http://schemas.microsoft.com/office/drawing/2014/main" id="{5D2BF202-9F55-40C8-9EAC-E4044572E3E5}"/>
                </a:ext>
              </a:extLst>
            </p:cNvPr>
            <p:cNvSpPr/>
            <p:nvPr/>
          </p:nvSpPr>
          <p:spPr>
            <a:xfrm>
              <a:off x="971550" y="237976"/>
              <a:ext cx="12192000" cy="104804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ubtitle 2">
              <a:extLst>
                <a:ext uri="{FF2B5EF4-FFF2-40B4-BE49-F238E27FC236}">
                  <a16:creationId xmlns:a16="http://schemas.microsoft.com/office/drawing/2014/main" id="{A9DFA511-3CF8-496E-9FCA-CBDEF19FB747}"/>
                </a:ext>
              </a:extLst>
            </p:cNvPr>
            <p:cNvSpPr txBox="1">
              <a:spLocks/>
            </p:cNvSpPr>
            <p:nvPr/>
          </p:nvSpPr>
          <p:spPr>
            <a:xfrm>
              <a:off x="1873306" y="978120"/>
              <a:ext cx="9144000" cy="474488"/>
            </a:xfrm>
            <a:prstGeom prst="rect">
              <a:avLst/>
            </a:prstGeom>
            <a:no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b="1" dirty="0">
                  <a:solidFill>
                    <a:schemeClr val="bg1"/>
                  </a:solidFill>
                  <a:latin typeface="Bebas Neue" panose="020B0606020202050201" pitchFamily="34" charset="0"/>
                </a:rPr>
                <a:t>Clinics Appointment Management System</a:t>
              </a:r>
              <a:endParaRPr lang="en-US" dirty="0">
                <a:solidFill>
                  <a:schemeClr val="bg1"/>
                </a:solidFill>
                <a:latin typeface="Bebas Neue" panose="020B0606020202050201" pitchFamily="34" charset="0"/>
              </a:endParaRPr>
            </a:p>
          </p:txBody>
        </p:sp>
      </p:grpSp>
    </p:spTree>
    <p:extLst>
      <p:ext uri="{BB962C8B-B14F-4D97-AF65-F5344CB8AC3E}">
        <p14:creationId xmlns:p14="http://schemas.microsoft.com/office/powerpoint/2010/main" val="40300222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D2BF202-9F55-40C8-9EAC-E4044572E3E5}"/>
              </a:ext>
            </a:extLst>
          </p:cNvPr>
          <p:cNvSpPr/>
          <p:nvPr/>
        </p:nvSpPr>
        <p:spPr>
          <a:xfrm rot="16200000">
            <a:off x="-5400957" y="4412317"/>
            <a:ext cx="12192000" cy="1271589"/>
          </a:xfrm>
          <a:prstGeom prst="rect">
            <a:avLst/>
          </a:prstGeom>
          <a:solidFill>
            <a:srgbClr val="76F6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BAEEA78-CD22-413B-95F1-326FA7457CCD}"/>
              </a:ext>
            </a:extLst>
          </p:cNvPr>
          <p:cNvSpPr>
            <a:spLocks noGrp="1"/>
          </p:cNvSpPr>
          <p:nvPr>
            <p:ph type="title"/>
          </p:nvPr>
        </p:nvSpPr>
        <p:spPr>
          <a:xfrm>
            <a:off x="1330838" y="2913575"/>
            <a:ext cx="10515600" cy="1325563"/>
          </a:xfrm>
        </p:spPr>
        <p:txBody>
          <a:bodyPr>
            <a:noAutofit/>
          </a:bodyPr>
          <a:lstStyle/>
          <a:p>
            <a:pPr algn="ctr"/>
            <a:r>
              <a:rPr lang="en-US" sz="6600" dirty="0" smtClean="0">
                <a:solidFill>
                  <a:srgbClr val="566A6A"/>
                </a:solidFill>
                <a:latin typeface="Bebas Neue" panose="020B0606020202050201" pitchFamily="34" charset="0"/>
                <a:ea typeface="Adobe Gothic Std B" panose="020B0800000000000000" pitchFamily="34" charset="-128"/>
                <a:cs typeface="Adobe Arabic" panose="02040503050201020203" pitchFamily="18" charset="-78"/>
              </a:rPr>
              <a:t>USE CASE DIAGRAM</a:t>
            </a:r>
            <a:endParaRPr lang="en-US" sz="6600" dirty="0">
              <a:solidFill>
                <a:srgbClr val="566A6A"/>
              </a:solidFill>
              <a:latin typeface="Bebas Neue" panose="020B0606020202050201" pitchFamily="34" charset="0"/>
              <a:ea typeface="Adobe Gothic Std B" panose="020B0800000000000000" pitchFamily="34" charset="-128"/>
              <a:cs typeface="Adobe Arabic" panose="02040503050201020203" pitchFamily="18" charset="-78"/>
            </a:endParaRPr>
          </a:p>
        </p:txBody>
      </p:sp>
      <p:grpSp>
        <p:nvGrpSpPr>
          <p:cNvPr id="7" name="Group 6">
            <a:extLst>
              <a:ext uri="{FF2B5EF4-FFF2-40B4-BE49-F238E27FC236}">
                <a16:creationId xmlns:a16="http://schemas.microsoft.com/office/drawing/2014/main" id="{8D1A272E-DE64-4E30-A4E9-8AD35B3A7EA1}"/>
              </a:ext>
            </a:extLst>
          </p:cNvPr>
          <p:cNvGrpSpPr/>
          <p:nvPr/>
        </p:nvGrpSpPr>
        <p:grpSpPr>
          <a:xfrm rot="16200000">
            <a:off x="-5502019" y="4511278"/>
            <a:ext cx="12192000" cy="1473711"/>
            <a:chOff x="971550" y="237976"/>
            <a:chExt cx="12192000" cy="1214632"/>
          </a:xfrm>
          <a:solidFill>
            <a:srgbClr val="22C7B7"/>
          </a:solidFill>
        </p:grpSpPr>
        <p:sp>
          <p:nvSpPr>
            <p:cNvPr id="10" name="Rectangle 9">
              <a:extLst>
                <a:ext uri="{FF2B5EF4-FFF2-40B4-BE49-F238E27FC236}">
                  <a16:creationId xmlns:a16="http://schemas.microsoft.com/office/drawing/2014/main" id="{5D2BF202-9F55-40C8-9EAC-E4044572E3E5}"/>
                </a:ext>
              </a:extLst>
            </p:cNvPr>
            <p:cNvSpPr/>
            <p:nvPr/>
          </p:nvSpPr>
          <p:spPr>
            <a:xfrm>
              <a:off x="971550" y="237976"/>
              <a:ext cx="12192000" cy="104804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ubtitle 2">
              <a:extLst>
                <a:ext uri="{FF2B5EF4-FFF2-40B4-BE49-F238E27FC236}">
                  <a16:creationId xmlns:a16="http://schemas.microsoft.com/office/drawing/2014/main" id="{A9DFA511-3CF8-496E-9FCA-CBDEF19FB747}"/>
                </a:ext>
              </a:extLst>
            </p:cNvPr>
            <p:cNvSpPr txBox="1">
              <a:spLocks/>
            </p:cNvSpPr>
            <p:nvPr/>
          </p:nvSpPr>
          <p:spPr>
            <a:xfrm>
              <a:off x="1873306" y="978120"/>
              <a:ext cx="9144000" cy="474488"/>
            </a:xfrm>
            <a:prstGeom prst="rect">
              <a:avLst/>
            </a:prstGeom>
            <a:no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b="1" dirty="0">
                  <a:solidFill>
                    <a:schemeClr val="bg1"/>
                  </a:solidFill>
                  <a:latin typeface="Bebas Neue" panose="020B0606020202050201" pitchFamily="34" charset="0"/>
                </a:rPr>
                <a:t>Clinics Appointment Management System</a:t>
              </a:r>
              <a:endParaRPr lang="en-US" dirty="0">
                <a:solidFill>
                  <a:schemeClr val="bg1"/>
                </a:solidFill>
                <a:latin typeface="Bebas Neue" panose="020B0606020202050201" pitchFamily="34" charset="0"/>
              </a:endParaRPr>
            </a:p>
          </p:txBody>
        </p:sp>
      </p:grpSp>
    </p:spTree>
    <p:extLst>
      <p:ext uri="{BB962C8B-B14F-4D97-AF65-F5344CB8AC3E}">
        <p14:creationId xmlns:p14="http://schemas.microsoft.com/office/powerpoint/2010/main" val="17875823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D2BF202-9F55-40C8-9EAC-E4044572E3E5}"/>
              </a:ext>
            </a:extLst>
          </p:cNvPr>
          <p:cNvSpPr/>
          <p:nvPr/>
        </p:nvSpPr>
        <p:spPr>
          <a:xfrm rot="16200000">
            <a:off x="-5400957" y="4412317"/>
            <a:ext cx="12192000" cy="1271589"/>
          </a:xfrm>
          <a:prstGeom prst="rect">
            <a:avLst/>
          </a:prstGeom>
          <a:solidFill>
            <a:srgbClr val="76F6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BAEEA78-CD22-413B-95F1-326FA7457CCD}"/>
              </a:ext>
            </a:extLst>
          </p:cNvPr>
          <p:cNvSpPr>
            <a:spLocks noGrp="1"/>
          </p:cNvSpPr>
          <p:nvPr>
            <p:ph type="title"/>
          </p:nvPr>
        </p:nvSpPr>
        <p:spPr>
          <a:xfrm>
            <a:off x="1330838" y="2913575"/>
            <a:ext cx="10515600" cy="1325563"/>
          </a:xfrm>
        </p:spPr>
        <p:txBody>
          <a:bodyPr>
            <a:noAutofit/>
          </a:bodyPr>
          <a:lstStyle/>
          <a:p>
            <a:pPr algn="ctr"/>
            <a:r>
              <a:rPr lang="en-US" sz="6600" dirty="0" smtClean="0">
                <a:solidFill>
                  <a:srgbClr val="566A6A"/>
                </a:solidFill>
                <a:latin typeface="Bebas Neue" panose="020B0606020202050201" pitchFamily="34" charset="0"/>
                <a:ea typeface="Adobe Gothic Std B" panose="020B0800000000000000" pitchFamily="34" charset="-128"/>
                <a:cs typeface="Adobe Arabic" panose="02040503050201020203" pitchFamily="18" charset="-78"/>
              </a:rPr>
              <a:t>RELATIONAL DATABASE</a:t>
            </a:r>
            <a:endParaRPr lang="en-US" sz="6600" dirty="0">
              <a:solidFill>
                <a:srgbClr val="566A6A"/>
              </a:solidFill>
              <a:latin typeface="Bebas Neue" panose="020B0606020202050201" pitchFamily="34" charset="0"/>
              <a:ea typeface="Adobe Gothic Std B" panose="020B0800000000000000" pitchFamily="34" charset="-128"/>
              <a:cs typeface="Adobe Arabic" panose="02040503050201020203" pitchFamily="18" charset="-78"/>
            </a:endParaRPr>
          </a:p>
        </p:txBody>
      </p:sp>
      <p:grpSp>
        <p:nvGrpSpPr>
          <p:cNvPr id="7" name="Group 6">
            <a:extLst>
              <a:ext uri="{FF2B5EF4-FFF2-40B4-BE49-F238E27FC236}">
                <a16:creationId xmlns:a16="http://schemas.microsoft.com/office/drawing/2014/main" id="{8D1A272E-DE64-4E30-A4E9-8AD35B3A7EA1}"/>
              </a:ext>
            </a:extLst>
          </p:cNvPr>
          <p:cNvGrpSpPr/>
          <p:nvPr/>
        </p:nvGrpSpPr>
        <p:grpSpPr>
          <a:xfrm rot="16200000">
            <a:off x="-5502019" y="4511278"/>
            <a:ext cx="12192000" cy="1473711"/>
            <a:chOff x="971550" y="237976"/>
            <a:chExt cx="12192000" cy="1214632"/>
          </a:xfrm>
          <a:solidFill>
            <a:srgbClr val="22C7B7"/>
          </a:solidFill>
        </p:grpSpPr>
        <p:sp>
          <p:nvSpPr>
            <p:cNvPr id="10" name="Rectangle 9">
              <a:extLst>
                <a:ext uri="{FF2B5EF4-FFF2-40B4-BE49-F238E27FC236}">
                  <a16:creationId xmlns:a16="http://schemas.microsoft.com/office/drawing/2014/main" id="{5D2BF202-9F55-40C8-9EAC-E4044572E3E5}"/>
                </a:ext>
              </a:extLst>
            </p:cNvPr>
            <p:cNvSpPr/>
            <p:nvPr/>
          </p:nvSpPr>
          <p:spPr>
            <a:xfrm>
              <a:off x="971550" y="237976"/>
              <a:ext cx="12192000" cy="104804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ubtitle 2">
              <a:extLst>
                <a:ext uri="{FF2B5EF4-FFF2-40B4-BE49-F238E27FC236}">
                  <a16:creationId xmlns:a16="http://schemas.microsoft.com/office/drawing/2014/main" id="{A9DFA511-3CF8-496E-9FCA-CBDEF19FB747}"/>
                </a:ext>
              </a:extLst>
            </p:cNvPr>
            <p:cNvSpPr txBox="1">
              <a:spLocks/>
            </p:cNvSpPr>
            <p:nvPr/>
          </p:nvSpPr>
          <p:spPr>
            <a:xfrm>
              <a:off x="1873306" y="978120"/>
              <a:ext cx="9144000" cy="474488"/>
            </a:xfrm>
            <a:prstGeom prst="rect">
              <a:avLst/>
            </a:prstGeom>
            <a:no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b="1" dirty="0">
                  <a:solidFill>
                    <a:schemeClr val="bg1"/>
                  </a:solidFill>
                  <a:latin typeface="Bebas Neue" panose="020B0606020202050201" pitchFamily="34" charset="0"/>
                </a:rPr>
                <a:t>Clinics Appointment Management System</a:t>
              </a:r>
              <a:endParaRPr lang="en-US" dirty="0">
                <a:solidFill>
                  <a:schemeClr val="bg1"/>
                </a:solidFill>
                <a:latin typeface="Bebas Neue" panose="020B0606020202050201" pitchFamily="34" charset="0"/>
              </a:endParaRPr>
            </a:p>
          </p:txBody>
        </p:sp>
      </p:grpSp>
    </p:spTree>
    <p:extLst>
      <p:ext uri="{BB962C8B-B14F-4D97-AF65-F5344CB8AC3E}">
        <p14:creationId xmlns:p14="http://schemas.microsoft.com/office/powerpoint/2010/main" val="28664258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D2BF202-9F55-40C8-9EAC-E4044572E3E5}"/>
              </a:ext>
            </a:extLst>
          </p:cNvPr>
          <p:cNvSpPr/>
          <p:nvPr/>
        </p:nvSpPr>
        <p:spPr>
          <a:xfrm rot="16200000">
            <a:off x="-5400957" y="4412317"/>
            <a:ext cx="12192000" cy="1271589"/>
          </a:xfrm>
          <a:prstGeom prst="rect">
            <a:avLst/>
          </a:prstGeom>
          <a:solidFill>
            <a:srgbClr val="76F6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BAEEA78-CD22-413B-95F1-326FA7457CCD}"/>
              </a:ext>
            </a:extLst>
          </p:cNvPr>
          <p:cNvSpPr>
            <a:spLocks noGrp="1"/>
          </p:cNvSpPr>
          <p:nvPr>
            <p:ph type="title"/>
          </p:nvPr>
        </p:nvSpPr>
        <p:spPr>
          <a:xfrm>
            <a:off x="1330838" y="2913575"/>
            <a:ext cx="10515600" cy="1325563"/>
          </a:xfrm>
        </p:spPr>
        <p:txBody>
          <a:bodyPr>
            <a:noAutofit/>
          </a:bodyPr>
          <a:lstStyle/>
          <a:p>
            <a:pPr algn="ctr"/>
            <a:r>
              <a:rPr lang="en-US" sz="6600" dirty="0" smtClean="0">
                <a:solidFill>
                  <a:srgbClr val="566A6A"/>
                </a:solidFill>
                <a:latin typeface="Bebas Neue" panose="020B0606020202050201" pitchFamily="34" charset="0"/>
                <a:ea typeface="Adobe Gothic Std B" panose="020B0800000000000000" pitchFamily="34" charset="-128"/>
                <a:cs typeface="Adobe Arabic" panose="02040503050201020203" pitchFamily="18" charset="-78"/>
              </a:rPr>
              <a:t>PROGRAM HEIRARCHY</a:t>
            </a:r>
            <a:endParaRPr lang="en-US" sz="6600" dirty="0">
              <a:solidFill>
                <a:srgbClr val="566A6A"/>
              </a:solidFill>
              <a:latin typeface="Bebas Neue" panose="020B0606020202050201" pitchFamily="34" charset="0"/>
              <a:ea typeface="Adobe Gothic Std B" panose="020B0800000000000000" pitchFamily="34" charset="-128"/>
              <a:cs typeface="Adobe Arabic" panose="02040503050201020203" pitchFamily="18" charset="-78"/>
            </a:endParaRPr>
          </a:p>
        </p:txBody>
      </p:sp>
      <p:grpSp>
        <p:nvGrpSpPr>
          <p:cNvPr id="7" name="Group 6">
            <a:extLst>
              <a:ext uri="{FF2B5EF4-FFF2-40B4-BE49-F238E27FC236}">
                <a16:creationId xmlns:a16="http://schemas.microsoft.com/office/drawing/2014/main" id="{8D1A272E-DE64-4E30-A4E9-8AD35B3A7EA1}"/>
              </a:ext>
            </a:extLst>
          </p:cNvPr>
          <p:cNvGrpSpPr/>
          <p:nvPr/>
        </p:nvGrpSpPr>
        <p:grpSpPr>
          <a:xfrm rot="16200000">
            <a:off x="-5502019" y="4511278"/>
            <a:ext cx="12192000" cy="1473711"/>
            <a:chOff x="971550" y="237976"/>
            <a:chExt cx="12192000" cy="1214632"/>
          </a:xfrm>
          <a:solidFill>
            <a:srgbClr val="22C7B7"/>
          </a:solidFill>
        </p:grpSpPr>
        <p:sp>
          <p:nvSpPr>
            <p:cNvPr id="10" name="Rectangle 9">
              <a:extLst>
                <a:ext uri="{FF2B5EF4-FFF2-40B4-BE49-F238E27FC236}">
                  <a16:creationId xmlns:a16="http://schemas.microsoft.com/office/drawing/2014/main" id="{5D2BF202-9F55-40C8-9EAC-E4044572E3E5}"/>
                </a:ext>
              </a:extLst>
            </p:cNvPr>
            <p:cNvSpPr/>
            <p:nvPr/>
          </p:nvSpPr>
          <p:spPr>
            <a:xfrm>
              <a:off x="971550" y="237976"/>
              <a:ext cx="12192000" cy="104804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ubtitle 2">
              <a:extLst>
                <a:ext uri="{FF2B5EF4-FFF2-40B4-BE49-F238E27FC236}">
                  <a16:creationId xmlns:a16="http://schemas.microsoft.com/office/drawing/2014/main" id="{A9DFA511-3CF8-496E-9FCA-CBDEF19FB747}"/>
                </a:ext>
              </a:extLst>
            </p:cNvPr>
            <p:cNvSpPr txBox="1">
              <a:spLocks/>
            </p:cNvSpPr>
            <p:nvPr/>
          </p:nvSpPr>
          <p:spPr>
            <a:xfrm>
              <a:off x="1873306" y="978120"/>
              <a:ext cx="9144000" cy="474488"/>
            </a:xfrm>
            <a:prstGeom prst="rect">
              <a:avLst/>
            </a:prstGeom>
            <a:no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b="1" dirty="0">
                  <a:solidFill>
                    <a:schemeClr val="bg1"/>
                  </a:solidFill>
                  <a:latin typeface="Bebas Neue" panose="020B0606020202050201" pitchFamily="34" charset="0"/>
                </a:rPr>
                <a:t>Clinics Appointment Management System</a:t>
              </a:r>
              <a:endParaRPr lang="en-US" dirty="0">
                <a:solidFill>
                  <a:schemeClr val="bg1"/>
                </a:solidFill>
                <a:latin typeface="Bebas Neue" panose="020B0606020202050201" pitchFamily="34" charset="0"/>
              </a:endParaRPr>
            </a:p>
          </p:txBody>
        </p:sp>
      </p:grpSp>
    </p:spTree>
    <p:extLst>
      <p:ext uri="{BB962C8B-B14F-4D97-AF65-F5344CB8AC3E}">
        <p14:creationId xmlns:p14="http://schemas.microsoft.com/office/powerpoint/2010/main" val="2821361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D2BF202-9F55-40C8-9EAC-E4044572E3E5}"/>
              </a:ext>
            </a:extLst>
          </p:cNvPr>
          <p:cNvSpPr/>
          <p:nvPr/>
        </p:nvSpPr>
        <p:spPr>
          <a:xfrm rot="16200000">
            <a:off x="-5400957" y="4412317"/>
            <a:ext cx="12192000" cy="1271589"/>
          </a:xfrm>
          <a:prstGeom prst="rect">
            <a:avLst/>
          </a:prstGeom>
          <a:solidFill>
            <a:srgbClr val="76F6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BAEEA78-CD22-413B-95F1-326FA7457CCD}"/>
              </a:ext>
            </a:extLst>
          </p:cNvPr>
          <p:cNvSpPr>
            <a:spLocks noGrp="1"/>
          </p:cNvSpPr>
          <p:nvPr>
            <p:ph type="title"/>
          </p:nvPr>
        </p:nvSpPr>
        <p:spPr>
          <a:xfrm>
            <a:off x="1330838" y="635596"/>
            <a:ext cx="10515600" cy="1325563"/>
          </a:xfrm>
        </p:spPr>
        <p:txBody>
          <a:bodyPr>
            <a:noAutofit/>
          </a:bodyPr>
          <a:lstStyle/>
          <a:p>
            <a:r>
              <a:rPr lang="en-US" sz="6600" dirty="0">
                <a:solidFill>
                  <a:srgbClr val="566A6A"/>
                </a:solidFill>
                <a:latin typeface="Bebas Neue" panose="020B0606020202050201" pitchFamily="34" charset="0"/>
                <a:ea typeface="Adobe Gothic Std B" panose="020B0800000000000000" pitchFamily="34" charset="-128"/>
                <a:cs typeface="Adobe Arabic" panose="02040503050201020203" pitchFamily="18" charset="-78"/>
              </a:rPr>
              <a:t>Development</a:t>
            </a:r>
          </a:p>
        </p:txBody>
      </p:sp>
      <p:sp>
        <p:nvSpPr>
          <p:cNvPr id="3" name="Content Placeholder 2">
            <a:extLst>
              <a:ext uri="{FF2B5EF4-FFF2-40B4-BE49-F238E27FC236}">
                <a16:creationId xmlns:a16="http://schemas.microsoft.com/office/drawing/2014/main" id="{3C180F0A-4B45-428F-8BD4-FD0A59405DA9}"/>
              </a:ext>
            </a:extLst>
          </p:cNvPr>
          <p:cNvSpPr>
            <a:spLocks noGrp="1"/>
          </p:cNvSpPr>
          <p:nvPr>
            <p:ph idx="1"/>
          </p:nvPr>
        </p:nvSpPr>
        <p:spPr>
          <a:xfrm>
            <a:off x="1330838" y="1961159"/>
            <a:ext cx="10687052" cy="2486150"/>
          </a:xfrm>
        </p:spPr>
        <p:txBody>
          <a:bodyPr>
            <a:noAutofit/>
          </a:bodyPr>
          <a:lstStyle/>
          <a:p>
            <a:r>
              <a:rPr lang="en-US" sz="2400" dirty="0">
                <a:solidFill>
                  <a:srgbClr val="566A6B"/>
                </a:solidFill>
                <a:latin typeface="Adobe Gothic Std B" panose="020B0800000000000000" pitchFamily="34" charset="-128"/>
                <a:ea typeface="Adobe Gothic Std B" panose="020B0800000000000000" pitchFamily="34" charset="-128"/>
              </a:rPr>
              <a:t>It uses </a:t>
            </a:r>
            <a:r>
              <a:rPr lang="en-US" sz="2400" dirty="0" err="1">
                <a:solidFill>
                  <a:srgbClr val="566A6B"/>
                </a:solidFill>
                <a:latin typeface="Adobe Gothic Std B" panose="020B0800000000000000" pitchFamily="34" charset="-128"/>
                <a:ea typeface="Adobe Gothic Std B" panose="020B0800000000000000" pitchFamily="34" charset="-128"/>
              </a:rPr>
              <a:t>Codeigniter</a:t>
            </a:r>
            <a:r>
              <a:rPr lang="en-US" sz="2400" dirty="0">
                <a:solidFill>
                  <a:srgbClr val="566A6B"/>
                </a:solidFill>
                <a:latin typeface="Adobe Gothic Std B" panose="020B0800000000000000" pitchFamily="34" charset="-128"/>
                <a:ea typeface="Adobe Gothic Std B" panose="020B0800000000000000" pitchFamily="34" charset="-128"/>
              </a:rPr>
              <a:t> framework which follows the model-view-controller (MVC) architectural pattern for easy manipulation of databases, a plus for its mobility and for well-documentation.  </a:t>
            </a:r>
          </a:p>
          <a:p>
            <a:endParaRPr lang="en-US" sz="2400" dirty="0">
              <a:solidFill>
                <a:srgbClr val="566A6B"/>
              </a:solidFill>
              <a:latin typeface="Adobe Gothic Std B" panose="020B0800000000000000" pitchFamily="34" charset="-128"/>
              <a:ea typeface="Adobe Gothic Std B" panose="020B0800000000000000" pitchFamily="34" charset="-128"/>
            </a:endParaRPr>
          </a:p>
          <a:p>
            <a:r>
              <a:rPr lang="en-US" sz="2400" dirty="0">
                <a:solidFill>
                  <a:srgbClr val="566A6B"/>
                </a:solidFill>
                <a:latin typeface="Adobe Gothic Std B" panose="020B0800000000000000" pitchFamily="34" charset="-128"/>
                <a:ea typeface="Adobe Gothic Std B" panose="020B0800000000000000" pitchFamily="34" charset="-128"/>
              </a:rPr>
              <a:t>It uses MySQL  since it is a free, open-source database management system. It is very stable and has a big community that helps maintain and debug it.</a:t>
            </a:r>
          </a:p>
          <a:p>
            <a:endParaRPr lang="en-US" sz="2400" dirty="0">
              <a:solidFill>
                <a:srgbClr val="566A6B"/>
              </a:solidFill>
              <a:latin typeface="Adobe Gothic Std B" panose="020B0800000000000000" pitchFamily="34" charset="-128"/>
              <a:ea typeface="Adobe Gothic Std B" panose="020B0800000000000000" pitchFamily="34" charset="-128"/>
            </a:endParaRPr>
          </a:p>
        </p:txBody>
      </p:sp>
      <p:grpSp>
        <p:nvGrpSpPr>
          <p:cNvPr id="7" name="Group 6">
            <a:extLst>
              <a:ext uri="{FF2B5EF4-FFF2-40B4-BE49-F238E27FC236}">
                <a16:creationId xmlns:a16="http://schemas.microsoft.com/office/drawing/2014/main" id="{8D1A272E-DE64-4E30-A4E9-8AD35B3A7EA1}"/>
              </a:ext>
            </a:extLst>
          </p:cNvPr>
          <p:cNvGrpSpPr/>
          <p:nvPr/>
        </p:nvGrpSpPr>
        <p:grpSpPr>
          <a:xfrm rot="16200000">
            <a:off x="-5502019" y="4511278"/>
            <a:ext cx="12192000" cy="1473711"/>
            <a:chOff x="971550" y="237976"/>
            <a:chExt cx="12192000" cy="1214632"/>
          </a:xfrm>
          <a:solidFill>
            <a:srgbClr val="22C7B7"/>
          </a:solidFill>
        </p:grpSpPr>
        <p:sp>
          <p:nvSpPr>
            <p:cNvPr id="10" name="Rectangle 9">
              <a:extLst>
                <a:ext uri="{FF2B5EF4-FFF2-40B4-BE49-F238E27FC236}">
                  <a16:creationId xmlns:a16="http://schemas.microsoft.com/office/drawing/2014/main" id="{5D2BF202-9F55-40C8-9EAC-E4044572E3E5}"/>
                </a:ext>
              </a:extLst>
            </p:cNvPr>
            <p:cNvSpPr/>
            <p:nvPr/>
          </p:nvSpPr>
          <p:spPr>
            <a:xfrm>
              <a:off x="971550" y="237976"/>
              <a:ext cx="12192000" cy="104804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ubtitle 2">
              <a:extLst>
                <a:ext uri="{FF2B5EF4-FFF2-40B4-BE49-F238E27FC236}">
                  <a16:creationId xmlns:a16="http://schemas.microsoft.com/office/drawing/2014/main" id="{A9DFA511-3CF8-496E-9FCA-CBDEF19FB747}"/>
                </a:ext>
              </a:extLst>
            </p:cNvPr>
            <p:cNvSpPr txBox="1">
              <a:spLocks/>
            </p:cNvSpPr>
            <p:nvPr/>
          </p:nvSpPr>
          <p:spPr>
            <a:xfrm>
              <a:off x="1873306" y="978120"/>
              <a:ext cx="9144000" cy="474488"/>
            </a:xfrm>
            <a:prstGeom prst="rect">
              <a:avLst/>
            </a:prstGeom>
            <a:no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b="1" dirty="0">
                  <a:solidFill>
                    <a:schemeClr val="bg1"/>
                  </a:solidFill>
                  <a:latin typeface="Bebas Neue" panose="020B0606020202050201" pitchFamily="34" charset="0"/>
                </a:rPr>
                <a:t>Clinics Appointment Management System</a:t>
              </a:r>
              <a:endParaRPr lang="en-US" dirty="0">
                <a:solidFill>
                  <a:schemeClr val="bg1"/>
                </a:solidFill>
                <a:latin typeface="Bebas Neue" panose="020B0606020202050201" pitchFamily="34" charset="0"/>
              </a:endParaRPr>
            </a:p>
          </p:txBody>
        </p:sp>
      </p:grpSp>
    </p:spTree>
    <p:extLst>
      <p:ext uri="{BB962C8B-B14F-4D97-AF65-F5344CB8AC3E}">
        <p14:creationId xmlns:p14="http://schemas.microsoft.com/office/powerpoint/2010/main" val="5647158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D2BF202-9F55-40C8-9EAC-E4044572E3E5}"/>
              </a:ext>
            </a:extLst>
          </p:cNvPr>
          <p:cNvSpPr/>
          <p:nvPr/>
        </p:nvSpPr>
        <p:spPr>
          <a:xfrm rot="16200000">
            <a:off x="-5400957" y="4412317"/>
            <a:ext cx="12192000" cy="1271589"/>
          </a:xfrm>
          <a:prstGeom prst="rect">
            <a:avLst/>
          </a:prstGeom>
          <a:solidFill>
            <a:srgbClr val="76F6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BAEEA78-CD22-413B-95F1-326FA7457CCD}"/>
              </a:ext>
            </a:extLst>
          </p:cNvPr>
          <p:cNvSpPr>
            <a:spLocks noGrp="1"/>
          </p:cNvSpPr>
          <p:nvPr>
            <p:ph type="title"/>
          </p:nvPr>
        </p:nvSpPr>
        <p:spPr>
          <a:xfrm>
            <a:off x="1330838" y="635596"/>
            <a:ext cx="10515600" cy="1325563"/>
          </a:xfrm>
        </p:spPr>
        <p:txBody>
          <a:bodyPr>
            <a:noAutofit/>
          </a:bodyPr>
          <a:lstStyle/>
          <a:p>
            <a:r>
              <a:rPr lang="en-US" sz="6600" dirty="0">
                <a:solidFill>
                  <a:srgbClr val="566A6A"/>
                </a:solidFill>
                <a:latin typeface="Bebas Neue" panose="020B0606020202050201" pitchFamily="34" charset="0"/>
                <a:ea typeface="Adobe Gothic Std B" panose="020B0800000000000000" pitchFamily="34" charset="-128"/>
                <a:cs typeface="Adobe Arabic" panose="02040503050201020203" pitchFamily="18" charset="-78"/>
              </a:rPr>
              <a:t>Testing</a:t>
            </a:r>
          </a:p>
        </p:txBody>
      </p:sp>
      <p:sp>
        <p:nvSpPr>
          <p:cNvPr id="3" name="Content Placeholder 2">
            <a:extLst>
              <a:ext uri="{FF2B5EF4-FFF2-40B4-BE49-F238E27FC236}">
                <a16:creationId xmlns:a16="http://schemas.microsoft.com/office/drawing/2014/main" id="{3C180F0A-4B45-428F-8BD4-FD0A59405DA9}"/>
              </a:ext>
            </a:extLst>
          </p:cNvPr>
          <p:cNvSpPr>
            <a:spLocks noGrp="1"/>
          </p:cNvSpPr>
          <p:nvPr>
            <p:ph idx="1"/>
          </p:nvPr>
        </p:nvSpPr>
        <p:spPr>
          <a:xfrm>
            <a:off x="1330838" y="1961159"/>
            <a:ext cx="10687052" cy="2486150"/>
          </a:xfrm>
        </p:spPr>
        <p:txBody>
          <a:bodyPr>
            <a:noAutofit/>
          </a:bodyPr>
          <a:lstStyle/>
          <a:p>
            <a:r>
              <a:rPr lang="en-US" sz="2400" dirty="0">
                <a:solidFill>
                  <a:srgbClr val="566A6B"/>
                </a:solidFill>
                <a:latin typeface="Adobe Gothic Std B" panose="020B0800000000000000" pitchFamily="34" charset="-128"/>
                <a:ea typeface="Adobe Gothic Std B" panose="020B0800000000000000" pitchFamily="34" charset="-128"/>
              </a:rPr>
              <a:t>In the development, testing is essential as it serves as a guide to point out errors that were made. </a:t>
            </a:r>
          </a:p>
          <a:p>
            <a:endParaRPr lang="en-US" sz="2400" dirty="0">
              <a:solidFill>
                <a:srgbClr val="566A6B"/>
              </a:solidFill>
              <a:latin typeface="Adobe Gothic Std B" panose="020B0800000000000000" pitchFamily="34" charset="-128"/>
              <a:ea typeface="Adobe Gothic Std B" panose="020B0800000000000000" pitchFamily="34" charset="-128"/>
            </a:endParaRPr>
          </a:p>
          <a:p>
            <a:r>
              <a:rPr lang="en-US" sz="2400" dirty="0">
                <a:solidFill>
                  <a:srgbClr val="566A6B"/>
                </a:solidFill>
                <a:latin typeface="Adobe Gothic Std B" panose="020B0800000000000000" pitchFamily="34" charset="-128"/>
                <a:ea typeface="Adobe Gothic Std B" panose="020B0800000000000000" pitchFamily="34" charset="-128"/>
              </a:rPr>
              <a:t>The researchers conduct a study by interviewing five clinics and five patients asking how scheduling an appointment is done before, during, and after the consultation.</a:t>
            </a:r>
          </a:p>
          <a:p>
            <a:endParaRPr lang="en-US" sz="2400" dirty="0">
              <a:solidFill>
                <a:srgbClr val="566A6B"/>
              </a:solidFill>
              <a:latin typeface="Adobe Gothic Std B" panose="020B0800000000000000" pitchFamily="34" charset="-128"/>
              <a:ea typeface="Adobe Gothic Std B" panose="020B0800000000000000" pitchFamily="34" charset="-128"/>
            </a:endParaRPr>
          </a:p>
          <a:p>
            <a:r>
              <a:rPr lang="en-US" sz="2400" dirty="0">
                <a:solidFill>
                  <a:srgbClr val="566A6B"/>
                </a:solidFill>
                <a:latin typeface="Adobe Gothic Std B" panose="020B0800000000000000" pitchFamily="34" charset="-128"/>
                <a:ea typeface="Adobe Gothic Std B" panose="020B0800000000000000" pitchFamily="34" charset="-128"/>
              </a:rPr>
              <a:t>The researchers will assess and evaluate the results and use them to improve the system efficiently and effectively for the users. </a:t>
            </a:r>
          </a:p>
        </p:txBody>
      </p:sp>
      <p:grpSp>
        <p:nvGrpSpPr>
          <p:cNvPr id="7" name="Group 6">
            <a:extLst>
              <a:ext uri="{FF2B5EF4-FFF2-40B4-BE49-F238E27FC236}">
                <a16:creationId xmlns:a16="http://schemas.microsoft.com/office/drawing/2014/main" id="{8D1A272E-DE64-4E30-A4E9-8AD35B3A7EA1}"/>
              </a:ext>
            </a:extLst>
          </p:cNvPr>
          <p:cNvGrpSpPr/>
          <p:nvPr/>
        </p:nvGrpSpPr>
        <p:grpSpPr>
          <a:xfrm rot="16200000">
            <a:off x="-5502019" y="4511278"/>
            <a:ext cx="12192000" cy="1473711"/>
            <a:chOff x="971550" y="237976"/>
            <a:chExt cx="12192000" cy="1214632"/>
          </a:xfrm>
          <a:solidFill>
            <a:srgbClr val="22C7B7"/>
          </a:solidFill>
        </p:grpSpPr>
        <p:sp>
          <p:nvSpPr>
            <p:cNvPr id="10" name="Rectangle 9">
              <a:extLst>
                <a:ext uri="{FF2B5EF4-FFF2-40B4-BE49-F238E27FC236}">
                  <a16:creationId xmlns:a16="http://schemas.microsoft.com/office/drawing/2014/main" id="{5D2BF202-9F55-40C8-9EAC-E4044572E3E5}"/>
                </a:ext>
              </a:extLst>
            </p:cNvPr>
            <p:cNvSpPr/>
            <p:nvPr/>
          </p:nvSpPr>
          <p:spPr>
            <a:xfrm>
              <a:off x="971550" y="237976"/>
              <a:ext cx="12192000" cy="104804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ubtitle 2">
              <a:extLst>
                <a:ext uri="{FF2B5EF4-FFF2-40B4-BE49-F238E27FC236}">
                  <a16:creationId xmlns:a16="http://schemas.microsoft.com/office/drawing/2014/main" id="{A9DFA511-3CF8-496E-9FCA-CBDEF19FB747}"/>
                </a:ext>
              </a:extLst>
            </p:cNvPr>
            <p:cNvSpPr txBox="1">
              <a:spLocks/>
            </p:cNvSpPr>
            <p:nvPr/>
          </p:nvSpPr>
          <p:spPr>
            <a:xfrm>
              <a:off x="1873306" y="978120"/>
              <a:ext cx="9144000" cy="474488"/>
            </a:xfrm>
            <a:prstGeom prst="rect">
              <a:avLst/>
            </a:prstGeom>
            <a:no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b="1" dirty="0">
                  <a:solidFill>
                    <a:schemeClr val="bg1"/>
                  </a:solidFill>
                  <a:latin typeface="Bebas Neue" panose="020B0606020202050201" pitchFamily="34" charset="0"/>
                </a:rPr>
                <a:t>Clinics Appointment Management System</a:t>
              </a:r>
              <a:endParaRPr lang="en-US" dirty="0">
                <a:solidFill>
                  <a:schemeClr val="bg1"/>
                </a:solidFill>
                <a:latin typeface="Bebas Neue" panose="020B0606020202050201" pitchFamily="34" charset="0"/>
              </a:endParaRPr>
            </a:p>
          </p:txBody>
        </p:sp>
      </p:grpSp>
    </p:spTree>
    <p:extLst>
      <p:ext uri="{BB962C8B-B14F-4D97-AF65-F5344CB8AC3E}">
        <p14:creationId xmlns:p14="http://schemas.microsoft.com/office/powerpoint/2010/main" val="39942009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AEEA78-CD22-413B-95F1-326FA7457CCD}"/>
              </a:ext>
            </a:extLst>
          </p:cNvPr>
          <p:cNvSpPr>
            <a:spLocks noGrp="1"/>
          </p:cNvSpPr>
          <p:nvPr>
            <p:ph type="title"/>
          </p:nvPr>
        </p:nvSpPr>
        <p:spPr>
          <a:xfrm>
            <a:off x="876734" y="2716257"/>
            <a:ext cx="10515600" cy="1325563"/>
          </a:xfrm>
        </p:spPr>
        <p:txBody>
          <a:bodyPr>
            <a:noAutofit/>
          </a:bodyPr>
          <a:lstStyle/>
          <a:p>
            <a:pPr algn="ctr"/>
            <a:r>
              <a:rPr lang="en-US" sz="6600" dirty="0">
                <a:solidFill>
                  <a:srgbClr val="566A6B"/>
                </a:solidFill>
                <a:latin typeface="Bebas Neue" panose="020B0606020202050201" pitchFamily="34" charset="0"/>
                <a:ea typeface="Adobe Gothic Std B" panose="020B0800000000000000" pitchFamily="34" charset="-128"/>
                <a:cs typeface="Adobe Arabic" panose="02040503050201020203" pitchFamily="18" charset="-78"/>
              </a:rPr>
              <a:t>CHAPTER 4: </a:t>
            </a:r>
            <a:br>
              <a:rPr lang="en-US" sz="6600" dirty="0">
                <a:solidFill>
                  <a:srgbClr val="566A6B"/>
                </a:solidFill>
                <a:latin typeface="Bebas Neue" panose="020B0606020202050201" pitchFamily="34" charset="0"/>
                <a:ea typeface="Adobe Gothic Std B" panose="020B0800000000000000" pitchFamily="34" charset="-128"/>
                <a:cs typeface="Adobe Arabic" panose="02040503050201020203" pitchFamily="18" charset="-78"/>
              </a:rPr>
            </a:br>
            <a:r>
              <a:rPr lang="en-US" sz="6600" dirty="0">
                <a:solidFill>
                  <a:srgbClr val="566A6B"/>
                </a:solidFill>
                <a:latin typeface="Bebas Neue" panose="020B0606020202050201" pitchFamily="34" charset="0"/>
                <a:ea typeface="Adobe Gothic Std B" panose="020B0800000000000000" pitchFamily="34" charset="-128"/>
                <a:cs typeface="Adobe Arabic" panose="02040503050201020203" pitchFamily="18" charset="-78"/>
              </a:rPr>
              <a:t>RECOMMENDATIONS</a:t>
            </a:r>
            <a:endParaRPr lang="en-US" sz="6600" dirty="0">
              <a:solidFill>
                <a:srgbClr val="566A6B"/>
              </a:solidFill>
              <a:latin typeface="Bebas Neue" panose="020B0606020202050201" pitchFamily="34" charset="0"/>
              <a:ea typeface="Adobe Gothic Std B" panose="020B0800000000000000" pitchFamily="34" charset="-128"/>
              <a:cs typeface="Adobe Arabic" panose="02040503050201020203" pitchFamily="18" charset="-78"/>
            </a:endParaRPr>
          </a:p>
        </p:txBody>
      </p:sp>
      <p:sp>
        <p:nvSpPr>
          <p:cNvPr id="13" name="Rectangle 12">
            <a:extLst>
              <a:ext uri="{FF2B5EF4-FFF2-40B4-BE49-F238E27FC236}">
                <a16:creationId xmlns:a16="http://schemas.microsoft.com/office/drawing/2014/main" id="{5D2BF202-9F55-40C8-9EAC-E4044572E3E5}"/>
              </a:ext>
            </a:extLst>
          </p:cNvPr>
          <p:cNvSpPr/>
          <p:nvPr/>
        </p:nvSpPr>
        <p:spPr>
          <a:xfrm rot="16200000">
            <a:off x="-5400957" y="4412317"/>
            <a:ext cx="12192000" cy="1271589"/>
          </a:xfrm>
          <a:prstGeom prst="rect">
            <a:avLst/>
          </a:prstGeom>
          <a:solidFill>
            <a:srgbClr val="76F6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a:extLst>
              <a:ext uri="{FF2B5EF4-FFF2-40B4-BE49-F238E27FC236}">
                <a16:creationId xmlns:a16="http://schemas.microsoft.com/office/drawing/2014/main" id="{8D1A272E-DE64-4E30-A4E9-8AD35B3A7EA1}"/>
              </a:ext>
            </a:extLst>
          </p:cNvPr>
          <p:cNvGrpSpPr/>
          <p:nvPr/>
        </p:nvGrpSpPr>
        <p:grpSpPr>
          <a:xfrm rot="16200000">
            <a:off x="-5502019" y="4511278"/>
            <a:ext cx="12192000" cy="1473711"/>
            <a:chOff x="971550" y="237976"/>
            <a:chExt cx="12192000" cy="1214632"/>
          </a:xfrm>
          <a:solidFill>
            <a:srgbClr val="22C7B7"/>
          </a:solidFill>
        </p:grpSpPr>
        <p:sp>
          <p:nvSpPr>
            <p:cNvPr id="10" name="Rectangle 9">
              <a:extLst>
                <a:ext uri="{FF2B5EF4-FFF2-40B4-BE49-F238E27FC236}">
                  <a16:creationId xmlns:a16="http://schemas.microsoft.com/office/drawing/2014/main" id="{5D2BF202-9F55-40C8-9EAC-E4044572E3E5}"/>
                </a:ext>
              </a:extLst>
            </p:cNvPr>
            <p:cNvSpPr/>
            <p:nvPr/>
          </p:nvSpPr>
          <p:spPr>
            <a:xfrm>
              <a:off x="971550" y="237976"/>
              <a:ext cx="12192000" cy="104804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ubtitle 2">
              <a:extLst>
                <a:ext uri="{FF2B5EF4-FFF2-40B4-BE49-F238E27FC236}">
                  <a16:creationId xmlns:a16="http://schemas.microsoft.com/office/drawing/2014/main" id="{A9DFA511-3CF8-496E-9FCA-CBDEF19FB747}"/>
                </a:ext>
              </a:extLst>
            </p:cNvPr>
            <p:cNvSpPr txBox="1">
              <a:spLocks/>
            </p:cNvSpPr>
            <p:nvPr/>
          </p:nvSpPr>
          <p:spPr>
            <a:xfrm>
              <a:off x="1873306" y="978120"/>
              <a:ext cx="9144000" cy="474488"/>
            </a:xfrm>
            <a:prstGeom prst="rect">
              <a:avLst/>
            </a:prstGeom>
            <a:no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b="1" dirty="0">
                  <a:solidFill>
                    <a:schemeClr val="bg1"/>
                  </a:solidFill>
                  <a:latin typeface="Bebas Neue" panose="020B0606020202050201" pitchFamily="34" charset="0"/>
                </a:rPr>
                <a:t>Clinics Appointment Management System</a:t>
              </a:r>
              <a:endParaRPr lang="en-US" dirty="0">
                <a:solidFill>
                  <a:schemeClr val="bg1"/>
                </a:solidFill>
                <a:latin typeface="Bebas Neue" panose="020B0606020202050201" pitchFamily="34" charset="0"/>
              </a:endParaRPr>
            </a:p>
          </p:txBody>
        </p:sp>
      </p:grpSp>
      <p:sp>
        <p:nvSpPr>
          <p:cNvPr id="15" name="Rectangle 14"/>
          <p:cNvSpPr/>
          <p:nvPr/>
        </p:nvSpPr>
        <p:spPr>
          <a:xfrm rot="1215374">
            <a:off x="10811951" y="-1004911"/>
            <a:ext cx="2527300" cy="9402115"/>
          </a:xfrm>
          <a:prstGeom prst="rect">
            <a:avLst/>
          </a:prstGeom>
          <a:solidFill>
            <a:srgbClr val="76F6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rot="20333552">
            <a:off x="10811950" y="-1606375"/>
            <a:ext cx="2527300" cy="9402115"/>
          </a:xfrm>
          <a:prstGeom prst="rect">
            <a:avLst/>
          </a:prstGeom>
          <a:solidFill>
            <a:srgbClr val="22C7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22C7B7"/>
              </a:solidFill>
            </a:endParaRPr>
          </a:p>
        </p:txBody>
      </p:sp>
    </p:spTree>
    <p:extLst>
      <p:ext uri="{BB962C8B-B14F-4D97-AF65-F5344CB8AC3E}">
        <p14:creationId xmlns:p14="http://schemas.microsoft.com/office/powerpoint/2010/main" val="27122830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D2BF202-9F55-40C8-9EAC-E4044572E3E5}"/>
              </a:ext>
            </a:extLst>
          </p:cNvPr>
          <p:cNvSpPr/>
          <p:nvPr/>
        </p:nvSpPr>
        <p:spPr>
          <a:xfrm rot="16200000">
            <a:off x="-5400957" y="4412317"/>
            <a:ext cx="12192000" cy="1271589"/>
          </a:xfrm>
          <a:prstGeom prst="rect">
            <a:avLst/>
          </a:prstGeom>
          <a:solidFill>
            <a:srgbClr val="76F6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BAEEA78-CD22-413B-95F1-326FA7457CCD}"/>
              </a:ext>
            </a:extLst>
          </p:cNvPr>
          <p:cNvSpPr>
            <a:spLocks noGrp="1"/>
          </p:cNvSpPr>
          <p:nvPr>
            <p:ph type="title"/>
          </p:nvPr>
        </p:nvSpPr>
        <p:spPr>
          <a:xfrm>
            <a:off x="1330838" y="635596"/>
            <a:ext cx="10515600" cy="1325563"/>
          </a:xfrm>
        </p:spPr>
        <p:txBody>
          <a:bodyPr>
            <a:noAutofit/>
          </a:bodyPr>
          <a:lstStyle/>
          <a:p>
            <a:r>
              <a:rPr lang="en-US" sz="6600" dirty="0" smtClean="0">
                <a:solidFill>
                  <a:srgbClr val="566A6A"/>
                </a:solidFill>
                <a:latin typeface="Bebas Neue" panose="020B0606020202050201" pitchFamily="34" charset="0"/>
                <a:ea typeface="Adobe Gothic Std B" panose="020B0800000000000000" pitchFamily="34" charset="-128"/>
                <a:cs typeface="Adobe Arabic" panose="02040503050201020203" pitchFamily="18" charset="-78"/>
              </a:rPr>
              <a:t>Recommendations</a:t>
            </a:r>
            <a:endParaRPr lang="en-US" sz="6600" dirty="0">
              <a:solidFill>
                <a:srgbClr val="566A6A"/>
              </a:solidFill>
              <a:latin typeface="Bebas Neue" panose="020B0606020202050201" pitchFamily="34" charset="0"/>
              <a:ea typeface="Adobe Gothic Std B" panose="020B0800000000000000" pitchFamily="34" charset="-128"/>
              <a:cs typeface="Adobe Arabic" panose="02040503050201020203" pitchFamily="18" charset="-78"/>
            </a:endParaRPr>
          </a:p>
        </p:txBody>
      </p:sp>
      <p:sp>
        <p:nvSpPr>
          <p:cNvPr id="3" name="Content Placeholder 2">
            <a:extLst>
              <a:ext uri="{FF2B5EF4-FFF2-40B4-BE49-F238E27FC236}">
                <a16:creationId xmlns:a16="http://schemas.microsoft.com/office/drawing/2014/main" id="{3C180F0A-4B45-428F-8BD4-FD0A59405DA9}"/>
              </a:ext>
            </a:extLst>
          </p:cNvPr>
          <p:cNvSpPr>
            <a:spLocks noGrp="1"/>
          </p:cNvSpPr>
          <p:nvPr>
            <p:ph idx="1"/>
          </p:nvPr>
        </p:nvSpPr>
        <p:spPr>
          <a:xfrm>
            <a:off x="1330838" y="1961159"/>
            <a:ext cx="10687052" cy="2486150"/>
          </a:xfrm>
        </p:spPr>
        <p:txBody>
          <a:bodyPr>
            <a:noAutofit/>
          </a:bodyPr>
          <a:lstStyle/>
          <a:p>
            <a:r>
              <a:rPr lang="en-US" sz="2400" dirty="0">
                <a:solidFill>
                  <a:srgbClr val="566A6B"/>
                </a:solidFill>
                <a:latin typeface="Adobe Gothic Std B" panose="020B0800000000000000" pitchFamily="34" charset="-128"/>
                <a:ea typeface="Adobe Gothic Std B" panose="020B0800000000000000" pitchFamily="34" charset="-128"/>
              </a:rPr>
              <a:t>For further enhance the system, the following are recommended:</a:t>
            </a:r>
          </a:p>
          <a:p>
            <a:r>
              <a:rPr lang="en-US" sz="2400" dirty="0">
                <a:solidFill>
                  <a:srgbClr val="566A6B"/>
                </a:solidFill>
                <a:latin typeface="Adobe Gothic Std B" panose="020B0800000000000000" pitchFamily="34" charset="-128"/>
                <a:ea typeface="Adobe Gothic Std B" panose="020B0800000000000000" pitchFamily="34" charset="-128"/>
              </a:rPr>
              <a:t>1.	Add a pre-consultation and consultation modules for the patients.</a:t>
            </a:r>
          </a:p>
          <a:p>
            <a:r>
              <a:rPr lang="en-US" sz="2400" dirty="0">
                <a:solidFill>
                  <a:srgbClr val="566A6B"/>
                </a:solidFill>
                <a:latin typeface="Adobe Gothic Std B" panose="020B0800000000000000" pitchFamily="34" charset="-128"/>
                <a:ea typeface="Adobe Gothic Std B" panose="020B0800000000000000" pitchFamily="34" charset="-128"/>
              </a:rPr>
              <a:t>2.	Add a payments module that handles payments for consultations which includes the issuance of a payment slip (unofficial receipt).</a:t>
            </a:r>
          </a:p>
          <a:p>
            <a:r>
              <a:rPr lang="en-US" sz="2400" dirty="0">
                <a:solidFill>
                  <a:srgbClr val="566A6B"/>
                </a:solidFill>
                <a:latin typeface="Adobe Gothic Std B" panose="020B0800000000000000" pitchFamily="34" charset="-128"/>
                <a:ea typeface="Adobe Gothic Std B" panose="020B0800000000000000" pitchFamily="34" charset="-128"/>
              </a:rPr>
              <a:t>3.	Add a ledger on appointments or an appointments history for physicians and secretary and patients.</a:t>
            </a:r>
          </a:p>
        </p:txBody>
      </p:sp>
      <p:grpSp>
        <p:nvGrpSpPr>
          <p:cNvPr id="7" name="Group 6">
            <a:extLst>
              <a:ext uri="{FF2B5EF4-FFF2-40B4-BE49-F238E27FC236}">
                <a16:creationId xmlns:a16="http://schemas.microsoft.com/office/drawing/2014/main" id="{8D1A272E-DE64-4E30-A4E9-8AD35B3A7EA1}"/>
              </a:ext>
            </a:extLst>
          </p:cNvPr>
          <p:cNvGrpSpPr/>
          <p:nvPr/>
        </p:nvGrpSpPr>
        <p:grpSpPr>
          <a:xfrm rot="16200000">
            <a:off x="-5502019" y="4511278"/>
            <a:ext cx="12192000" cy="1473711"/>
            <a:chOff x="971550" y="237976"/>
            <a:chExt cx="12192000" cy="1214632"/>
          </a:xfrm>
          <a:solidFill>
            <a:srgbClr val="22C7B7"/>
          </a:solidFill>
        </p:grpSpPr>
        <p:sp>
          <p:nvSpPr>
            <p:cNvPr id="10" name="Rectangle 9">
              <a:extLst>
                <a:ext uri="{FF2B5EF4-FFF2-40B4-BE49-F238E27FC236}">
                  <a16:creationId xmlns:a16="http://schemas.microsoft.com/office/drawing/2014/main" id="{5D2BF202-9F55-40C8-9EAC-E4044572E3E5}"/>
                </a:ext>
              </a:extLst>
            </p:cNvPr>
            <p:cNvSpPr/>
            <p:nvPr/>
          </p:nvSpPr>
          <p:spPr>
            <a:xfrm>
              <a:off x="971550" y="237976"/>
              <a:ext cx="12192000" cy="104804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ubtitle 2">
              <a:extLst>
                <a:ext uri="{FF2B5EF4-FFF2-40B4-BE49-F238E27FC236}">
                  <a16:creationId xmlns:a16="http://schemas.microsoft.com/office/drawing/2014/main" id="{A9DFA511-3CF8-496E-9FCA-CBDEF19FB747}"/>
                </a:ext>
              </a:extLst>
            </p:cNvPr>
            <p:cNvSpPr txBox="1">
              <a:spLocks/>
            </p:cNvSpPr>
            <p:nvPr/>
          </p:nvSpPr>
          <p:spPr>
            <a:xfrm>
              <a:off x="1873306" y="978120"/>
              <a:ext cx="9144000" cy="474488"/>
            </a:xfrm>
            <a:prstGeom prst="rect">
              <a:avLst/>
            </a:prstGeom>
            <a:no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b="1" dirty="0">
                  <a:solidFill>
                    <a:schemeClr val="bg1"/>
                  </a:solidFill>
                  <a:latin typeface="Bebas Neue" panose="020B0606020202050201" pitchFamily="34" charset="0"/>
                </a:rPr>
                <a:t>Clinics Appointment Management System</a:t>
              </a:r>
              <a:endParaRPr lang="en-US" dirty="0">
                <a:solidFill>
                  <a:schemeClr val="bg1"/>
                </a:solidFill>
                <a:latin typeface="Bebas Neue" panose="020B0606020202050201" pitchFamily="34" charset="0"/>
              </a:endParaRPr>
            </a:p>
          </p:txBody>
        </p:sp>
      </p:grpSp>
    </p:spTree>
    <p:extLst>
      <p:ext uri="{BB962C8B-B14F-4D97-AF65-F5344CB8AC3E}">
        <p14:creationId xmlns:p14="http://schemas.microsoft.com/office/powerpoint/2010/main" val="16692667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AEEA78-CD22-413B-95F1-326FA7457CCD}"/>
              </a:ext>
            </a:extLst>
          </p:cNvPr>
          <p:cNvSpPr>
            <a:spLocks noGrp="1"/>
          </p:cNvSpPr>
          <p:nvPr>
            <p:ph type="title"/>
          </p:nvPr>
        </p:nvSpPr>
        <p:spPr>
          <a:xfrm>
            <a:off x="876734" y="2716257"/>
            <a:ext cx="10515600" cy="1325563"/>
          </a:xfrm>
        </p:spPr>
        <p:txBody>
          <a:bodyPr>
            <a:noAutofit/>
          </a:bodyPr>
          <a:lstStyle/>
          <a:p>
            <a:pPr algn="ctr"/>
            <a:r>
              <a:rPr lang="en-US" sz="6600" dirty="0">
                <a:solidFill>
                  <a:srgbClr val="566A6B"/>
                </a:solidFill>
                <a:latin typeface="Bebas Neue" panose="020B0606020202050201" pitchFamily="34" charset="0"/>
                <a:ea typeface="Adobe Gothic Std B" panose="020B0800000000000000" pitchFamily="34" charset="-128"/>
                <a:cs typeface="Adobe Arabic" panose="02040503050201020203" pitchFamily="18" charset="-78"/>
              </a:rPr>
              <a:t>CHAPTER 5: </a:t>
            </a:r>
            <a:br>
              <a:rPr lang="en-US" sz="6600" dirty="0">
                <a:solidFill>
                  <a:srgbClr val="566A6B"/>
                </a:solidFill>
                <a:latin typeface="Bebas Neue" panose="020B0606020202050201" pitchFamily="34" charset="0"/>
                <a:ea typeface="Adobe Gothic Std B" panose="020B0800000000000000" pitchFamily="34" charset="-128"/>
                <a:cs typeface="Adobe Arabic" panose="02040503050201020203" pitchFamily="18" charset="-78"/>
              </a:rPr>
            </a:br>
            <a:r>
              <a:rPr lang="en-US" sz="6600" dirty="0">
                <a:solidFill>
                  <a:srgbClr val="566A6B"/>
                </a:solidFill>
                <a:latin typeface="Bebas Neue" panose="020B0606020202050201" pitchFamily="34" charset="0"/>
                <a:ea typeface="Adobe Gothic Std B" panose="020B0800000000000000" pitchFamily="34" charset="-128"/>
                <a:cs typeface="Adobe Arabic" panose="02040503050201020203" pitchFamily="18" charset="-78"/>
              </a:rPr>
              <a:t>IMPLEMENTATION PLAN</a:t>
            </a:r>
            <a:endParaRPr lang="en-US" sz="6600" dirty="0">
              <a:solidFill>
                <a:srgbClr val="566A6B"/>
              </a:solidFill>
              <a:latin typeface="Bebas Neue" panose="020B0606020202050201" pitchFamily="34" charset="0"/>
              <a:ea typeface="Adobe Gothic Std B" panose="020B0800000000000000" pitchFamily="34" charset="-128"/>
              <a:cs typeface="Adobe Arabic" panose="02040503050201020203" pitchFamily="18" charset="-78"/>
            </a:endParaRPr>
          </a:p>
        </p:txBody>
      </p:sp>
      <p:sp>
        <p:nvSpPr>
          <p:cNvPr id="13" name="Rectangle 12">
            <a:extLst>
              <a:ext uri="{FF2B5EF4-FFF2-40B4-BE49-F238E27FC236}">
                <a16:creationId xmlns:a16="http://schemas.microsoft.com/office/drawing/2014/main" id="{5D2BF202-9F55-40C8-9EAC-E4044572E3E5}"/>
              </a:ext>
            </a:extLst>
          </p:cNvPr>
          <p:cNvSpPr/>
          <p:nvPr/>
        </p:nvSpPr>
        <p:spPr>
          <a:xfrm rot="16200000">
            <a:off x="-5400957" y="4412317"/>
            <a:ext cx="12192000" cy="1271589"/>
          </a:xfrm>
          <a:prstGeom prst="rect">
            <a:avLst/>
          </a:prstGeom>
          <a:solidFill>
            <a:srgbClr val="76F6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a:extLst>
              <a:ext uri="{FF2B5EF4-FFF2-40B4-BE49-F238E27FC236}">
                <a16:creationId xmlns:a16="http://schemas.microsoft.com/office/drawing/2014/main" id="{8D1A272E-DE64-4E30-A4E9-8AD35B3A7EA1}"/>
              </a:ext>
            </a:extLst>
          </p:cNvPr>
          <p:cNvGrpSpPr/>
          <p:nvPr/>
        </p:nvGrpSpPr>
        <p:grpSpPr>
          <a:xfrm rot="16200000">
            <a:off x="-5502019" y="4511278"/>
            <a:ext cx="12192000" cy="1473711"/>
            <a:chOff x="971550" y="237976"/>
            <a:chExt cx="12192000" cy="1214632"/>
          </a:xfrm>
          <a:solidFill>
            <a:srgbClr val="22C7B7"/>
          </a:solidFill>
        </p:grpSpPr>
        <p:sp>
          <p:nvSpPr>
            <p:cNvPr id="10" name="Rectangle 9">
              <a:extLst>
                <a:ext uri="{FF2B5EF4-FFF2-40B4-BE49-F238E27FC236}">
                  <a16:creationId xmlns:a16="http://schemas.microsoft.com/office/drawing/2014/main" id="{5D2BF202-9F55-40C8-9EAC-E4044572E3E5}"/>
                </a:ext>
              </a:extLst>
            </p:cNvPr>
            <p:cNvSpPr/>
            <p:nvPr/>
          </p:nvSpPr>
          <p:spPr>
            <a:xfrm>
              <a:off x="971550" y="237976"/>
              <a:ext cx="12192000" cy="104804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ubtitle 2">
              <a:extLst>
                <a:ext uri="{FF2B5EF4-FFF2-40B4-BE49-F238E27FC236}">
                  <a16:creationId xmlns:a16="http://schemas.microsoft.com/office/drawing/2014/main" id="{A9DFA511-3CF8-496E-9FCA-CBDEF19FB747}"/>
                </a:ext>
              </a:extLst>
            </p:cNvPr>
            <p:cNvSpPr txBox="1">
              <a:spLocks/>
            </p:cNvSpPr>
            <p:nvPr/>
          </p:nvSpPr>
          <p:spPr>
            <a:xfrm>
              <a:off x="1873306" y="978120"/>
              <a:ext cx="9144000" cy="474488"/>
            </a:xfrm>
            <a:prstGeom prst="rect">
              <a:avLst/>
            </a:prstGeom>
            <a:no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b="1" dirty="0">
                  <a:solidFill>
                    <a:schemeClr val="bg1"/>
                  </a:solidFill>
                  <a:latin typeface="Bebas Neue" panose="020B0606020202050201" pitchFamily="34" charset="0"/>
                </a:rPr>
                <a:t>Clinics Appointment Management System</a:t>
              </a:r>
              <a:endParaRPr lang="en-US" dirty="0">
                <a:solidFill>
                  <a:schemeClr val="bg1"/>
                </a:solidFill>
                <a:latin typeface="Bebas Neue" panose="020B0606020202050201" pitchFamily="34" charset="0"/>
              </a:endParaRPr>
            </a:p>
          </p:txBody>
        </p:sp>
      </p:grpSp>
      <p:sp>
        <p:nvSpPr>
          <p:cNvPr id="15" name="Rectangle 14"/>
          <p:cNvSpPr/>
          <p:nvPr/>
        </p:nvSpPr>
        <p:spPr>
          <a:xfrm rot="1215374">
            <a:off x="10811951" y="-1004911"/>
            <a:ext cx="2527300" cy="9402115"/>
          </a:xfrm>
          <a:prstGeom prst="rect">
            <a:avLst/>
          </a:prstGeom>
          <a:solidFill>
            <a:srgbClr val="76F6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rot="20333552">
            <a:off x="10811950" y="-1606375"/>
            <a:ext cx="2527300" cy="9402115"/>
          </a:xfrm>
          <a:prstGeom prst="rect">
            <a:avLst/>
          </a:prstGeom>
          <a:solidFill>
            <a:srgbClr val="22C7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22C7B7"/>
              </a:solidFill>
            </a:endParaRPr>
          </a:p>
        </p:txBody>
      </p:sp>
    </p:spTree>
    <p:extLst>
      <p:ext uri="{BB962C8B-B14F-4D97-AF65-F5344CB8AC3E}">
        <p14:creationId xmlns:p14="http://schemas.microsoft.com/office/powerpoint/2010/main" val="11528503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D2BF202-9F55-40C8-9EAC-E4044572E3E5}"/>
              </a:ext>
            </a:extLst>
          </p:cNvPr>
          <p:cNvSpPr/>
          <p:nvPr/>
        </p:nvSpPr>
        <p:spPr>
          <a:xfrm rot="16200000">
            <a:off x="-5400957" y="4412317"/>
            <a:ext cx="12192000" cy="1271589"/>
          </a:xfrm>
          <a:prstGeom prst="rect">
            <a:avLst/>
          </a:prstGeom>
          <a:solidFill>
            <a:srgbClr val="76F6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BAEEA78-CD22-413B-95F1-326FA7457CCD}"/>
              </a:ext>
            </a:extLst>
          </p:cNvPr>
          <p:cNvSpPr>
            <a:spLocks noGrp="1"/>
          </p:cNvSpPr>
          <p:nvPr>
            <p:ph type="title"/>
          </p:nvPr>
        </p:nvSpPr>
        <p:spPr>
          <a:xfrm>
            <a:off x="1330838" y="635596"/>
            <a:ext cx="10515600" cy="1325563"/>
          </a:xfrm>
        </p:spPr>
        <p:txBody>
          <a:bodyPr>
            <a:noAutofit/>
          </a:bodyPr>
          <a:lstStyle/>
          <a:p>
            <a:r>
              <a:rPr lang="en-US" sz="6600" dirty="0">
                <a:solidFill>
                  <a:srgbClr val="566A6A"/>
                </a:solidFill>
                <a:latin typeface="Bebas Neue" panose="020B0606020202050201" pitchFamily="34" charset="0"/>
                <a:ea typeface="Adobe Gothic Std B" panose="020B0800000000000000" pitchFamily="34" charset="-128"/>
                <a:cs typeface="Adobe Arabic" panose="02040503050201020203" pitchFamily="18" charset="-78"/>
              </a:rPr>
              <a:t>deployment plan</a:t>
            </a:r>
            <a:endParaRPr lang="en-US" sz="6600" dirty="0">
              <a:solidFill>
                <a:srgbClr val="566A6A"/>
              </a:solidFill>
              <a:latin typeface="Bebas Neue" panose="020B0606020202050201" pitchFamily="34" charset="0"/>
              <a:ea typeface="Adobe Gothic Std B" panose="020B0800000000000000" pitchFamily="34" charset="-128"/>
              <a:cs typeface="Adobe Arabic" panose="02040503050201020203" pitchFamily="18" charset="-78"/>
            </a:endParaRPr>
          </a:p>
        </p:txBody>
      </p:sp>
      <p:sp>
        <p:nvSpPr>
          <p:cNvPr id="3" name="Content Placeholder 2">
            <a:extLst>
              <a:ext uri="{FF2B5EF4-FFF2-40B4-BE49-F238E27FC236}">
                <a16:creationId xmlns:a16="http://schemas.microsoft.com/office/drawing/2014/main" id="{3C180F0A-4B45-428F-8BD4-FD0A59405DA9}"/>
              </a:ext>
            </a:extLst>
          </p:cNvPr>
          <p:cNvSpPr>
            <a:spLocks noGrp="1"/>
          </p:cNvSpPr>
          <p:nvPr>
            <p:ph idx="1"/>
          </p:nvPr>
        </p:nvSpPr>
        <p:spPr>
          <a:xfrm>
            <a:off x="1330838" y="1961159"/>
            <a:ext cx="10687052" cy="2486150"/>
          </a:xfrm>
        </p:spPr>
        <p:txBody>
          <a:bodyPr>
            <a:noAutofit/>
          </a:bodyPr>
          <a:lstStyle/>
          <a:p>
            <a:r>
              <a:rPr lang="en-US" sz="2400" dirty="0">
                <a:solidFill>
                  <a:srgbClr val="566A6B"/>
                </a:solidFill>
                <a:latin typeface="Adobe Gothic Std B" panose="020B0800000000000000" pitchFamily="34" charset="-128"/>
                <a:ea typeface="Adobe Gothic Std B" panose="020B0800000000000000" pitchFamily="34" charset="-128"/>
              </a:rPr>
              <a:t>The system can be accessed using a tablet, laptop of desktop computer with a relatively recent browser version such as Google Chrome and Mozilla Firefox. </a:t>
            </a:r>
            <a:endParaRPr lang="en-US" sz="2400" dirty="0" smtClean="0">
              <a:solidFill>
                <a:srgbClr val="566A6B"/>
              </a:solidFill>
              <a:latin typeface="Adobe Gothic Std B" panose="020B0800000000000000" pitchFamily="34" charset="-128"/>
              <a:ea typeface="Adobe Gothic Std B" panose="020B0800000000000000" pitchFamily="34" charset="-128"/>
            </a:endParaRPr>
          </a:p>
          <a:p>
            <a:endParaRPr lang="en-US" sz="2400" dirty="0" smtClean="0">
              <a:solidFill>
                <a:srgbClr val="566A6B"/>
              </a:solidFill>
              <a:latin typeface="Adobe Gothic Std B" panose="020B0800000000000000" pitchFamily="34" charset="-128"/>
              <a:ea typeface="Adobe Gothic Std B" panose="020B0800000000000000" pitchFamily="34" charset="-128"/>
            </a:endParaRPr>
          </a:p>
          <a:p>
            <a:r>
              <a:rPr lang="en-US" sz="2400" dirty="0" smtClean="0">
                <a:solidFill>
                  <a:srgbClr val="566A6B"/>
                </a:solidFill>
                <a:latin typeface="Adobe Gothic Std B" panose="020B0800000000000000" pitchFamily="34" charset="-128"/>
                <a:ea typeface="Adobe Gothic Std B" panose="020B0800000000000000" pitchFamily="34" charset="-128"/>
              </a:rPr>
              <a:t>For </a:t>
            </a:r>
            <a:r>
              <a:rPr lang="en-US" sz="2400" dirty="0">
                <a:solidFill>
                  <a:srgbClr val="566A6B"/>
                </a:solidFill>
                <a:latin typeface="Adobe Gothic Std B" panose="020B0800000000000000" pitchFamily="34" charset="-128"/>
                <a:ea typeface="Adobe Gothic Std B" panose="020B0800000000000000" pitchFamily="34" charset="-128"/>
              </a:rPr>
              <a:t>computer desktops, the recommended minimum specifications is a Windows 7-based operating system up to the latest version with at least 2GB RAM and a dual-core processor running at a clock speed of 2.5 </a:t>
            </a:r>
            <a:r>
              <a:rPr lang="en-US" sz="2400" dirty="0" err="1">
                <a:solidFill>
                  <a:srgbClr val="566A6B"/>
                </a:solidFill>
                <a:latin typeface="Adobe Gothic Std B" panose="020B0800000000000000" pitchFamily="34" charset="-128"/>
                <a:ea typeface="Adobe Gothic Std B" panose="020B0800000000000000" pitchFamily="34" charset="-128"/>
              </a:rPr>
              <a:t>Ghz</a:t>
            </a:r>
            <a:r>
              <a:rPr lang="en-US" sz="2400" dirty="0">
                <a:solidFill>
                  <a:srgbClr val="566A6B"/>
                </a:solidFill>
                <a:latin typeface="Adobe Gothic Std B" panose="020B0800000000000000" pitchFamily="34" charset="-128"/>
                <a:ea typeface="Adobe Gothic Std B" panose="020B0800000000000000" pitchFamily="34" charset="-128"/>
              </a:rPr>
              <a:t>. The specifications are applicable to the patients, doctors, and secretaries desktop computers</a:t>
            </a:r>
            <a:r>
              <a:rPr lang="en-US" sz="2400" dirty="0" smtClean="0">
                <a:solidFill>
                  <a:srgbClr val="566A6B"/>
                </a:solidFill>
                <a:latin typeface="Adobe Gothic Std B" panose="020B0800000000000000" pitchFamily="34" charset="-128"/>
                <a:ea typeface="Adobe Gothic Std B" panose="020B0800000000000000" pitchFamily="34" charset="-128"/>
              </a:rPr>
              <a:t>.</a:t>
            </a:r>
          </a:p>
          <a:p>
            <a:endParaRPr lang="en-US" sz="2400" dirty="0">
              <a:solidFill>
                <a:srgbClr val="566A6B"/>
              </a:solidFill>
              <a:latin typeface="Adobe Gothic Std B" panose="020B0800000000000000" pitchFamily="34" charset="-128"/>
              <a:ea typeface="Adobe Gothic Std B" panose="020B0800000000000000" pitchFamily="34" charset="-128"/>
            </a:endParaRPr>
          </a:p>
        </p:txBody>
      </p:sp>
      <p:grpSp>
        <p:nvGrpSpPr>
          <p:cNvPr id="7" name="Group 6">
            <a:extLst>
              <a:ext uri="{FF2B5EF4-FFF2-40B4-BE49-F238E27FC236}">
                <a16:creationId xmlns:a16="http://schemas.microsoft.com/office/drawing/2014/main" id="{8D1A272E-DE64-4E30-A4E9-8AD35B3A7EA1}"/>
              </a:ext>
            </a:extLst>
          </p:cNvPr>
          <p:cNvGrpSpPr/>
          <p:nvPr/>
        </p:nvGrpSpPr>
        <p:grpSpPr>
          <a:xfrm rot="16200000">
            <a:off x="-5502019" y="4511278"/>
            <a:ext cx="12192000" cy="1473711"/>
            <a:chOff x="971550" y="237976"/>
            <a:chExt cx="12192000" cy="1214632"/>
          </a:xfrm>
          <a:solidFill>
            <a:srgbClr val="22C7B7"/>
          </a:solidFill>
        </p:grpSpPr>
        <p:sp>
          <p:nvSpPr>
            <p:cNvPr id="10" name="Rectangle 9">
              <a:extLst>
                <a:ext uri="{FF2B5EF4-FFF2-40B4-BE49-F238E27FC236}">
                  <a16:creationId xmlns:a16="http://schemas.microsoft.com/office/drawing/2014/main" id="{5D2BF202-9F55-40C8-9EAC-E4044572E3E5}"/>
                </a:ext>
              </a:extLst>
            </p:cNvPr>
            <p:cNvSpPr/>
            <p:nvPr/>
          </p:nvSpPr>
          <p:spPr>
            <a:xfrm>
              <a:off x="971550" y="237976"/>
              <a:ext cx="12192000" cy="104804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ubtitle 2">
              <a:extLst>
                <a:ext uri="{FF2B5EF4-FFF2-40B4-BE49-F238E27FC236}">
                  <a16:creationId xmlns:a16="http://schemas.microsoft.com/office/drawing/2014/main" id="{A9DFA511-3CF8-496E-9FCA-CBDEF19FB747}"/>
                </a:ext>
              </a:extLst>
            </p:cNvPr>
            <p:cNvSpPr txBox="1">
              <a:spLocks/>
            </p:cNvSpPr>
            <p:nvPr/>
          </p:nvSpPr>
          <p:spPr>
            <a:xfrm>
              <a:off x="1873306" y="978120"/>
              <a:ext cx="9144000" cy="474488"/>
            </a:xfrm>
            <a:prstGeom prst="rect">
              <a:avLst/>
            </a:prstGeom>
            <a:no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b="1" dirty="0">
                  <a:solidFill>
                    <a:schemeClr val="bg1"/>
                  </a:solidFill>
                  <a:latin typeface="Bebas Neue" panose="020B0606020202050201" pitchFamily="34" charset="0"/>
                </a:rPr>
                <a:t>Clinics Appointment Management System</a:t>
              </a:r>
              <a:endParaRPr lang="en-US" dirty="0">
                <a:solidFill>
                  <a:schemeClr val="bg1"/>
                </a:solidFill>
                <a:latin typeface="Bebas Neue" panose="020B0606020202050201" pitchFamily="34" charset="0"/>
              </a:endParaRPr>
            </a:p>
          </p:txBody>
        </p:sp>
      </p:grpSp>
    </p:spTree>
    <p:extLst>
      <p:ext uri="{BB962C8B-B14F-4D97-AF65-F5344CB8AC3E}">
        <p14:creationId xmlns:p14="http://schemas.microsoft.com/office/powerpoint/2010/main" val="41677026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D2BF202-9F55-40C8-9EAC-E4044572E3E5}"/>
              </a:ext>
            </a:extLst>
          </p:cNvPr>
          <p:cNvSpPr/>
          <p:nvPr/>
        </p:nvSpPr>
        <p:spPr>
          <a:xfrm rot="16200000">
            <a:off x="-5400957" y="4412317"/>
            <a:ext cx="12192000" cy="1271589"/>
          </a:xfrm>
          <a:prstGeom prst="rect">
            <a:avLst/>
          </a:prstGeom>
          <a:solidFill>
            <a:srgbClr val="76F6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BAEEA78-CD22-413B-95F1-326FA7457CCD}"/>
              </a:ext>
            </a:extLst>
          </p:cNvPr>
          <p:cNvSpPr>
            <a:spLocks noGrp="1"/>
          </p:cNvSpPr>
          <p:nvPr>
            <p:ph type="title"/>
          </p:nvPr>
        </p:nvSpPr>
        <p:spPr>
          <a:xfrm>
            <a:off x="1330838" y="635596"/>
            <a:ext cx="10515600" cy="1325563"/>
          </a:xfrm>
        </p:spPr>
        <p:txBody>
          <a:bodyPr>
            <a:noAutofit/>
          </a:bodyPr>
          <a:lstStyle/>
          <a:p>
            <a:r>
              <a:rPr lang="en-US" sz="6600" dirty="0" smtClean="0">
                <a:solidFill>
                  <a:srgbClr val="566A6A"/>
                </a:solidFill>
                <a:latin typeface="Bebas Neue" panose="020B0606020202050201" pitchFamily="34" charset="0"/>
                <a:ea typeface="Adobe Gothic Std B" panose="020B0800000000000000" pitchFamily="34" charset="-128"/>
                <a:cs typeface="Adobe Arabic" panose="02040503050201020203" pitchFamily="18" charset="-78"/>
              </a:rPr>
              <a:t>conversion </a:t>
            </a:r>
            <a:r>
              <a:rPr lang="en-US" sz="6600" dirty="0">
                <a:solidFill>
                  <a:srgbClr val="566A6A"/>
                </a:solidFill>
                <a:latin typeface="Bebas Neue" panose="020B0606020202050201" pitchFamily="34" charset="0"/>
                <a:ea typeface="Adobe Gothic Std B" panose="020B0800000000000000" pitchFamily="34" charset="-128"/>
                <a:cs typeface="Adobe Arabic" panose="02040503050201020203" pitchFamily="18" charset="-78"/>
              </a:rPr>
              <a:t>plan </a:t>
            </a:r>
            <a:endParaRPr lang="en-US" sz="6600" dirty="0">
              <a:solidFill>
                <a:srgbClr val="566A6A"/>
              </a:solidFill>
              <a:latin typeface="Bebas Neue" panose="020B0606020202050201" pitchFamily="34" charset="0"/>
              <a:ea typeface="Adobe Gothic Std B" panose="020B0800000000000000" pitchFamily="34" charset="-128"/>
              <a:cs typeface="Adobe Arabic" panose="02040503050201020203" pitchFamily="18" charset="-78"/>
            </a:endParaRPr>
          </a:p>
        </p:txBody>
      </p:sp>
      <p:sp>
        <p:nvSpPr>
          <p:cNvPr id="3" name="Content Placeholder 2">
            <a:extLst>
              <a:ext uri="{FF2B5EF4-FFF2-40B4-BE49-F238E27FC236}">
                <a16:creationId xmlns:a16="http://schemas.microsoft.com/office/drawing/2014/main" id="{3C180F0A-4B45-428F-8BD4-FD0A59405DA9}"/>
              </a:ext>
            </a:extLst>
          </p:cNvPr>
          <p:cNvSpPr>
            <a:spLocks noGrp="1"/>
          </p:cNvSpPr>
          <p:nvPr>
            <p:ph idx="1"/>
          </p:nvPr>
        </p:nvSpPr>
        <p:spPr>
          <a:xfrm>
            <a:off x="1330838" y="1961159"/>
            <a:ext cx="10687052" cy="2486150"/>
          </a:xfrm>
        </p:spPr>
        <p:txBody>
          <a:bodyPr>
            <a:noAutofit/>
          </a:bodyPr>
          <a:lstStyle/>
          <a:p>
            <a:r>
              <a:rPr lang="en-US" sz="2400" dirty="0" smtClean="0">
                <a:solidFill>
                  <a:srgbClr val="566A6B"/>
                </a:solidFill>
                <a:latin typeface="Adobe Gothic Std B" panose="020B0800000000000000" pitchFamily="34" charset="-128"/>
                <a:ea typeface="Adobe Gothic Std B" panose="020B0800000000000000" pitchFamily="34" charset="-128"/>
              </a:rPr>
              <a:t>Parallel </a:t>
            </a:r>
            <a:r>
              <a:rPr lang="en-US" sz="2400" dirty="0">
                <a:solidFill>
                  <a:srgbClr val="566A6B"/>
                </a:solidFill>
                <a:latin typeface="Adobe Gothic Std B" panose="020B0800000000000000" pitchFamily="34" charset="-128"/>
                <a:ea typeface="Adobe Gothic Std B" panose="020B0800000000000000" pitchFamily="34" charset="-128"/>
              </a:rPr>
              <a:t>conversion will be applied in which the manual system will run in parallel or simultaneously with the proposed online appointment management system. This approach decreases the risk  of interruptions in the business operations in case of a </a:t>
            </a:r>
            <a:r>
              <a:rPr lang="en-US" sz="2400" dirty="0" smtClean="0">
                <a:solidFill>
                  <a:srgbClr val="566A6B"/>
                </a:solidFill>
                <a:latin typeface="Adobe Gothic Std B" panose="020B0800000000000000" pitchFamily="34" charset="-128"/>
                <a:ea typeface="Adobe Gothic Std B" panose="020B0800000000000000" pitchFamily="34" charset="-128"/>
              </a:rPr>
              <a:t>failure </a:t>
            </a:r>
            <a:r>
              <a:rPr lang="en-US" sz="2400" dirty="0">
                <a:solidFill>
                  <a:srgbClr val="566A6B"/>
                </a:solidFill>
                <a:latin typeface="Adobe Gothic Std B" panose="020B0800000000000000" pitchFamily="34" charset="-128"/>
                <a:ea typeface="Adobe Gothic Std B" panose="020B0800000000000000" pitchFamily="34" charset="-128"/>
              </a:rPr>
              <a:t>and still allow the users to test the different capabilities and familiarize the new system. </a:t>
            </a:r>
          </a:p>
        </p:txBody>
      </p:sp>
      <p:grpSp>
        <p:nvGrpSpPr>
          <p:cNvPr id="7" name="Group 6">
            <a:extLst>
              <a:ext uri="{FF2B5EF4-FFF2-40B4-BE49-F238E27FC236}">
                <a16:creationId xmlns:a16="http://schemas.microsoft.com/office/drawing/2014/main" id="{8D1A272E-DE64-4E30-A4E9-8AD35B3A7EA1}"/>
              </a:ext>
            </a:extLst>
          </p:cNvPr>
          <p:cNvGrpSpPr/>
          <p:nvPr/>
        </p:nvGrpSpPr>
        <p:grpSpPr>
          <a:xfrm rot="16200000">
            <a:off x="-5502019" y="4511278"/>
            <a:ext cx="12192000" cy="1473711"/>
            <a:chOff x="971550" y="237976"/>
            <a:chExt cx="12192000" cy="1214632"/>
          </a:xfrm>
          <a:solidFill>
            <a:srgbClr val="22C7B7"/>
          </a:solidFill>
        </p:grpSpPr>
        <p:sp>
          <p:nvSpPr>
            <p:cNvPr id="10" name="Rectangle 9">
              <a:extLst>
                <a:ext uri="{FF2B5EF4-FFF2-40B4-BE49-F238E27FC236}">
                  <a16:creationId xmlns:a16="http://schemas.microsoft.com/office/drawing/2014/main" id="{5D2BF202-9F55-40C8-9EAC-E4044572E3E5}"/>
                </a:ext>
              </a:extLst>
            </p:cNvPr>
            <p:cNvSpPr/>
            <p:nvPr/>
          </p:nvSpPr>
          <p:spPr>
            <a:xfrm>
              <a:off x="971550" y="237976"/>
              <a:ext cx="12192000" cy="104804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ubtitle 2">
              <a:extLst>
                <a:ext uri="{FF2B5EF4-FFF2-40B4-BE49-F238E27FC236}">
                  <a16:creationId xmlns:a16="http://schemas.microsoft.com/office/drawing/2014/main" id="{A9DFA511-3CF8-496E-9FCA-CBDEF19FB747}"/>
                </a:ext>
              </a:extLst>
            </p:cNvPr>
            <p:cNvSpPr txBox="1">
              <a:spLocks/>
            </p:cNvSpPr>
            <p:nvPr/>
          </p:nvSpPr>
          <p:spPr>
            <a:xfrm>
              <a:off x="1873306" y="978120"/>
              <a:ext cx="9144000" cy="474488"/>
            </a:xfrm>
            <a:prstGeom prst="rect">
              <a:avLst/>
            </a:prstGeom>
            <a:no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b="1" dirty="0">
                  <a:solidFill>
                    <a:schemeClr val="bg1"/>
                  </a:solidFill>
                  <a:latin typeface="Bebas Neue" panose="020B0606020202050201" pitchFamily="34" charset="0"/>
                </a:rPr>
                <a:t>Clinics Appointment Management System</a:t>
              </a:r>
              <a:endParaRPr lang="en-US" dirty="0">
                <a:solidFill>
                  <a:schemeClr val="bg1"/>
                </a:solidFill>
                <a:latin typeface="Bebas Neue" panose="020B0606020202050201" pitchFamily="34" charset="0"/>
              </a:endParaRPr>
            </a:p>
          </p:txBody>
        </p:sp>
      </p:grpSp>
    </p:spTree>
    <p:extLst>
      <p:ext uri="{BB962C8B-B14F-4D97-AF65-F5344CB8AC3E}">
        <p14:creationId xmlns:p14="http://schemas.microsoft.com/office/powerpoint/2010/main" val="1822056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D2BF202-9F55-40C8-9EAC-E4044572E3E5}"/>
              </a:ext>
            </a:extLst>
          </p:cNvPr>
          <p:cNvSpPr/>
          <p:nvPr/>
        </p:nvSpPr>
        <p:spPr>
          <a:xfrm rot="16200000">
            <a:off x="-5400957" y="4412317"/>
            <a:ext cx="12192000" cy="1271589"/>
          </a:xfrm>
          <a:prstGeom prst="rect">
            <a:avLst/>
          </a:prstGeom>
          <a:solidFill>
            <a:srgbClr val="76F6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BAEEA78-CD22-413B-95F1-326FA7457CCD}"/>
              </a:ext>
            </a:extLst>
          </p:cNvPr>
          <p:cNvSpPr>
            <a:spLocks noGrp="1"/>
          </p:cNvSpPr>
          <p:nvPr>
            <p:ph type="title"/>
          </p:nvPr>
        </p:nvSpPr>
        <p:spPr>
          <a:xfrm>
            <a:off x="1330838" y="635596"/>
            <a:ext cx="10515600" cy="1325563"/>
          </a:xfrm>
        </p:spPr>
        <p:txBody>
          <a:bodyPr>
            <a:noAutofit/>
          </a:bodyPr>
          <a:lstStyle/>
          <a:p>
            <a:r>
              <a:rPr lang="en-US" sz="6600" dirty="0" smtClean="0">
                <a:solidFill>
                  <a:srgbClr val="566A6A"/>
                </a:solidFill>
                <a:latin typeface="Bebas Neue" panose="020B0606020202050201" pitchFamily="34" charset="0"/>
                <a:ea typeface="Adobe Gothic Std B" panose="020B0800000000000000" pitchFamily="34" charset="-128"/>
                <a:cs typeface="Adobe Arabic" panose="02040503050201020203" pitchFamily="18" charset="-78"/>
              </a:rPr>
              <a:t>conversion </a:t>
            </a:r>
            <a:r>
              <a:rPr lang="en-US" sz="6600" dirty="0">
                <a:solidFill>
                  <a:srgbClr val="566A6A"/>
                </a:solidFill>
                <a:latin typeface="Bebas Neue" panose="020B0606020202050201" pitchFamily="34" charset="0"/>
                <a:ea typeface="Adobe Gothic Std B" panose="020B0800000000000000" pitchFamily="34" charset="-128"/>
                <a:cs typeface="Adobe Arabic" panose="02040503050201020203" pitchFamily="18" charset="-78"/>
              </a:rPr>
              <a:t>plan </a:t>
            </a:r>
            <a:endParaRPr lang="en-US" sz="6600" dirty="0">
              <a:solidFill>
                <a:srgbClr val="566A6A"/>
              </a:solidFill>
              <a:latin typeface="Bebas Neue" panose="020B0606020202050201" pitchFamily="34" charset="0"/>
              <a:ea typeface="Adobe Gothic Std B" panose="020B0800000000000000" pitchFamily="34" charset="-128"/>
              <a:cs typeface="Adobe Arabic" panose="02040503050201020203" pitchFamily="18" charset="-78"/>
            </a:endParaRPr>
          </a:p>
        </p:txBody>
      </p:sp>
      <p:grpSp>
        <p:nvGrpSpPr>
          <p:cNvPr id="7" name="Group 6">
            <a:extLst>
              <a:ext uri="{FF2B5EF4-FFF2-40B4-BE49-F238E27FC236}">
                <a16:creationId xmlns:a16="http://schemas.microsoft.com/office/drawing/2014/main" id="{8D1A272E-DE64-4E30-A4E9-8AD35B3A7EA1}"/>
              </a:ext>
            </a:extLst>
          </p:cNvPr>
          <p:cNvGrpSpPr/>
          <p:nvPr/>
        </p:nvGrpSpPr>
        <p:grpSpPr>
          <a:xfrm rot="16200000">
            <a:off x="-5502019" y="4511278"/>
            <a:ext cx="12192000" cy="1473711"/>
            <a:chOff x="971550" y="237976"/>
            <a:chExt cx="12192000" cy="1214632"/>
          </a:xfrm>
          <a:solidFill>
            <a:srgbClr val="22C7B7"/>
          </a:solidFill>
        </p:grpSpPr>
        <p:sp>
          <p:nvSpPr>
            <p:cNvPr id="10" name="Rectangle 9">
              <a:extLst>
                <a:ext uri="{FF2B5EF4-FFF2-40B4-BE49-F238E27FC236}">
                  <a16:creationId xmlns:a16="http://schemas.microsoft.com/office/drawing/2014/main" id="{5D2BF202-9F55-40C8-9EAC-E4044572E3E5}"/>
                </a:ext>
              </a:extLst>
            </p:cNvPr>
            <p:cNvSpPr/>
            <p:nvPr/>
          </p:nvSpPr>
          <p:spPr>
            <a:xfrm>
              <a:off x="971550" y="237976"/>
              <a:ext cx="12192000" cy="104804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ubtitle 2">
              <a:extLst>
                <a:ext uri="{FF2B5EF4-FFF2-40B4-BE49-F238E27FC236}">
                  <a16:creationId xmlns:a16="http://schemas.microsoft.com/office/drawing/2014/main" id="{A9DFA511-3CF8-496E-9FCA-CBDEF19FB747}"/>
                </a:ext>
              </a:extLst>
            </p:cNvPr>
            <p:cNvSpPr txBox="1">
              <a:spLocks/>
            </p:cNvSpPr>
            <p:nvPr/>
          </p:nvSpPr>
          <p:spPr>
            <a:xfrm>
              <a:off x="1873306" y="978120"/>
              <a:ext cx="9144000" cy="474488"/>
            </a:xfrm>
            <a:prstGeom prst="rect">
              <a:avLst/>
            </a:prstGeom>
            <a:no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b="1" dirty="0">
                  <a:solidFill>
                    <a:schemeClr val="bg1"/>
                  </a:solidFill>
                  <a:latin typeface="Bebas Neue" panose="020B0606020202050201" pitchFamily="34" charset="0"/>
                </a:rPr>
                <a:t>Clinics Appointment Management System</a:t>
              </a:r>
              <a:endParaRPr lang="en-US" dirty="0">
                <a:solidFill>
                  <a:schemeClr val="bg1"/>
                </a:solidFill>
                <a:latin typeface="Bebas Neue" panose="020B0606020202050201" pitchFamily="34" charset="0"/>
              </a:endParaRPr>
            </a:p>
          </p:txBody>
        </p:sp>
      </p:grpSp>
      <p:pic>
        <p:nvPicPr>
          <p:cNvPr id="5" name="Content Placeholder 4"/>
          <p:cNvPicPr>
            <a:picLocks noGrp="1" noChangeAspect="1"/>
          </p:cNvPicPr>
          <p:nvPr>
            <p:ph idx="1"/>
          </p:nvPr>
        </p:nvPicPr>
        <p:blipFill rotWithShape="1">
          <a:blip r:embed="rId2"/>
          <a:srcRect l="30415" t="23353" r="29604" b="13192"/>
          <a:stretch/>
        </p:blipFill>
        <p:spPr>
          <a:xfrm>
            <a:off x="3814657" y="1685908"/>
            <a:ext cx="5311414" cy="4741786"/>
          </a:xfrm>
          <a:prstGeom prst="rect">
            <a:avLst/>
          </a:prstGeom>
        </p:spPr>
      </p:pic>
    </p:spTree>
    <p:extLst>
      <p:ext uri="{BB962C8B-B14F-4D97-AF65-F5344CB8AC3E}">
        <p14:creationId xmlns:p14="http://schemas.microsoft.com/office/powerpoint/2010/main" val="26756721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D2BF202-9F55-40C8-9EAC-E4044572E3E5}"/>
              </a:ext>
            </a:extLst>
          </p:cNvPr>
          <p:cNvSpPr/>
          <p:nvPr/>
        </p:nvSpPr>
        <p:spPr>
          <a:xfrm rot="16200000">
            <a:off x="-5400957" y="4412317"/>
            <a:ext cx="12192000" cy="1271589"/>
          </a:xfrm>
          <a:prstGeom prst="rect">
            <a:avLst/>
          </a:prstGeom>
          <a:solidFill>
            <a:srgbClr val="76F6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BAEEA78-CD22-413B-95F1-326FA7457CCD}"/>
              </a:ext>
            </a:extLst>
          </p:cNvPr>
          <p:cNvSpPr>
            <a:spLocks noGrp="1"/>
          </p:cNvSpPr>
          <p:nvPr>
            <p:ph type="title"/>
          </p:nvPr>
        </p:nvSpPr>
        <p:spPr>
          <a:xfrm>
            <a:off x="1330838" y="635596"/>
            <a:ext cx="10515600" cy="1325563"/>
          </a:xfrm>
        </p:spPr>
        <p:txBody>
          <a:bodyPr>
            <a:noAutofit/>
          </a:bodyPr>
          <a:lstStyle/>
          <a:p>
            <a:r>
              <a:rPr lang="en-US" sz="4800" dirty="0">
                <a:solidFill>
                  <a:srgbClr val="566A6A"/>
                </a:solidFill>
                <a:latin typeface="Bebas Neue" panose="020B0606020202050201" pitchFamily="34" charset="0"/>
                <a:ea typeface="Adobe Gothic Std B" panose="020B0800000000000000" pitchFamily="34" charset="-128"/>
                <a:cs typeface="Adobe Arabic" panose="02040503050201020203" pitchFamily="18" charset="-78"/>
              </a:rPr>
              <a:t>Preparing of software and hardware requirements</a:t>
            </a:r>
            <a:endParaRPr lang="en-US" sz="4800" dirty="0">
              <a:solidFill>
                <a:srgbClr val="566A6A"/>
              </a:solidFill>
              <a:latin typeface="Bebas Neue" panose="020B0606020202050201" pitchFamily="34" charset="0"/>
              <a:ea typeface="Adobe Gothic Std B" panose="020B0800000000000000" pitchFamily="34" charset="-128"/>
              <a:cs typeface="Adobe Arabic" panose="02040503050201020203" pitchFamily="18" charset="-78"/>
            </a:endParaRPr>
          </a:p>
        </p:txBody>
      </p:sp>
      <p:grpSp>
        <p:nvGrpSpPr>
          <p:cNvPr id="7" name="Group 6">
            <a:extLst>
              <a:ext uri="{FF2B5EF4-FFF2-40B4-BE49-F238E27FC236}">
                <a16:creationId xmlns:a16="http://schemas.microsoft.com/office/drawing/2014/main" id="{8D1A272E-DE64-4E30-A4E9-8AD35B3A7EA1}"/>
              </a:ext>
            </a:extLst>
          </p:cNvPr>
          <p:cNvGrpSpPr/>
          <p:nvPr/>
        </p:nvGrpSpPr>
        <p:grpSpPr>
          <a:xfrm rot="16200000">
            <a:off x="-5502019" y="4511278"/>
            <a:ext cx="12192000" cy="1473711"/>
            <a:chOff x="971550" y="237976"/>
            <a:chExt cx="12192000" cy="1214632"/>
          </a:xfrm>
          <a:solidFill>
            <a:srgbClr val="22C7B7"/>
          </a:solidFill>
        </p:grpSpPr>
        <p:sp>
          <p:nvSpPr>
            <p:cNvPr id="10" name="Rectangle 9">
              <a:extLst>
                <a:ext uri="{FF2B5EF4-FFF2-40B4-BE49-F238E27FC236}">
                  <a16:creationId xmlns:a16="http://schemas.microsoft.com/office/drawing/2014/main" id="{5D2BF202-9F55-40C8-9EAC-E4044572E3E5}"/>
                </a:ext>
              </a:extLst>
            </p:cNvPr>
            <p:cNvSpPr/>
            <p:nvPr/>
          </p:nvSpPr>
          <p:spPr>
            <a:xfrm>
              <a:off x="971550" y="237976"/>
              <a:ext cx="12192000" cy="104804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ubtitle 2">
              <a:extLst>
                <a:ext uri="{FF2B5EF4-FFF2-40B4-BE49-F238E27FC236}">
                  <a16:creationId xmlns:a16="http://schemas.microsoft.com/office/drawing/2014/main" id="{A9DFA511-3CF8-496E-9FCA-CBDEF19FB747}"/>
                </a:ext>
              </a:extLst>
            </p:cNvPr>
            <p:cNvSpPr txBox="1">
              <a:spLocks/>
            </p:cNvSpPr>
            <p:nvPr/>
          </p:nvSpPr>
          <p:spPr>
            <a:xfrm>
              <a:off x="1873306" y="978120"/>
              <a:ext cx="9144000" cy="474488"/>
            </a:xfrm>
            <a:prstGeom prst="rect">
              <a:avLst/>
            </a:prstGeom>
            <a:no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b="1" dirty="0">
                  <a:solidFill>
                    <a:schemeClr val="bg1"/>
                  </a:solidFill>
                  <a:latin typeface="Bebas Neue" panose="020B0606020202050201" pitchFamily="34" charset="0"/>
                </a:rPr>
                <a:t>Clinics Appointment Management System</a:t>
              </a:r>
              <a:endParaRPr lang="en-US" dirty="0">
                <a:solidFill>
                  <a:schemeClr val="bg1"/>
                </a:solidFill>
                <a:latin typeface="Bebas Neue" panose="020B0606020202050201" pitchFamily="34" charset="0"/>
              </a:endParaRPr>
            </a:p>
          </p:txBody>
        </p:sp>
      </p:grpSp>
      <p:sp>
        <p:nvSpPr>
          <p:cNvPr id="3" name="Content Placeholder 2"/>
          <p:cNvSpPr>
            <a:spLocks noGrp="1"/>
          </p:cNvSpPr>
          <p:nvPr>
            <p:ph idx="1"/>
          </p:nvPr>
        </p:nvSpPr>
        <p:spPr>
          <a:xfrm>
            <a:off x="1330838" y="2131757"/>
            <a:ext cx="10515600" cy="4351338"/>
          </a:xfrm>
        </p:spPr>
        <p:txBody>
          <a:bodyPr/>
          <a:lstStyle/>
          <a:p>
            <a:r>
              <a:rPr lang="en-US" dirty="0"/>
              <a:t>includes the acquiring web hosting service and installation of the system into the web host including the initial functionality tests of the application. This activity will take about a week.</a:t>
            </a:r>
            <a:endParaRPr lang="en-PH" dirty="0"/>
          </a:p>
        </p:txBody>
      </p:sp>
    </p:spTree>
    <p:extLst>
      <p:ext uri="{BB962C8B-B14F-4D97-AF65-F5344CB8AC3E}">
        <p14:creationId xmlns:p14="http://schemas.microsoft.com/office/powerpoint/2010/main" val="39568623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D2BF202-9F55-40C8-9EAC-E4044572E3E5}"/>
              </a:ext>
            </a:extLst>
          </p:cNvPr>
          <p:cNvSpPr/>
          <p:nvPr/>
        </p:nvSpPr>
        <p:spPr>
          <a:xfrm rot="16200000">
            <a:off x="-5400957" y="4412317"/>
            <a:ext cx="12192000" cy="1271589"/>
          </a:xfrm>
          <a:prstGeom prst="rect">
            <a:avLst/>
          </a:prstGeom>
          <a:solidFill>
            <a:srgbClr val="76F6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BAEEA78-CD22-413B-95F1-326FA7457CCD}"/>
              </a:ext>
            </a:extLst>
          </p:cNvPr>
          <p:cNvSpPr>
            <a:spLocks noGrp="1"/>
          </p:cNvSpPr>
          <p:nvPr>
            <p:ph type="title"/>
          </p:nvPr>
        </p:nvSpPr>
        <p:spPr>
          <a:xfrm>
            <a:off x="1330838" y="635596"/>
            <a:ext cx="10515600" cy="1325563"/>
          </a:xfrm>
        </p:spPr>
        <p:txBody>
          <a:bodyPr>
            <a:noAutofit/>
          </a:bodyPr>
          <a:lstStyle/>
          <a:p>
            <a:r>
              <a:rPr lang="en-US" sz="6000" dirty="0">
                <a:solidFill>
                  <a:srgbClr val="566A6A"/>
                </a:solidFill>
                <a:latin typeface="Bebas Neue" panose="020B0606020202050201" pitchFamily="34" charset="0"/>
                <a:ea typeface="Adobe Gothic Std B" panose="020B0800000000000000" pitchFamily="34" charset="-128"/>
                <a:cs typeface="Adobe Arabic" panose="02040503050201020203" pitchFamily="18" charset="-78"/>
              </a:rPr>
              <a:t>Transfer of data</a:t>
            </a:r>
            <a:endParaRPr lang="en-US" sz="6000" dirty="0">
              <a:solidFill>
                <a:srgbClr val="566A6A"/>
              </a:solidFill>
              <a:latin typeface="Bebas Neue" panose="020B0606020202050201" pitchFamily="34" charset="0"/>
              <a:ea typeface="Adobe Gothic Std B" panose="020B0800000000000000" pitchFamily="34" charset="-128"/>
              <a:cs typeface="Adobe Arabic" panose="02040503050201020203" pitchFamily="18" charset="-78"/>
            </a:endParaRPr>
          </a:p>
        </p:txBody>
      </p:sp>
      <p:grpSp>
        <p:nvGrpSpPr>
          <p:cNvPr id="7" name="Group 6">
            <a:extLst>
              <a:ext uri="{FF2B5EF4-FFF2-40B4-BE49-F238E27FC236}">
                <a16:creationId xmlns:a16="http://schemas.microsoft.com/office/drawing/2014/main" id="{8D1A272E-DE64-4E30-A4E9-8AD35B3A7EA1}"/>
              </a:ext>
            </a:extLst>
          </p:cNvPr>
          <p:cNvGrpSpPr/>
          <p:nvPr/>
        </p:nvGrpSpPr>
        <p:grpSpPr>
          <a:xfrm rot="16200000">
            <a:off x="-5502019" y="4511278"/>
            <a:ext cx="12192000" cy="1473711"/>
            <a:chOff x="971550" y="237976"/>
            <a:chExt cx="12192000" cy="1214632"/>
          </a:xfrm>
          <a:solidFill>
            <a:srgbClr val="22C7B7"/>
          </a:solidFill>
        </p:grpSpPr>
        <p:sp>
          <p:nvSpPr>
            <p:cNvPr id="10" name="Rectangle 9">
              <a:extLst>
                <a:ext uri="{FF2B5EF4-FFF2-40B4-BE49-F238E27FC236}">
                  <a16:creationId xmlns:a16="http://schemas.microsoft.com/office/drawing/2014/main" id="{5D2BF202-9F55-40C8-9EAC-E4044572E3E5}"/>
                </a:ext>
              </a:extLst>
            </p:cNvPr>
            <p:cNvSpPr/>
            <p:nvPr/>
          </p:nvSpPr>
          <p:spPr>
            <a:xfrm>
              <a:off x="971550" y="237976"/>
              <a:ext cx="12192000" cy="104804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ubtitle 2">
              <a:extLst>
                <a:ext uri="{FF2B5EF4-FFF2-40B4-BE49-F238E27FC236}">
                  <a16:creationId xmlns:a16="http://schemas.microsoft.com/office/drawing/2014/main" id="{A9DFA511-3CF8-496E-9FCA-CBDEF19FB747}"/>
                </a:ext>
              </a:extLst>
            </p:cNvPr>
            <p:cNvSpPr txBox="1">
              <a:spLocks/>
            </p:cNvSpPr>
            <p:nvPr/>
          </p:nvSpPr>
          <p:spPr>
            <a:xfrm>
              <a:off x="1873306" y="978120"/>
              <a:ext cx="9144000" cy="474488"/>
            </a:xfrm>
            <a:prstGeom prst="rect">
              <a:avLst/>
            </a:prstGeom>
            <a:no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b="1" dirty="0">
                  <a:solidFill>
                    <a:schemeClr val="bg1"/>
                  </a:solidFill>
                  <a:latin typeface="Bebas Neue" panose="020B0606020202050201" pitchFamily="34" charset="0"/>
                </a:rPr>
                <a:t>Clinics Appointment Management System</a:t>
              </a:r>
              <a:endParaRPr lang="en-US" dirty="0">
                <a:solidFill>
                  <a:schemeClr val="bg1"/>
                </a:solidFill>
                <a:latin typeface="Bebas Neue" panose="020B0606020202050201" pitchFamily="34" charset="0"/>
              </a:endParaRPr>
            </a:p>
          </p:txBody>
        </p:sp>
      </p:grpSp>
      <p:sp>
        <p:nvSpPr>
          <p:cNvPr id="3" name="Content Placeholder 2"/>
          <p:cNvSpPr>
            <a:spLocks noGrp="1"/>
          </p:cNvSpPr>
          <p:nvPr>
            <p:ph idx="1"/>
          </p:nvPr>
        </p:nvSpPr>
        <p:spPr>
          <a:xfrm>
            <a:off x="1330838" y="2131757"/>
            <a:ext cx="10515600" cy="4351338"/>
          </a:xfrm>
        </p:spPr>
        <p:txBody>
          <a:bodyPr/>
          <a:lstStyle/>
          <a:p>
            <a:r>
              <a:rPr lang="en-US" dirty="0"/>
              <a:t>includes the conduct of trainings to the authorized users of 	the system as to how the system would work in accordance to the company 	processes. This would take two weeks</a:t>
            </a:r>
            <a:r>
              <a:rPr lang="en-US" dirty="0" smtClean="0"/>
              <a:t>.</a:t>
            </a:r>
            <a:endParaRPr lang="en-PH" dirty="0"/>
          </a:p>
        </p:txBody>
      </p:sp>
    </p:spTree>
    <p:extLst>
      <p:ext uri="{BB962C8B-B14F-4D97-AF65-F5344CB8AC3E}">
        <p14:creationId xmlns:p14="http://schemas.microsoft.com/office/powerpoint/2010/main" val="15240599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D2BF202-9F55-40C8-9EAC-E4044572E3E5}"/>
              </a:ext>
            </a:extLst>
          </p:cNvPr>
          <p:cNvSpPr/>
          <p:nvPr/>
        </p:nvSpPr>
        <p:spPr>
          <a:xfrm rot="16200000">
            <a:off x="-5400957" y="4412317"/>
            <a:ext cx="12192000" cy="1271589"/>
          </a:xfrm>
          <a:prstGeom prst="rect">
            <a:avLst/>
          </a:prstGeom>
          <a:solidFill>
            <a:srgbClr val="76F6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BAEEA78-CD22-413B-95F1-326FA7457CCD}"/>
              </a:ext>
            </a:extLst>
          </p:cNvPr>
          <p:cNvSpPr>
            <a:spLocks noGrp="1"/>
          </p:cNvSpPr>
          <p:nvPr>
            <p:ph type="title"/>
          </p:nvPr>
        </p:nvSpPr>
        <p:spPr>
          <a:xfrm>
            <a:off x="1330838" y="635596"/>
            <a:ext cx="10515600" cy="1325563"/>
          </a:xfrm>
        </p:spPr>
        <p:txBody>
          <a:bodyPr>
            <a:noAutofit/>
          </a:bodyPr>
          <a:lstStyle/>
          <a:p>
            <a:r>
              <a:rPr lang="en-US" sz="6000" dirty="0">
                <a:solidFill>
                  <a:srgbClr val="566A6A"/>
                </a:solidFill>
                <a:latin typeface="Bebas Neue" panose="020B0606020202050201" pitchFamily="34" charset="0"/>
                <a:ea typeface="Adobe Gothic Std B" panose="020B0800000000000000" pitchFamily="34" charset="-128"/>
                <a:cs typeface="Adobe Arabic" panose="02040503050201020203" pitchFamily="18" charset="-78"/>
              </a:rPr>
              <a:t>Parallel Run</a:t>
            </a:r>
            <a:endParaRPr lang="en-US" sz="6000" dirty="0">
              <a:solidFill>
                <a:srgbClr val="566A6A"/>
              </a:solidFill>
              <a:latin typeface="Bebas Neue" panose="020B0606020202050201" pitchFamily="34" charset="0"/>
              <a:ea typeface="Adobe Gothic Std B" panose="020B0800000000000000" pitchFamily="34" charset="-128"/>
              <a:cs typeface="Adobe Arabic" panose="02040503050201020203" pitchFamily="18" charset="-78"/>
            </a:endParaRPr>
          </a:p>
        </p:txBody>
      </p:sp>
      <p:grpSp>
        <p:nvGrpSpPr>
          <p:cNvPr id="7" name="Group 6">
            <a:extLst>
              <a:ext uri="{FF2B5EF4-FFF2-40B4-BE49-F238E27FC236}">
                <a16:creationId xmlns:a16="http://schemas.microsoft.com/office/drawing/2014/main" id="{8D1A272E-DE64-4E30-A4E9-8AD35B3A7EA1}"/>
              </a:ext>
            </a:extLst>
          </p:cNvPr>
          <p:cNvGrpSpPr/>
          <p:nvPr/>
        </p:nvGrpSpPr>
        <p:grpSpPr>
          <a:xfrm rot="16200000">
            <a:off x="-5502019" y="4511278"/>
            <a:ext cx="12192000" cy="1473711"/>
            <a:chOff x="971550" y="237976"/>
            <a:chExt cx="12192000" cy="1214632"/>
          </a:xfrm>
          <a:solidFill>
            <a:srgbClr val="22C7B7"/>
          </a:solidFill>
        </p:grpSpPr>
        <p:sp>
          <p:nvSpPr>
            <p:cNvPr id="10" name="Rectangle 9">
              <a:extLst>
                <a:ext uri="{FF2B5EF4-FFF2-40B4-BE49-F238E27FC236}">
                  <a16:creationId xmlns:a16="http://schemas.microsoft.com/office/drawing/2014/main" id="{5D2BF202-9F55-40C8-9EAC-E4044572E3E5}"/>
                </a:ext>
              </a:extLst>
            </p:cNvPr>
            <p:cNvSpPr/>
            <p:nvPr/>
          </p:nvSpPr>
          <p:spPr>
            <a:xfrm>
              <a:off x="971550" y="237976"/>
              <a:ext cx="12192000" cy="104804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ubtitle 2">
              <a:extLst>
                <a:ext uri="{FF2B5EF4-FFF2-40B4-BE49-F238E27FC236}">
                  <a16:creationId xmlns:a16="http://schemas.microsoft.com/office/drawing/2014/main" id="{A9DFA511-3CF8-496E-9FCA-CBDEF19FB747}"/>
                </a:ext>
              </a:extLst>
            </p:cNvPr>
            <p:cNvSpPr txBox="1">
              <a:spLocks/>
            </p:cNvSpPr>
            <p:nvPr/>
          </p:nvSpPr>
          <p:spPr>
            <a:xfrm>
              <a:off x="1873306" y="978120"/>
              <a:ext cx="9144000" cy="474488"/>
            </a:xfrm>
            <a:prstGeom prst="rect">
              <a:avLst/>
            </a:prstGeom>
            <a:no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b="1" dirty="0">
                  <a:solidFill>
                    <a:schemeClr val="bg1"/>
                  </a:solidFill>
                  <a:latin typeface="Bebas Neue" panose="020B0606020202050201" pitchFamily="34" charset="0"/>
                </a:rPr>
                <a:t>Clinics Appointment Management System</a:t>
              </a:r>
              <a:endParaRPr lang="en-US" dirty="0">
                <a:solidFill>
                  <a:schemeClr val="bg1"/>
                </a:solidFill>
                <a:latin typeface="Bebas Neue" panose="020B0606020202050201" pitchFamily="34" charset="0"/>
              </a:endParaRPr>
            </a:p>
          </p:txBody>
        </p:sp>
      </p:grpSp>
      <p:sp>
        <p:nvSpPr>
          <p:cNvPr id="3" name="Content Placeholder 2"/>
          <p:cNvSpPr>
            <a:spLocks noGrp="1"/>
          </p:cNvSpPr>
          <p:nvPr>
            <p:ph idx="1"/>
          </p:nvPr>
        </p:nvSpPr>
        <p:spPr>
          <a:xfrm>
            <a:off x="1330838" y="2131757"/>
            <a:ext cx="10515600" cy="4351338"/>
          </a:xfrm>
        </p:spPr>
        <p:txBody>
          <a:bodyPr/>
          <a:lstStyle/>
          <a:p>
            <a:r>
              <a:rPr lang="en-US" dirty="0"/>
              <a:t>includes the running of the online clinic appointment management system in parallel with their manual business processes. If there are any errors found out the researchers will examine and prepare for an action directly. This would take a month.</a:t>
            </a:r>
            <a:endParaRPr lang="en-PH" dirty="0"/>
          </a:p>
        </p:txBody>
      </p:sp>
    </p:spTree>
    <p:extLst>
      <p:ext uri="{BB962C8B-B14F-4D97-AF65-F5344CB8AC3E}">
        <p14:creationId xmlns:p14="http://schemas.microsoft.com/office/powerpoint/2010/main" val="142629811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D2BF202-9F55-40C8-9EAC-E4044572E3E5}"/>
              </a:ext>
            </a:extLst>
          </p:cNvPr>
          <p:cNvSpPr/>
          <p:nvPr/>
        </p:nvSpPr>
        <p:spPr>
          <a:xfrm rot="16200000">
            <a:off x="-5400957" y="4412317"/>
            <a:ext cx="12192000" cy="1271589"/>
          </a:xfrm>
          <a:prstGeom prst="rect">
            <a:avLst/>
          </a:prstGeom>
          <a:solidFill>
            <a:srgbClr val="76F6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BAEEA78-CD22-413B-95F1-326FA7457CCD}"/>
              </a:ext>
            </a:extLst>
          </p:cNvPr>
          <p:cNvSpPr>
            <a:spLocks noGrp="1"/>
          </p:cNvSpPr>
          <p:nvPr>
            <p:ph type="title"/>
          </p:nvPr>
        </p:nvSpPr>
        <p:spPr>
          <a:xfrm>
            <a:off x="1330838" y="635596"/>
            <a:ext cx="10515600" cy="1325563"/>
          </a:xfrm>
        </p:spPr>
        <p:txBody>
          <a:bodyPr>
            <a:noAutofit/>
          </a:bodyPr>
          <a:lstStyle/>
          <a:p>
            <a:r>
              <a:rPr lang="en-US" sz="6000" dirty="0">
                <a:solidFill>
                  <a:srgbClr val="566A6A"/>
                </a:solidFill>
                <a:latin typeface="Bebas Neue" panose="020B0606020202050201" pitchFamily="34" charset="0"/>
                <a:ea typeface="Adobe Gothic Std B" panose="020B0800000000000000" pitchFamily="34" charset="-128"/>
                <a:cs typeface="Adobe Arabic" panose="02040503050201020203" pitchFamily="18" charset="-78"/>
              </a:rPr>
              <a:t>Policies of the System</a:t>
            </a:r>
            <a:endParaRPr lang="en-US" sz="6000" dirty="0">
              <a:solidFill>
                <a:srgbClr val="566A6A"/>
              </a:solidFill>
              <a:latin typeface="Bebas Neue" panose="020B0606020202050201" pitchFamily="34" charset="0"/>
              <a:ea typeface="Adobe Gothic Std B" panose="020B0800000000000000" pitchFamily="34" charset="-128"/>
              <a:cs typeface="Adobe Arabic" panose="02040503050201020203" pitchFamily="18" charset="-78"/>
            </a:endParaRPr>
          </a:p>
        </p:txBody>
      </p:sp>
      <p:grpSp>
        <p:nvGrpSpPr>
          <p:cNvPr id="7" name="Group 6">
            <a:extLst>
              <a:ext uri="{FF2B5EF4-FFF2-40B4-BE49-F238E27FC236}">
                <a16:creationId xmlns:a16="http://schemas.microsoft.com/office/drawing/2014/main" id="{8D1A272E-DE64-4E30-A4E9-8AD35B3A7EA1}"/>
              </a:ext>
            </a:extLst>
          </p:cNvPr>
          <p:cNvGrpSpPr/>
          <p:nvPr/>
        </p:nvGrpSpPr>
        <p:grpSpPr>
          <a:xfrm rot="16200000">
            <a:off x="-5502019" y="4511278"/>
            <a:ext cx="12192000" cy="1473711"/>
            <a:chOff x="971550" y="237976"/>
            <a:chExt cx="12192000" cy="1214632"/>
          </a:xfrm>
          <a:solidFill>
            <a:srgbClr val="22C7B7"/>
          </a:solidFill>
        </p:grpSpPr>
        <p:sp>
          <p:nvSpPr>
            <p:cNvPr id="10" name="Rectangle 9">
              <a:extLst>
                <a:ext uri="{FF2B5EF4-FFF2-40B4-BE49-F238E27FC236}">
                  <a16:creationId xmlns:a16="http://schemas.microsoft.com/office/drawing/2014/main" id="{5D2BF202-9F55-40C8-9EAC-E4044572E3E5}"/>
                </a:ext>
              </a:extLst>
            </p:cNvPr>
            <p:cNvSpPr/>
            <p:nvPr/>
          </p:nvSpPr>
          <p:spPr>
            <a:xfrm>
              <a:off x="971550" y="237976"/>
              <a:ext cx="12192000" cy="104804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ubtitle 2">
              <a:extLst>
                <a:ext uri="{FF2B5EF4-FFF2-40B4-BE49-F238E27FC236}">
                  <a16:creationId xmlns:a16="http://schemas.microsoft.com/office/drawing/2014/main" id="{A9DFA511-3CF8-496E-9FCA-CBDEF19FB747}"/>
                </a:ext>
              </a:extLst>
            </p:cNvPr>
            <p:cNvSpPr txBox="1">
              <a:spLocks/>
            </p:cNvSpPr>
            <p:nvPr/>
          </p:nvSpPr>
          <p:spPr>
            <a:xfrm>
              <a:off x="1873306" y="978120"/>
              <a:ext cx="9144000" cy="474488"/>
            </a:xfrm>
            <a:prstGeom prst="rect">
              <a:avLst/>
            </a:prstGeom>
            <a:no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b="1" dirty="0">
                  <a:solidFill>
                    <a:schemeClr val="bg1"/>
                  </a:solidFill>
                  <a:latin typeface="Bebas Neue" panose="020B0606020202050201" pitchFamily="34" charset="0"/>
                </a:rPr>
                <a:t>Clinics Appointment Management System</a:t>
              </a:r>
              <a:endParaRPr lang="en-US" dirty="0">
                <a:solidFill>
                  <a:schemeClr val="bg1"/>
                </a:solidFill>
                <a:latin typeface="Bebas Neue" panose="020B0606020202050201" pitchFamily="34" charset="0"/>
              </a:endParaRPr>
            </a:p>
          </p:txBody>
        </p:sp>
      </p:grpSp>
      <p:sp>
        <p:nvSpPr>
          <p:cNvPr id="3" name="Content Placeholder 2"/>
          <p:cNvSpPr>
            <a:spLocks noGrp="1"/>
          </p:cNvSpPr>
          <p:nvPr>
            <p:ph idx="1"/>
          </p:nvPr>
        </p:nvSpPr>
        <p:spPr>
          <a:xfrm>
            <a:off x="1330838" y="1850430"/>
            <a:ext cx="10515600" cy="4351338"/>
          </a:xfrm>
        </p:spPr>
        <p:txBody>
          <a:bodyPr>
            <a:normAutofit lnSpcReduction="10000"/>
          </a:bodyPr>
          <a:lstStyle/>
          <a:p>
            <a:pPr marL="514350" lvl="0" indent="-514350">
              <a:buFont typeface="+mj-lt"/>
              <a:buAutoNum type="arabicPeriod"/>
            </a:pPr>
            <a:r>
              <a:rPr lang="en-US" dirty="0"/>
              <a:t>Appointments shall be booked at least one (1) day before the desired date of the appointment</a:t>
            </a:r>
            <a:r>
              <a:rPr lang="en-US" dirty="0" smtClean="0"/>
              <a:t>.</a:t>
            </a:r>
          </a:p>
          <a:p>
            <a:pPr marL="514350" indent="-514350">
              <a:buFont typeface="+mj-lt"/>
              <a:buAutoNum type="arabicPeriod"/>
            </a:pPr>
            <a:r>
              <a:rPr lang="en-US" dirty="0"/>
              <a:t>Cancelation of appointments shall be done at least one (1) day before the appointment.</a:t>
            </a:r>
            <a:endParaRPr lang="en-PH" dirty="0"/>
          </a:p>
          <a:p>
            <a:pPr marL="514350" indent="-514350">
              <a:buFont typeface="+mj-lt"/>
              <a:buAutoNum type="arabicPeriod"/>
            </a:pPr>
            <a:r>
              <a:rPr lang="en-US" dirty="0"/>
              <a:t>Canceled appointments will not be deleted but instead will be given a status of ‘Canceled’ to keep its record.</a:t>
            </a:r>
            <a:endParaRPr lang="en-PH" dirty="0"/>
          </a:p>
          <a:p>
            <a:pPr marL="514350" indent="-514350">
              <a:buFont typeface="+mj-lt"/>
              <a:buAutoNum type="arabicPeriod"/>
            </a:pPr>
            <a:r>
              <a:rPr lang="en-US" dirty="0"/>
              <a:t>The Human Resource Department is the only user who can register new physician and secretary.</a:t>
            </a:r>
            <a:endParaRPr lang="en-PH" dirty="0"/>
          </a:p>
          <a:p>
            <a:pPr marL="514350" indent="-514350">
              <a:buFont typeface="+mj-lt"/>
              <a:buAutoNum type="arabicPeriod"/>
            </a:pPr>
            <a:r>
              <a:rPr lang="en-US" dirty="0"/>
              <a:t>The physician/secretary needs to request personally to the admin for the registration of his/her clinic.</a:t>
            </a:r>
            <a:endParaRPr lang="en-PH" dirty="0"/>
          </a:p>
          <a:p>
            <a:pPr marL="514350" lvl="0" indent="-514350">
              <a:buFont typeface="+mj-lt"/>
              <a:buAutoNum type="arabicPeriod"/>
            </a:pPr>
            <a:endParaRPr lang="en-PH" dirty="0"/>
          </a:p>
        </p:txBody>
      </p:sp>
    </p:spTree>
    <p:extLst>
      <p:ext uri="{BB962C8B-B14F-4D97-AF65-F5344CB8AC3E}">
        <p14:creationId xmlns:p14="http://schemas.microsoft.com/office/powerpoint/2010/main" val="7999245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762</TotalTime>
  <Words>1463</Words>
  <Application>Microsoft Office PowerPoint</Application>
  <PresentationFormat>Widescreen</PresentationFormat>
  <Paragraphs>179</Paragraphs>
  <Slides>34</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34</vt:i4>
      </vt:variant>
    </vt:vector>
  </HeadingPairs>
  <TitlesOfParts>
    <vt:vector size="44" baseType="lpstr">
      <vt:lpstr>Adobe Gothic Std B</vt:lpstr>
      <vt:lpstr>Adobe Arabic</vt:lpstr>
      <vt:lpstr>Arial</vt:lpstr>
      <vt:lpstr>Bebas Neue</vt:lpstr>
      <vt:lpstr>Calibri</vt:lpstr>
      <vt:lpstr>Calibri Light</vt:lpstr>
      <vt:lpstr>Rajdhani Bold</vt:lpstr>
      <vt:lpstr>Roboto Bk</vt:lpstr>
      <vt:lpstr>The Bold Font</vt:lpstr>
      <vt:lpstr>Office Theme</vt:lpstr>
      <vt:lpstr>PowerPoint Presentation</vt:lpstr>
      <vt:lpstr>CHAPTER 1:  Introduction</vt:lpstr>
      <vt:lpstr>rationale</vt:lpstr>
      <vt:lpstr>rationale</vt:lpstr>
      <vt:lpstr>rationale</vt:lpstr>
      <vt:lpstr>Clinics Appointment Management System</vt:lpstr>
      <vt:lpstr>HOLY NAME UNIVERSITY MEDICAL Center foundation, INC.</vt:lpstr>
      <vt:lpstr>HOLY NAME UNIVERSITY MEDICAL Center foundation, INC.</vt:lpstr>
      <vt:lpstr>Objectives of the Study</vt:lpstr>
      <vt:lpstr>Objectives of the Study</vt:lpstr>
      <vt:lpstr>Scope and Limitations of the Study</vt:lpstr>
      <vt:lpstr>CHAPTER 2:  TECHNICAL BACKGROUND</vt:lpstr>
      <vt:lpstr>Technical Background</vt:lpstr>
      <vt:lpstr>Technical Background</vt:lpstr>
      <vt:lpstr>AGILE METHOD</vt:lpstr>
      <vt:lpstr>CAPABILITIES</vt:lpstr>
      <vt:lpstr>Features</vt:lpstr>
      <vt:lpstr>CHAPTER 3:  Methodology</vt:lpstr>
      <vt:lpstr>Analysis</vt:lpstr>
      <vt:lpstr>USE CASE DIAGRAM</vt:lpstr>
      <vt:lpstr>RELATIONAL DATABASE</vt:lpstr>
      <vt:lpstr>PROGRAM HEIRARCHY</vt:lpstr>
      <vt:lpstr>Development</vt:lpstr>
      <vt:lpstr>Testing</vt:lpstr>
      <vt:lpstr>CHAPTER 4:  RECOMMENDATIONS</vt:lpstr>
      <vt:lpstr>Recommendations</vt:lpstr>
      <vt:lpstr>CHAPTER 5:  IMPLEMENTATION PLAN</vt:lpstr>
      <vt:lpstr>deployment plan</vt:lpstr>
      <vt:lpstr>conversion plan </vt:lpstr>
      <vt:lpstr>conversion plan </vt:lpstr>
      <vt:lpstr>Preparing of software and hardware requirements</vt:lpstr>
      <vt:lpstr>Transfer of data</vt:lpstr>
      <vt:lpstr>Parallel Run</vt:lpstr>
      <vt:lpstr>Policies of the System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Vincent Hajiron</dc:creator>
  <cp:lastModifiedBy>Kurt Guiñes</cp:lastModifiedBy>
  <cp:revision>53</cp:revision>
  <dcterms:created xsi:type="dcterms:W3CDTF">2018-05-15T03:49:11Z</dcterms:created>
  <dcterms:modified xsi:type="dcterms:W3CDTF">2018-11-05T01:09:08Z</dcterms:modified>
</cp:coreProperties>
</file>